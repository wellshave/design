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3ff374a-2f9a-195a-8628-b59511299e76}">
          <p14:sldIdLst>
            <p14:sldId id="256"/>
          </p14:sldIdLst>
        </p14:section>
        <p14:section name="About Wellshave" id="{3d01a6c5-f89b-9c31-d751-2893ef61b39b}">
          <p14:sldIdLst>
            <p14:sldId id="257"/>
            <p14:sldId id="258"/>
          </p14:sldIdLst>
        </p14:section>
        <p14:section name="The visit" id="{a4ca6d59-a039-5975-788f-4029d842120f}">
          <p14:sldIdLst>
            <p14:sldId id="259"/>
            <p14:sldId id="260"/>
          </p14:sldIdLst>
        </p14:section>
        <p14:section name="Your products" id="{aafb3f6b-58e8-1e91-9908-1a3baf9a52a8}">
          <p14:sldIdLst>
            <p14:sldId id="261"/>
            <p14:sldId id="262"/>
          </p14:sldIdLst>
        </p14:section>
        <p14:section name="Working together" id="{e76117a3-a1b2-7b15-6ef6-516005be7756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Thank FANKE for hosting us. One sentence: who we are and why we 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figures are approximate for 2026. Remove the two revenue tiles if you prefer not to share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short. Point at the categories this factory makes for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products we buy through this partner. Sales are bol.com units (about 80% of our revenue).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Themes are tagged by hand from the bol.com review texts. Quotes are translated from Dutch.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Fixed-cable adapter: from now on every device ships with a charger whose cable is fixed to the adapter, so customers always charge with the right adapter for that device. Wrong adapters damage batteries and lead to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and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Wellshave hair clipper with battery dis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3" name="Logo" descr="Wellshave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2514600" cy="40233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18745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FACTORY VISIT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工厂拜访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85800" y="228600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Introducing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Wellshave</a:t>
            </a:r>
            <a:endParaRPr lang="en-US" sz="5200" dirty="0"/>
          </a:p>
        </p:txBody>
      </p:sp>
      <p:sp>
        <p:nvSpPr>
          <p:cNvPr id="6" name="Title CN"/>
          <p:cNvSpPr txBox="1"/>
          <p:nvPr/>
        </p:nvSpPr>
        <p:spPr>
          <a:xfrm>
            <a:off x="68580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Wellshave </a:t>
            </a:r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品牌介绍</a:t>
            </a:r>
            <a:endParaRPr lang="en-US" sz="3000" dirty="0"/>
          </a:p>
        </p:txBody>
      </p:sp>
      <p:sp>
        <p:nvSpPr>
          <p:cNvPr id="7" name="Subtitle"/>
          <p:cNvSpPr txBox="1"/>
          <p:nvPr/>
        </p:nvSpPr>
        <p:spPr>
          <a:xfrm>
            <a:off x="685800" y="46634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Dutch men's grooming brand  ·  Netherlands &amp; Belgium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荷兰男士理容品牌  ·  主营荷兰与比利时市场</a:t>
            </a:r>
            <a:endParaRPr lang="en-US" sz="1400" dirty="0"/>
          </a:p>
        </p:txBody>
      </p:sp>
      <p:sp>
        <p:nvSpPr>
          <p:cNvPr id="8" name="Prepared for"/>
          <p:cNvSpPr txBox="1"/>
          <p:nvPr/>
        </p:nvSpPr>
        <p:spPr>
          <a:xfrm>
            <a:off x="685800" y="539496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spc="300" kern="0" dirty="0">
                <a:solidFill>
                  <a:schemeClr val="accent2"/>
                </a:solidFill>
              </a:rPr>
              <a:t>PREPARED FOR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拜访对象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Wenzhou Fanke Electric Appliance Co., Ltd.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温州凡科电器有限公司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He Ting 何婷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October 2026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2026 年 10 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endParaRPr lang="en-US" sz="2000" dirty="0"/>
          </a:p>
        </p:txBody>
      </p:sp>
      <p:sp>
        <p:nvSpPr>
          <p:cNvPr id="4" name="Story"/>
          <p:cNvSpPr txBox="1"/>
          <p:nvPr/>
        </p:nvSpPr>
        <p:spPr>
          <a:xfrm>
            <a:off x="548640" y="178308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Wellshave is a Dutch men's grooming brand, founded in 2021. We design and sell shavers, trimmers and clippers that give men premium quality at a fair price.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是一家荷兰男士理容品牌，成立于 2021 年。我们设计并销售剃须刀、修剪器和理发器，以合理的价格为男士提供高端品质。</a:t>
            </a:r>
            <a:endParaRPr lang="en-US" sz="1500" dirty="0"/>
          </a:p>
        </p:txBody>
      </p:sp>
      <p:sp>
        <p:nvSpPr>
          <p:cNvPr id="5" name="Feedback head"/>
          <p:cNvSpPr txBox="1"/>
          <p:nvPr/>
        </p:nvSpPr>
        <p:spPr>
          <a:xfrm>
            <a:off x="548640" y="3520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Driven by customer feedback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以客户反馈为驱动</a:t>
            </a:r>
            <a:endParaRPr lang="en-US" sz="1500" dirty="0"/>
          </a:p>
        </p:txBody>
      </p:sp>
      <p:sp>
        <p:nvSpPr>
          <p:cNvPr id="6" name="Feedback"/>
          <p:cNvSpPr txBox="1"/>
          <p:nvPr/>
        </p:nvSpPr>
        <p:spPr>
          <a:xfrm>
            <a:off x="548640" y="3886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product upgrade starts with what customers return, miss or want better.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每一次产品升级都源于客户反馈：退货原因、缺少的功能或希望改进的地方。</a:t>
            </a:r>
            <a:endParaRPr lang="en-US" sz="1400" dirty="0"/>
          </a:p>
        </p:txBody>
      </p:sp>
      <p:sp>
        <p:nvSpPr>
          <p:cNvPr id="7" name="Promise 1"/>
          <p:cNvSpPr/>
          <p:nvPr/>
        </p:nvSpPr>
        <p:spPr>
          <a:xfrm>
            <a:off x="54864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8" name="Promis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212080"/>
            <a:ext cx="329184" cy="329184"/>
          </a:xfrm>
          <a:prstGeom prst="rect">
            <a:avLst/>
          </a:prstGeom>
        </p:spPr>
      </p:pic>
      <p:sp>
        <p:nvSpPr>
          <p:cNvPr id="9" name="Promise text 1"/>
          <p:cNvSpPr txBox="1"/>
          <p:nvPr/>
        </p:nvSpPr>
        <p:spPr>
          <a:xfrm>
            <a:off x="71323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100-day trial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天试用</a:t>
            </a:r>
            <a:endParaRPr lang="en-US" sz="1100" dirty="0"/>
          </a:p>
        </p:txBody>
      </p:sp>
      <p:sp>
        <p:nvSpPr>
          <p:cNvPr id="10" name="Promise 2"/>
          <p:cNvSpPr/>
          <p:nvPr/>
        </p:nvSpPr>
        <p:spPr>
          <a:xfrm>
            <a:off x="246888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1" name="Promis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5212080"/>
            <a:ext cx="329184" cy="329184"/>
          </a:xfrm>
          <a:prstGeom prst="rect">
            <a:avLst/>
          </a:prstGeom>
        </p:spPr>
      </p:pic>
      <p:sp>
        <p:nvSpPr>
          <p:cNvPr id="12" name="Promise text 2"/>
          <p:cNvSpPr txBox="1"/>
          <p:nvPr/>
        </p:nvSpPr>
        <p:spPr>
          <a:xfrm>
            <a:off x="263347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2-year warranty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年保修</a:t>
            </a:r>
            <a:endParaRPr lang="en-US" sz="1100" dirty="0"/>
          </a:p>
        </p:txBody>
      </p:sp>
      <p:sp>
        <p:nvSpPr>
          <p:cNvPr id="13" name="Promise 3"/>
          <p:cNvSpPr/>
          <p:nvPr/>
        </p:nvSpPr>
        <p:spPr>
          <a:xfrm>
            <a:off x="438912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4" name="Promis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5212080"/>
            <a:ext cx="329184" cy="329184"/>
          </a:xfrm>
          <a:prstGeom prst="rect">
            <a:avLst/>
          </a:prstGeom>
        </p:spPr>
      </p:pic>
      <p:sp>
        <p:nvSpPr>
          <p:cNvPr id="15" name="Promise text 3"/>
          <p:cNvSpPr txBox="1"/>
          <p:nvPr/>
        </p:nvSpPr>
        <p:spPr>
          <a:xfrm>
            <a:off x="455371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Next-day delivery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次日送达</a:t>
            </a:r>
            <a:endParaRPr lang="en-US" sz="1100" dirty="0"/>
          </a:p>
        </p:txBody>
      </p:sp>
      <p:sp>
        <p:nvSpPr>
          <p:cNvPr id="16" name="Stat 1"/>
          <p:cNvSpPr/>
          <p:nvPr/>
        </p:nvSpPr>
        <p:spPr>
          <a:xfrm>
            <a:off x="6629400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17" name="Stat value 1"/>
          <p:cNvSpPr txBox="1"/>
          <p:nvPr/>
        </p:nvSpPr>
        <p:spPr>
          <a:xfrm>
            <a:off x="6858000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2021</a:t>
            </a:r>
            <a:endParaRPr lang="en-US" sz="2800" dirty="0"/>
          </a:p>
        </p:txBody>
      </p:sp>
      <p:sp>
        <p:nvSpPr>
          <p:cNvPr id="18" name="Stat label 1"/>
          <p:cNvSpPr txBox="1"/>
          <p:nvPr/>
        </p:nvSpPr>
        <p:spPr>
          <a:xfrm>
            <a:off x="6858000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Founded in Helmond (NL)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成立于荷兰海尔蒙德</a:t>
            </a:r>
            <a:endParaRPr lang="en-US" sz="1100" dirty="0"/>
          </a:p>
        </p:txBody>
      </p:sp>
      <p:sp>
        <p:nvSpPr>
          <p:cNvPr id="19" name="Stat 2"/>
          <p:cNvSpPr/>
          <p:nvPr/>
        </p:nvSpPr>
        <p:spPr>
          <a:xfrm>
            <a:off x="9227668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0" name="Stat value 2"/>
          <p:cNvSpPr txBox="1"/>
          <p:nvPr/>
        </p:nvSpPr>
        <p:spPr>
          <a:xfrm>
            <a:off x="9456268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NL + BE</a:t>
            </a:r>
            <a:endParaRPr lang="en-US" sz="2800" dirty="0"/>
          </a:p>
        </p:txBody>
      </p:sp>
      <p:sp>
        <p:nvSpPr>
          <p:cNvPr id="21" name="Stat label 2"/>
          <p:cNvSpPr txBox="1"/>
          <p:nvPr/>
        </p:nvSpPr>
        <p:spPr>
          <a:xfrm>
            <a:off x="9456268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Main markets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主要市场</a:t>
            </a:r>
            <a:endParaRPr lang="en-US" sz="1100" dirty="0"/>
          </a:p>
        </p:txBody>
      </p:sp>
      <p:sp>
        <p:nvSpPr>
          <p:cNvPr id="22" name="Stat 3"/>
          <p:cNvSpPr/>
          <p:nvPr/>
        </p:nvSpPr>
        <p:spPr>
          <a:xfrm>
            <a:off x="6629400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3" name="Stat value 3"/>
          <p:cNvSpPr txBox="1"/>
          <p:nvPr/>
        </p:nvSpPr>
        <p:spPr>
          <a:xfrm>
            <a:off x="6858000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€2.5M</a:t>
            </a:r>
            <a:endParaRPr lang="en-US" sz="2800" dirty="0"/>
          </a:p>
        </p:txBody>
      </p:sp>
      <p:sp>
        <p:nvSpPr>
          <p:cNvPr id="24" name="Stat label 3"/>
          <p:cNvSpPr txBox="1"/>
          <p:nvPr/>
        </p:nvSpPr>
        <p:spPr>
          <a:xfrm>
            <a:off x="6858000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bol.com revenue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2026 年营业额</a:t>
            </a:r>
            <a:endParaRPr lang="en-US" sz="1100" dirty="0"/>
          </a:p>
        </p:txBody>
      </p:sp>
      <p:sp>
        <p:nvSpPr>
          <p:cNvPr id="25" name="Stat 4"/>
          <p:cNvSpPr/>
          <p:nvPr/>
        </p:nvSpPr>
        <p:spPr>
          <a:xfrm>
            <a:off x="9227668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6" name="Stat value 4"/>
          <p:cNvSpPr txBox="1"/>
          <p:nvPr/>
        </p:nvSpPr>
        <p:spPr>
          <a:xfrm>
            <a:off x="9456268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€0.6M</a:t>
            </a:r>
            <a:endParaRPr lang="en-US" sz="2800" dirty="0"/>
          </a:p>
        </p:txBody>
      </p:sp>
      <p:sp>
        <p:nvSpPr>
          <p:cNvPr id="27" name="Stat label 4"/>
          <p:cNvSpPr txBox="1"/>
          <p:nvPr/>
        </p:nvSpPr>
        <p:spPr>
          <a:xfrm>
            <a:off x="9456268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Own webshop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自营官网 2026 年营业额</a:t>
            </a:r>
            <a:endParaRPr lang="en-US" sz="1100" dirty="0"/>
          </a:p>
        </p:txBody>
      </p:sp>
      <p:sp>
        <p:nvSpPr>
          <p:cNvPr id="28" name="Trustpilot"/>
          <p:cNvSpPr/>
          <p:nvPr/>
        </p:nvSpPr>
        <p:spPr>
          <a:xfrm>
            <a:off x="6629400" y="4672584"/>
            <a:ext cx="5013655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9" name="Trustpilot value"/>
          <p:cNvSpPr txBox="1"/>
          <p:nvPr/>
        </p:nvSpPr>
        <p:spPr>
          <a:xfrm>
            <a:off x="6858000" y="4873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4.4 / 5</a:t>
            </a:r>
            <a:endParaRPr lang="en-US" sz="2800" dirty="0"/>
          </a:p>
        </p:txBody>
      </p:sp>
      <p:sp>
        <p:nvSpPr>
          <p:cNvPr id="30" name="Trustpilot label"/>
          <p:cNvSpPr txBox="1"/>
          <p:nvPr/>
        </p:nvSpPr>
        <p:spPr>
          <a:xfrm>
            <a:off x="8503920" y="492861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Trustpilot score, 1,000+ customer reviews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Trustpilot 评分，1000 多条客户评价</a:t>
            </a:r>
            <a:endParaRPr lang="en-US" sz="1100" dirty="0"/>
          </a:p>
        </p:txBody>
      </p:sp>
      <p:sp>
        <p:nvSpPr>
          <p:cNvPr id="31" name="bol note"/>
          <p:cNvSpPr txBox="1"/>
          <p:nvPr/>
        </p:nvSpPr>
        <p:spPr>
          <a:xfrm>
            <a:off x="6629400" y="5788152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bol.com is the largest online marketplace in the Netherlands and Belgium.  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是荷兰和比利时最大的电商平台。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 range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我们的产品系列</a:t>
            </a:r>
            <a:endParaRPr lang="en-US" sz="2000" dirty="0"/>
          </a:p>
        </p:txBody>
      </p:sp>
      <p:sp>
        <p:nvSpPr>
          <p:cNvPr id="4" name="Range card 1"/>
          <p:cNvSpPr/>
          <p:nvPr/>
        </p:nvSpPr>
        <p:spPr>
          <a:xfrm>
            <a:off x="548640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5" name="Range photo 1" descr="Groom Guard™ P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38528"/>
            <a:ext cx="1463040" cy="1463040"/>
          </a:xfrm>
          <a:prstGeom prst="rect">
            <a:avLst/>
          </a:prstGeom>
        </p:spPr>
      </p:pic>
      <p:sp>
        <p:nvSpPr>
          <p:cNvPr id="6" name="Range text 1"/>
          <p:cNvSpPr txBox="1"/>
          <p:nvPr/>
        </p:nvSpPr>
        <p:spPr>
          <a:xfrm>
            <a:off x="2395728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Body groomers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Groom Guard™ PRO</a:t>
            </a:r>
            <a:endParaRPr lang="en-US" sz="1400" dirty="0"/>
          </a:p>
        </p:txBody>
      </p:sp>
      <p:sp>
        <p:nvSpPr>
          <p:cNvPr id="7" name="Range card 2"/>
          <p:cNvSpPr/>
          <p:nvPr/>
        </p:nvSpPr>
        <p:spPr>
          <a:xfrm>
            <a:off x="4338218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8" name="Range photo 2" descr="The Gentleman Shaver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1938528"/>
            <a:ext cx="1463040" cy="1463040"/>
          </a:xfrm>
          <a:prstGeom prst="rect">
            <a:avLst/>
          </a:prstGeom>
        </p:spPr>
      </p:pic>
      <p:sp>
        <p:nvSpPr>
          <p:cNvPr id="9" name="Range text 2"/>
          <p:cNvSpPr txBox="1"/>
          <p:nvPr/>
        </p:nvSpPr>
        <p:spPr>
          <a:xfrm>
            <a:off x="6185306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Electric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The Gentleman Shaver™</a:t>
            </a:r>
            <a:endParaRPr lang="en-US" sz="1400" dirty="0"/>
          </a:p>
        </p:txBody>
      </p:sp>
      <p:sp>
        <p:nvSpPr>
          <p:cNvPr id="10" name="Range card 3"/>
          <p:cNvSpPr/>
          <p:nvPr/>
        </p:nvSpPr>
        <p:spPr>
          <a:xfrm>
            <a:off x="8127797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1" name="Range photo 3" descr="Head Shaver Delux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1938528"/>
            <a:ext cx="1463040" cy="1463040"/>
          </a:xfrm>
          <a:prstGeom prst="rect">
            <a:avLst/>
          </a:prstGeom>
        </p:spPr>
      </p:pic>
      <p:sp>
        <p:nvSpPr>
          <p:cNvPr id="12" name="Range text 3"/>
          <p:cNvSpPr txBox="1"/>
          <p:nvPr/>
        </p:nvSpPr>
        <p:spPr>
          <a:xfrm>
            <a:off x="9974885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Head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光头剃须刀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Head Shaver Deluxe</a:t>
            </a:r>
            <a:endParaRPr lang="en-US" sz="1400" dirty="0"/>
          </a:p>
        </p:txBody>
      </p:sp>
      <p:sp>
        <p:nvSpPr>
          <p:cNvPr id="13" name="Range card 4"/>
          <p:cNvSpPr/>
          <p:nvPr/>
        </p:nvSpPr>
        <p:spPr>
          <a:xfrm>
            <a:off x="548640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4" name="Range photo 4" descr="Men Shaper Supreme™ 6-in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95928"/>
            <a:ext cx="1463040" cy="1463040"/>
          </a:xfrm>
          <a:prstGeom prst="rect">
            <a:avLst/>
          </a:prstGeom>
        </p:spPr>
      </p:pic>
      <p:sp>
        <p:nvSpPr>
          <p:cNvPr id="15" name="Range text 4"/>
          <p:cNvSpPr txBox="1"/>
          <p:nvPr/>
        </p:nvSpPr>
        <p:spPr>
          <a:xfrm>
            <a:off x="2395728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Beard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胡须修剪器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Men Shaper Supreme™ 6-in-1</a:t>
            </a:r>
            <a:endParaRPr lang="en-US" sz="1400" dirty="0"/>
          </a:p>
        </p:txBody>
      </p:sp>
      <p:sp>
        <p:nvSpPr>
          <p:cNvPr id="16" name="Range card 5"/>
          <p:cNvSpPr/>
          <p:nvPr/>
        </p:nvSpPr>
        <p:spPr>
          <a:xfrm>
            <a:off x="4338218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7" name="Range photo 5" descr="Tondeuse Elegant™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1098" y="3995928"/>
            <a:ext cx="1463040" cy="1463040"/>
          </a:xfrm>
          <a:prstGeom prst="rect">
            <a:avLst/>
          </a:prstGeom>
        </p:spPr>
      </p:pic>
      <p:sp>
        <p:nvSpPr>
          <p:cNvPr id="18" name="Range text 5"/>
          <p:cNvSpPr txBox="1"/>
          <p:nvPr/>
        </p:nvSpPr>
        <p:spPr>
          <a:xfrm>
            <a:off x="6185306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Hair clippers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理发器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Tondeuse Elegant™</a:t>
            </a:r>
            <a:endParaRPr lang="en-US" sz="1400" dirty="0"/>
          </a:p>
        </p:txBody>
      </p:sp>
      <p:sp>
        <p:nvSpPr>
          <p:cNvPr id="19" name="Range card 6"/>
          <p:cNvSpPr/>
          <p:nvPr/>
        </p:nvSpPr>
        <p:spPr>
          <a:xfrm>
            <a:off x="8127797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20" name="Range photo 6" descr="Neustrimmer Ultimate™ 4-in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677" y="3995928"/>
            <a:ext cx="1463040" cy="1463040"/>
          </a:xfrm>
          <a:prstGeom prst="rect">
            <a:avLst/>
          </a:prstGeom>
        </p:spPr>
      </p:pic>
      <p:sp>
        <p:nvSpPr>
          <p:cNvPr id="21" name="Range text 6"/>
          <p:cNvSpPr txBox="1"/>
          <p:nvPr/>
        </p:nvSpPr>
        <p:spPr>
          <a:xfrm>
            <a:off x="9974885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Nose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Neustrimmer Ultimate™ 4-in-1</a:t>
            </a:r>
            <a:endParaRPr lang="en-US" sz="1400" dirty="0"/>
          </a:p>
        </p:txBody>
      </p:sp>
      <p:sp>
        <p:nvSpPr>
          <p:cNvPr id="22" name="Range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Also: safety razors, replacement blades, accessories and value bundles.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另有：安全剃须刀、替换刀片、配件及超值套装。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Today's visit team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今日拜访团队</a:t>
            </a:r>
            <a:endParaRPr lang="en-US" sz="2000" dirty="0"/>
          </a:p>
        </p:txBody>
      </p:sp>
      <p:sp>
        <p:nvSpPr>
          <p:cNvPr id="4" name="Team card 1"/>
          <p:cNvSpPr/>
          <p:nvPr/>
        </p:nvSpPr>
        <p:spPr>
          <a:xfrm>
            <a:off x="548640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5" name="Avatar 1"/>
          <p:cNvSpPr/>
          <p:nvPr/>
        </p:nvSpPr>
        <p:spPr>
          <a:xfrm>
            <a:off x="868680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itials 1"/>
          <p:cNvSpPr txBox="1"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DG</a:t>
            </a:r>
            <a:endParaRPr lang="en-US" sz="2400" dirty="0"/>
          </a:p>
        </p:txBody>
      </p:sp>
      <p:sp>
        <p:nvSpPr>
          <p:cNvPr id="7" name="Name 1"/>
          <p:cNvSpPr txBox="1"/>
          <p:nvPr/>
        </p:nvSpPr>
        <p:spPr>
          <a:xfrm>
            <a:off x="868680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Dustin Gibson</a:t>
            </a:r>
            <a:endParaRPr lang="en-US" sz="2000" dirty="0"/>
          </a:p>
        </p:txBody>
      </p:sp>
      <p:sp>
        <p:nvSpPr>
          <p:cNvPr id="8" name="Role 1"/>
          <p:cNvSpPr txBox="1"/>
          <p:nvPr/>
        </p:nvSpPr>
        <p:spPr>
          <a:xfrm>
            <a:off x="868680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Founder &amp; CEO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创始人兼首席执行官</a:t>
            </a:r>
            <a:endParaRPr lang="en-US" sz="1300" dirty="0"/>
          </a:p>
        </p:txBody>
      </p:sp>
      <p:sp>
        <p:nvSpPr>
          <p:cNvPr id="9" name="Divider 1"/>
          <p:cNvSpPr/>
          <p:nvPr/>
        </p:nvSpPr>
        <p:spPr>
          <a:xfrm>
            <a:off x="868680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Visit role 1"/>
          <p:cNvSpPr txBox="1"/>
          <p:nvPr/>
        </p:nvSpPr>
        <p:spPr>
          <a:xfrm>
            <a:off x="868680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Brand vision, 2027 plans and final decisions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品牌愿景、2027 年计划与最终决策</a:t>
            </a:r>
            <a:endParaRPr lang="en-US" sz="900" dirty="0"/>
          </a:p>
        </p:txBody>
      </p:sp>
      <p:sp>
        <p:nvSpPr>
          <p:cNvPr id="11" name="Team card 2"/>
          <p:cNvSpPr/>
          <p:nvPr/>
        </p:nvSpPr>
        <p:spPr>
          <a:xfrm>
            <a:off x="4338218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2" name="Avatar 2"/>
          <p:cNvSpPr/>
          <p:nvPr/>
        </p:nvSpPr>
        <p:spPr>
          <a:xfrm>
            <a:off x="4658258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Initials 2"/>
          <p:cNvSpPr txBox="1"/>
          <p:nvPr/>
        </p:nvSpPr>
        <p:spPr>
          <a:xfrm>
            <a:off x="465825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WG</a:t>
            </a:r>
            <a:endParaRPr lang="en-US" sz="2400" dirty="0"/>
          </a:p>
        </p:txBody>
      </p:sp>
      <p:sp>
        <p:nvSpPr>
          <p:cNvPr id="14" name="Name 2"/>
          <p:cNvSpPr txBox="1"/>
          <p:nvPr/>
        </p:nvSpPr>
        <p:spPr>
          <a:xfrm>
            <a:off x="4658258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Willem de Groot</a:t>
            </a:r>
            <a:endParaRPr lang="en-US" sz="2000" dirty="0"/>
          </a:p>
        </p:txBody>
      </p:sp>
      <p:sp>
        <p:nvSpPr>
          <p:cNvPr id="15" name="Role 2"/>
          <p:cNvSpPr txBox="1"/>
          <p:nvPr/>
        </p:nvSpPr>
        <p:spPr>
          <a:xfrm>
            <a:off x="4658258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Creative Strategist &amp; Operations Manager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创意策略师兼运营经理</a:t>
            </a:r>
            <a:endParaRPr lang="en-US" sz="1300" dirty="0"/>
          </a:p>
        </p:txBody>
      </p:sp>
      <p:sp>
        <p:nvSpPr>
          <p:cNvPr id="16" name="Divider 2"/>
          <p:cNvSpPr/>
          <p:nvPr/>
        </p:nvSpPr>
        <p:spPr>
          <a:xfrm>
            <a:off x="4658258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Visit role 2"/>
          <p:cNvSpPr txBox="1"/>
          <p:nvPr/>
        </p:nvSpPr>
        <p:spPr>
          <a:xfrm>
            <a:off x="4658258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 insights, product presentation and operations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客户洞察、产品呈现与运营</a:t>
            </a:r>
            <a:endParaRPr lang="en-US" sz="900" dirty="0"/>
          </a:p>
        </p:txBody>
      </p:sp>
      <p:sp>
        <p:nvSpPr>
          <p:cNvPr id="18" name="Team card 3"/>
          <p:cNvSpPr/>
          <p:nvPr/>
        </p:nvSpPr>
        <p:spPr>
          <a:xfrm>
            <a:off x="8127797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9" name="Avatar 3"/>
          <p:cNvSpPr/>
          <p:nvPr/>
        </p:nvSpPr>
        <p:spPr>
          <a:xfrm>
            <a:off x="8447837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Initials 3"/>
          <p:cNvSpPr txBox="1"/>
          <p:nvPr/>
        </p:nvSpPr>
        <p:spPr>
          <a:xfrm>
            <a:off x="8447837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</a:t>
            </a:r>
            <a:endParaRPr lang="en-US" sz="2400" dirty="0"/>
          </a:p>
        </p:txBody>
      </p:sp>
      <p:sp>
        <p:nvSpPr>
          <p:cNvPr id="21" name="Name 3"/>
          <p:cNvSpPr txBox="1"/>
          <p:nvPr/>
        </p:nvSpPr>
        <p:spPr>
          <a:xfrm>
            <a:off x="8447837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Leo</a:t>
            </a:r>
            <a:endParaRPr lang="en-US" sz="2000" dirty="0"/>
          </a:p>
        </p:txBody>
      </p:sp>
      <p:sp>
        <p:nvSpPr>
          <p:cNvPr id="22" name="Role 3"/>
          <p:cNvSpPr txBox="1"/>
          <p:nvPr/>
        </p:nvSpPr>
        <p:spPr>
          <a:xfrm>
            <a:off x="8447837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Supply Chain Manager, China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中国供应链经理</a:t>
            </a:r>
            <a:endParaRPr lang="en-US" sz="1300" dirty="0"/>
          </a:p>
        </p:txBody>
      </p:sp>
      <p:sp>
        <p:nvSpPr>
          <p:cNvPr id="23" name="Divider 3"/>
          <p:cNvSpPr/>
          <p:nvPr/>
        </p:nvSpPr>
        <p:spPr>
          <a:xfrm>
            <a:off x="8447837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4" name="Visit role 3"/>
          <p:cNvSpPr txBox="1"/>
          <p:nvPr/>
        </p:nvSpPr>
        <p:spPr>
          <a:xfrm>
            <a:off x="8447837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Your local contact for orders, quality and follow-up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订单、品质与后续跟进的本地联系人</a:t>
            </a:r>
            <a:endParaRPr lang="en-US" sz="900" dirty="0"/>
          </a:p>
        </p:txBody>
      </p:sp>
      <p:sp>
        <p:nvSpPr>
          <p:cNvPr id="25" name="Team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team, in the Netherlands and in China.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荷兰与中国，同一个团队。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we are visiting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本次拜访目的</a:t>
            </a:r>
            <a:endParaRPr lang="en-US" sz="2000" dirty="0"/>
          </a:p>
        </p:txBody>
      </p:sp>
      <p:sp>
        <p:nvSpPr>
          <p:cNvPr id="4" name="Step card 1"/>
          <p:cNvSpPr/>
          <p:nvPr/>
        </p:nvSpPr>
        <p:spPr>
          <a:xfrm>
            <a:off x="548640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5" name="Step number 1"/>
          <p:cNvSpPr txBox="1"/>
          <p:nvPr/>
        </p:nvSpPr>
        <p:spPr>
          <a:xfrm>
            <a:off x="804672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6" name="Step title 1"/>
          <p:cNvSpPr txBox="1"/>
          <p:nvPr/>
        </p:nvSpPr>
        <p:spPr>
          <a:xfrm>
            <a:off x="804672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Get to know each other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相互了解</a:t>
            </a:r>
            <a:endParaRPr lang="en-US" sz="1600" dirty="0"/>
          </a:p>
        </p:txBody>
      </p:sp>
      <p:sp>
        <p:nvSpPr>
          <p:cNvPr id="7" name="Step text 1"/>
          <p:cNvSpPr txBox="1"/>
          <p:nvPr/>
        </p:nvSpPr>
        <p:spPr>
          <a:xfrm>
            <a:off x="804672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introduce Wellshave, our customers and how we work.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 Wellshave、我们的客户和工作方式。</a:t>
            </a:r>
            <a:endParaRPr lang="en-US" sz="1300" dirty="0"/>
          </a:p>
        </p:txBody>
      </p:sp>
      <p:sp>
        <p:nvSpPr>
          <p:cNvPr id="8" name="Step card 2"/>
          <p:cNvSpPr/>
          <p:nvPr/>
        </p:nvSpPr>
        <p:spPr>
          <a:xfrm>
            <a:off x="3377108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9" name="Step number 2"/>
          <p:cNvSpPr txBox="1"/>
          <p:nvPr/>
        </p:nvSpPr>
        <p:spPr>
          <a:xfrm>
            <a:off x="3633140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33140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 current data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回顾当前数据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33140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reviews and returns of the products we buy from you.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回顾我们向贵司采购产品的销量、评价和退货情况。</a:t>
            </a:r>
            <a:endParaRPr lang="en-US" sz="1300" dirty="0"/>
          </a:p>
        </p:txBody>
      </p:sp>
      <p:sp>
        <p:nvSpPr>
          <p:cNvPr id="12" name="Step card 3"/>
          <p:cNvSpPr/>
          <p:nvPr/>
        </p:nvSpPr>
        <p:spPr>
          <a:xfrm>
            <a:off x="6205576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3" name="Step number 3"/>
          <p:cNvSpPr txBox="1"/>
          <p:nvPr/>
        </p:nvSpPr>
        <p:spPr>
          <a:xfrm>
            <a:off x="6461608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14" name="Step title 3"/>
          <p:cNvSpPr txBox="1"/>
          <p:nvPr/>
        </p:nvSpPr>
        <p:spPr>
          <a:xfrm>
            <a:off x="6461608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Share our 2027 plans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分享 2027 年计划</a:t>
            </a:r>
            <a:endParaRPr lang="en-US" sz="1600" dirty="0"/>
          </a:p>
        </p:txBody>
      </p:sp>
      <p:sp>
        <p:nvSpPr>
          <p:cNvPr id="15" name="Step text 3"/>
          <p:cNvSpPr txBox="1"/>
          <p:nvPr/>
        </p:nvSpPr>
        <p:spPr>
          <a:xfrm>
            <a:off x="6461608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Our growth plans and what they mean for your factory.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我们的增长计划及其对贵厂的意义。</a:t>
            </a:r>
            <a:endParaRPr lang="en-US" sz="1300" dirty="0"/>
          </a:p>
        </p:txBody>
      </p:sp>
      <p:sp>
        <p:nvSpPr>
          <p:cNvPr id="16" name="Step card 4"/>
          <p:cNvSpPr/>
          <p:nvPr/>
        </p:nvSpPr>
        <p:spPr>
          <a:xfrm>
            <a:off x="9034043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7" name="Step number 4"/>
          <p:cNvSpPr txBox="1"/>
          <p:nvPr/>
        </p:nvSpPr>
        <p:spPr>
          <a:xfrm>
            <a:off x="9290075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8" name="Step title 4"/>
          <p:cNvSpPr txBox="1"/>
          <p:nvPr/>
        </p:nvSpPr>
        <p:spPr>
          <a:xfrm>
            <a:off x="9290075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the range together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共同优化产品</a:t>
            </a:r>
            <a:endParaRPr lang="en-US" sz="1600" dirty="0"/>
          </a:p>
        </p:txBody>
      </p:sp>
      <p:sp>
        <p:nvSpPr>
          <p:cNvPr id="19" name="Step text 4"/>
          <p:cNvSpPr txBox="1"/>
          <p:nvPr/>
        </p:nvSpPr>
        <p:spPr>
          <a:xfrm>
            <a:off x="9290075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Better quality, better prices and new models.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更好的品质、更优的价格和新款产品。</a:t>
            </a:r>
            <a:endParaRPr lang="en-US" sz="1300" dirty="0"/>
          </a:p>
        </p:txBody>
      </p:sp>
      <p:sp>
        <p:nvSpPr>
          <p:cNvPr id="20" name="Outcome box"/>
          <p:cNvSpPr/>
          <p:nvPr/>
        </p:nvSpPr>
        <p:spPr>
          <a:xfrm>
            <a:off x="548640" y="5212080"/>
            <a:ext cx="11094415" cy="749808"/>
          </a:xfrm>
          <a:prstGeom prst="roundRect">
            <a:avLst>
              <a:gd name="adj" fmla="val 19512"/>
            </a:avLst>
          </a:prstGeom>
          <a:solidFill>
            <a:srgbClr val="EDE6DA"/>
          </a:solidFill>
          <a:ln/>
        </p:spPr>
      </p:sp>
      <p:pic>
        <p:nvPicPr>
          <p:cNvPr id="21" name="Outc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413248"/>
            <a:ext cx="347472" cy="347472"/>
          </a:xfrm>
          <a:prstGeom prst="rect">
            <a:avLst/>
          </a:prstGeom>
        </p:spPr>
      </p:pic>
      <p:sp>
        <p:nvSpPr>
          <p:cNvPr id="22" name="Outcome"/>
          <p:cNvSpPr txBox="1"/>
          <p:nvPr/>
        </p:nvSpPr>
        <p:spPr>
          <a:xfrm>
            <a:off x="1325880" y="5321808"/>
            <a:ext cx="10088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A good visit: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leave with samples, your recommendations and clear next steps for 2027.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成功的拜访：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我们带着样品、您的建议和清晰的 2027 年下一步计划回去。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Your products at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贵司产品在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的表现</a:t>
            </a:r>
            <a:endParaRPr lang="en-US" sz="2000" dirty="0"/>
          </a:p>
        </p:txBody>
      </p:sp>
      <p:graphicFrame>
        <p:nvGraphicFramePr>
          <p:cNvPr id="7" name="Produc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377440"/>
                <a:gridCol w="2103120"/>
                <a:gridCol w="203911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Product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Model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型号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Sold in 2026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 年销量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Return rate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退货率 *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4-in-1 Shaver Elite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8600 / WS-SA3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4,567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5.2%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6-in-1 Beard Trimmer Supreme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8988 / WS-BTG2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3,143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3.5%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5-in-1 Beard Trimmer Pro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8188 / WS-BTG1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2,179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4.3%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Total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9,889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54864" marB="54864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</a:tbl>
          </a:graphicData>
        </a:graphic>
      </p:graphicFrame>
      <p:sp>
        <p:nvSpPr>
          <p:cNvPr id="5" name="Data source"/>
          <p:cNvSpPr txBox="1"/>
          <p:nvPr/>
        </p:nvSpPr>
        <p:spPr>
          <a:xfrm>
            <a:off x="548640" y="469087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* bol.com, 1 January to 15 October 2026. Return rate counts all return reasons. Webshop sales not included. We share our 2027 forecast in the meeting.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数据来源：bol.com，2026年1月1日至10月15日。退货率包含所有退货原因，不含官网销量。2027年预测将在会议中分享。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our customers tell us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客户反馈</a:t>
            </a:r>
            <a:endParaRPr lang="en-US" sz="2000" dirty="0"/>
          </a:p>
        </p:txBody>
      </p:sp>
      <p:sp>
        <p:nvSpPr>
          <p:cNvPr id="4" name="Stats card"/>
          <p:cNvSpPr/>
          <p:nvPr/>
        </p:nvSpPr>
        <p:spPr>
          <a:xfrm>
            <a:off x="548640" y="1645920"/>
            <a:ext cx="3200400" cy="425196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/>
        </p:spPr>
      </p:sp>
      <p:sp>
        <p:nvSpPr>
          <p:cNvPr id="5" name="Stat value 1"/>
          <p:cNvSpPr txBox="1"/>
          <p:nvPr/>
        </p:nvSpPr>
        <p:spPr>
          <a:xfrm>
            <a:off x="822960" y="19385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9,889</a:t>
            </a:r>
            <a:endParaRPr lang="en-US" sz="3000" dirty="0"/>
          </a:p>
        </p:txBody>
      </p:sp>
      <p:sp>
        <p:nvSpPr>
          <p:cNvPr id="6" name="Stat label 1"/>
          <p:cNvSpPr txBox="1"/>
          <p:nvPr/>
        </p:nvSpPr>
        <p:spPr>
          <a:xfrm>
            <a:off x="822960" y="25054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units sold on bol.com in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2026年bol.com销量</a:t>
            </a:r>
            <a:endParaRPr lang="en-US" sz="1100" dirty="0"/>
          </a:p>
        </p:txBody>
      </p:sp>
      <p:sp>
        <p:nvSpPr>
          <p:cNvPr id="7" name="Stat value 2"/>
          <p:cNvSpPr txBox="1"/>
          <p:nvPr/>
        </p:nvSpPr>
        <p:spPr>
          <a:xfrm>
            <a:off x="822960" y="32644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43</a:t>
            </a:r>
            <a:endParaRPr lang="en-US" sz="3000" dirty="0"/>
          </a:p>
        </p:txBody>
      </p:sp>
      <p:sp>
        <p:nvSpPr>
          <p:cNvPr id="8" name="Stat label 2"/>
          <p:cNvSpPr txBox="1"/>
          <p:nvPr/>
        </p:nvSpPr>
        <p:spPr>
          <a:xfrm>
            <a:off x="822960" y="38313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critical reviews (1 to 3 stars)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差评数（1至3星）</a:t>
            </a:r>
            <a:endParaRPr lang="en-US" sz="1100" dirty="0"/>
          </a:p>
        </p:txBody>
      </p:sp>
      <p:sp>
        <p:nvSpPr>
          <p:cNvPr id="9" name="Stat value 3"/>
          <p:cNvSpPr txBox="1"/>
          <p:nvPr/>
        </p:nvSpPr>
        <p:spPr>
          <a:xfrm>
            <a:off x="822960" y="459028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4.3</a:t>
            </a:r>
            <a:endParaRPr lang="en-US" sz="3000" dirty="0"/>
          </a:p>
        </p:txBody>
      </p:sp>
      <p:sp>
        <p:nvSpPr>
          <p:cNvPr id="10" name="Stat label 3"/>
          <p:cNvSpPr txBox="1"/>
          <p:nvPr/>
        </p:nvSpPr>
        <p:spPr>
          <a:xfrm>
            <a:off x="822960" y="51572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critical reviews per 1,000 units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每千件产品的差评数</a:t>
            </a:r>
            <a:endParaRPr lang="en-US" sz="1100" dirty="0"/>
          </a:p>
        </p:txBody>
      </p:sp>
      <p:sp>
        <p:nvSpPr>
          <p:cNvPr id="11" name="Theme 1"/>
          <p:cNvSpPr txBox="1"/>
          <p:nvPr/>
        </p:nvSpPr>
        <p:spPr>
          <a:xfrm>
            <a:off x="4114800" y="164592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Shaving and trimming result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剃须与修剪效果</a:t>
            </a:r>
            <a:endParaRPr lang="en-US" sz="1350" dirty="0"/>
          </a:p>
        </p:txBody>
      </p:sp>
      <p:sp>
        <p:nvSpPr>
          <p:cNvPr id="12" name="Theme count 1"/>
          <p:cNvSpPr txBox="1"/>
          <p:nvPr/>
        </p:nvSpPr>
        <p:spPr>
          <a:xfrm>
            <a:off x="10820095" y="16276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</a:t>
            </a:r>
            <a:endParaRPr lang="en-US" sz="1600" dirty="0"/>
          </a:p>
        </p:txBody>
      </p:sp>
      <p:sp>
        <p:nvSpPr>
          <p:cNvPr id="13" name="Theme track 1"/>
          <p:cNvSpPr/>
          <p:nvPr/>
        </p:nvSpPr>
        <p:spPr>
          <a:xfrm>
            <a:off x="4114800" y="194767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4" name="Theme bar 1"/>
          <p:cNvSpPr/>
          <p:nvPr/>
        </p:nvSpPr>
        <p:spPr>
          <a:xfrm>
            <a:off x="4114800" y="194767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Theme quote 1"/>
          <p:cNvSpPr txBox="1"/>
          <p:nvPr/>
        </p:nvSpPr>
        <p:spPr>
          <a:xfrm>
            <a:off x="4114800" y="207568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“It pulls the hairs out instead of cutting them. Painful.”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它不是把胡须剪断，而是把胡须拔出来，很疼。</a:t>
            </a:r>
            <a:endParaRPr lang="en-US" sz="1000" dirty="0"/>
          </a:p>
        </p:txBody>
      </p:sp>
      <p:sp>
        <p:nvSpPr>
          <p:cNvPr id="16" name="Theme 2"/>
          <p:cNvSpPr txBox="1"/>
          <p:nvPr/>
        </p:nvSpPr>
        <p:spPr>
          <a:xfrm>
            <a:off x="4114800" y="260604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Build quality and durability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做工与耐用性</a:t>
            </a:r>
            <a:endParaRPr lang="en-US" sz="1350" dirty="0"/>
          </a:p>
        </p:txBody>
      </p:sp>
      <p:sp>
        <p:nvSpPr>
          <p:cNvPr id="17" name="Theme count 2"/>
          <p:cNvSpPr txBox="1"/>
          <p:nvPr/>
        </p:nvSpPr>
        <p:spPr>
          <a:xfrm>
            <a:off x="10820095" y="258775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11</a:t>
            </a:r>
            <a:endParaRPr lang="en-US" sz="1600" dirty="0"/>
          </a:p>
        </p:txBody>
      </p:sp>
      <p:sp>
        <p:nvSpPr>
          <p:cNvPr id="18" name="Theme track 2"/>
          <p:cNvSpPr/>
          <p:nvPr/>
        </p:nvSpPr>
        <p:spPr>
          <a:xfrm>
            <a:off x="4114800" y="290779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9" name="Theme bar 2"/>
          <p:cNvSpPr/>
          <p:nvPr/>
        </p:nvSpPr>
        <p:spPr>
          <a:xfrm>
            <a:off x="4114800" y="2907792"/>
            <a:ext cx="3312432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Theme quote 2"/>
          <p:cNvSpPr txBox="1"/>
          <p:nvPr/>
        </p:nvSpPr>
        <p:spPr>
          <a:xfrm>
            <a:off x="4114800" y="303580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shaving head is loose and falls out of the holder.”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刀头不牢固，容易从刀架上掉出来。</a:t>
            </a:r>
            <a:endParaRPr lang="en-US" sz="1000" dirty="0"/>
          </a:p>
        </p:txBody>
      </p:sp>
      <p:sp>
        <p:nvSpPr>
          <p:cNvPr id="21" name="Theme 3"/>
          <p:cNvSpPr txBox="1"/>
          <p:nvPr/>
        </p:nvSpPr>
        <p:spPr>
          <a:xfrm>
            <a:off x="4114800" y="356616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Battery and charging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电池与充电</a:t>
            </a:r>
            <a:endParaRPr lang="en-US" sz="1350" dirty="0"/>
          </a:p>
        </p:txBody>
      </p:sp>
      <p:sp>
        <p:nvSpPr>
          <p:cNvPr id="22" name="Theme count 3"/>
          <p:cNvSpPr txBox="1"/>
          <p:nvPr/>
        </p:nvSpPr>
        <p:spPr>
          <a:xfrm>
            <a:off x="10820095" y="35478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endParaRPr lang="en-US" sz="1600" dirty="0"/>
          </a:p>
        </p:txBody>
      </p:sp>
      <p:sp>
        <p:nvSpPr>
          <p:cNvPr id="23" name="Theme track 3"/>
          <p:cNvSpPr/>
          <p:nvPr/>
        </p:nvSpPr>
        <p:spPr>
          <a:xfrm>
            <a:off x="4114800" y="386791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4" name="Theme bar 3"/>
          <p:cNvSpPr/>
          <p:nvPr/>
        </p:nvSpPr>
        <p:spPr>
          <a:xfrm>
            <a:off x="4114800" y="3867912"/>
            <a:ext cx="2409042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Theme quote 3"/>
          <p:cNvSpPr txBox="1"/>
          <p:nvPr/>
        </p:nvSpPr>
        <p:spPr>
          <a:xfrm>
            <a:off x="4114800" y="399592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“Runs 60 minutes at most instead of 90, and charging takes an hour longer.”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最多只能用60分钟，而不是90分钟，充电还要多花一个小时。</a:t>
            </a:r>
            <a:endParaRPr lang="en-US" sz="1000" dirty="0"/>
          </a:p>
        </p:txBody>
      </p:sp>
      <p:sp>
        <p:nvSpPr>
          <p:cNvPr id="26" name="Theme 4"/>
          <p:cNvSpPr txBox="1"/>
          <p:nvPr/>
        </p:nvSpPr>
        <p:spPr>
          <a:xfrm>
            <a:off x="4114800" y="4526280"/>
            <a:ext cx="6705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Missing or unsuitable accessories</a:t>
            </a:r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配件缺失或不合适</a:t>
            </a:r>
            <a:endParaRPr lang="en-US" sz="1350" dirty="0"/>
          </a:p>
        </p:txBody>
      </p:sp>
      <p:sp>
        <p:nvSpPr>
          <p:cNvPr id="27" name="Theme count 4"/>
          <p:cNvSpPr txBox="1"/>
          <p:nvPr/>
        </p:nvSpPr>
        <p:spPr>
          <a:xfrm>
            <a:off x="10820095" y="45079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28" name="Theme track 4"/>
          <p:cNvSpPr/>
          <p:nvPr/>
        </p:nvSpPr>
        <p:spPr>
          <a:xfrm>
            <a:off x="4114800" y="4828032"/>
            <a:ext cx="7528255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9" name="Theme bar 4"/>
          <p:cNvSpPr/>
          <p:nvPr/>
        </p:nvSpPr>
        <p:spPr>
          <a:xfrm>
            <a:off x="4114800" y="4828032"/>
            <a:ext cx="903391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Theme quote 4"/>
          <p:cNvSpPr txBox="1"/>
          <p:nvPr/>
        </p:nvSpPr>
        <p:spPr>
          <a:xfrm>
            <a:off x="4114800" y="4956048"/>
            <a:ext cx="7528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charging cable was missing from the box.”</a:t>
            </a:r>
            <a:br/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包装里缺少充电线。</a:t>
            </a:r>
            <a:endParaRPr lang="en-US" sz="1000" dirty="0"/>
          </a:p>
        </p:txBody>
      </p:sp>
      <p:sp>
        <p:nvSpPr>
          <p:cNvPr id="31" name="Review source"/>
          <p:cNvSpPr txBox="1"/>
          <p:nvPr/>
        </p:nvSpPr>
        <p:spPr>
          <a:xfrm>
            <a:off x="548640" y="598932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Source: bol.com reviews with 1 to 3 stars on your products, January to October 2026. One review can mention several topics.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数据来源：2026年1月至10月bol.com上贵司产品的1至3星评价，一条评价可能涉及多个问题。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want to improve together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我们希望共同改进的方向</a:t>
            </a:r>
            <a:endParaRPr lang="en-US" sz="2000" dirty="0"/>
          </a:p>
        </p:txBody>
      </p:sp>
      <p:sp>
        <p:nvSpPr>
          <p:cNvPr id="4" name="Priority card 1"/>
          <p:cNvSpPr/>
          <p:nvPr/>
        </p:nvSpPr>
        <p:spPr>
          <a:xfrm>
            <a:off x="548640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5" name="Priority badge 1"/>
          <p:cNvSpPr/>
          <p:nvPr/>
        </p:nvSpPr>
        <p:spPr>
          <a:xfrm>
            <a:off x="822960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riori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76272"/>
            <a:ext cx="365760" cy="365760"/>
          </a:xfrm>
          <a:prstGeom prst="rect">
            <a:avLst/>
          </a:prstGeom>
        </p:spPr>
      </p:pic>
      <p:sp>
        <p:nvSpPr>
          <p:cNvPr id="7" name="Priority title 1"/>
          <p:cNvSpPr txBox="1"/>
          <p:nvPr/>
        </p:nvSpPr>
        <p:spPr>
          <a:xfrm>
            <a:off x="1645920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quality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</a:t>
            </a:r>
            <a:endParaRPr lang="en-US" sz="2000" dirty="0"/>
          </a:p>
        </p:txBody>
      </p:sp>
      <p:sp>
        <p:nvSpPr>
          <p:cNvPr id="8" name="Priority focus 1"/>
          <p:cNvSpPr txBox="1"/>
          <p:nvPr/>
        </p:nvSpPr>
        <p:spPr>
          <a:xfrm>
            <a:off x="822960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BATTERIES &amp; CHARGING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重点：电池与充电</a:t>
            </a:r>
            <a:endParaRPr lang="en-US" sz="1000" dirty="0"/>
          </a:p>
        </p:txBody>
      </p:sp>
      <p:sp>
        <p:nvSpPr>
          <p:cNvPr id="9" name="Priority points 1"/>
          <p:cNvSpPr txBox="1"/>
          <p:nvPr/>
        </p:nvSpPr>
        <p:spPr>
          <a:xfrm>
            <a:off x="822960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Longer battery life and lifespan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续航更长，电池寿命更长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Fixed-cable adapter as standard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今后标配线缆固定的一体式适配器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</a:rPr>
              <a:t>So the right adapter is always used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确保客户始终使用与设备匹配的适配器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Fewer defects and returns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减少故障和退货</a:t>
            </a:r>
            <a:endParaRPr lang="en-US" sz="1400" dirty="0"/>
          </a:p>
        </p:txBody>
      </p:sp>
      <p:sp>
        <p:nvSpPr>
          <p:cNvPr id="10" name="Priority card 2"/>
          <p:cNvSpPr/>
          <p:nvPr/>
        </p:nvSpPr>
        <p:spPr>
          <a:xfrm>
            <a:off x="4338218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1" name="Priority badge 2"/>
          <p:cNvSpPr/>
          <p:nvPr/>
        </p:nvSpPr>
        <p:spPr>
          <a:xfrm>
            <a:off x="4612538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riori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42" y="2176272"/>
            <a:ext cx="365760" cy="365760"/>
          </a:xfrm>
          <a:prstGeom prst="rect">
            <a:avLst/>
          </a:prstGeom>
        </p:spPr>
      </p:pic>
      <p:sp>
        <p:nvSpPr>
          <p:cNvPr id="13" name="Priority title 2"/>
          <p:cNvSpPr txBox="1"/>
          <p:nvPr/>
        </p:nvSpPr>
        <p:spPr>
          <a:xfrm>
            <a:off x="5435498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prices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更优的价格</a:t>
            </a:r>
            <a:endParaRPr lang="en-US" sz="2000" dirty="0"/>
          </a:p>
        </p:txBody>
      </p:sp>
      <p:sp>
        <p:nvSpPr>
          <p:cNvPr id="14" name="Priority focus 2"/>
          <p:cNvSpPr txBox="1"/>
          <p:nvPr/>
        </p:nvSpPr>
        <p:spPr>
          <a:xfrm>
            <a:off x="4612538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CURRENT RANGE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重点：现有产品</a:t>
            </a:r>
            <a:endParaRPr lang="en-US" sz="1000" dirty="0"/>
          </a:p>
        </p:txBody>
      </p:sp>
      <p:sp>
        <p:nvSpPr>
          <p:cNvPr id="15" name="Priority points 2"/>
          <p:cNvSpPr txBox="1"/>
          <p:nvPr/>
        </p:nvSpPr>
        <p:spPr>
          <a:xfrm>
            <a:off x="4612538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Lower purchase prices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降低现有产品的采购价格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Cost ideas that keep the quality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在保证品质前提下的降本方案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Prices based on 2027 volumes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2027 年采购量报价</a:t>
            </a:r>
            <a:endParaRPr lang="en-US" sz="1400" dirty="0"/>
          </a:p>
        </p:txBody>
      </p:sp>
      <p:sp>
        <p:nvSpPr>
          <p:cNvPr id="16" name="Priority card 3"/>
          <p:cNvSpPr/>
          <p:nvPr/>
        </p:nvSpPr>
        <p:spPr>
          <a:xfrm>
            <a:off x="8127797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7" name="Priority badge 3"/>
          <p:cNvSpPr/>
          <p:nvPr/>
        </p:nvSpPr>
        <p:spPr>
          <a:xfrm>
            <a:off x="8402117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riori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2176272"/>
            <a:ext cx="365760" cy="365760"/>
          </a:xfrm>
          <a:prstGeom prst="rect">
            <a:avLst/>
          </a:prstGeom>
        </p:spPr>
      </p:pic>
      <p:sp>
        <p:nvSpPr>
          <p:cNvPr id="19" name="Priority title 3"/>
          <p:cNvSpPr txBox="1"/>
          <p:nvPr/>
        </p:nvSpPr>
        <p:spPr>
          <a:xfrm>
            <a:off x="9225077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New models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</a:t>
            </a:r>
            <a:endParaRPr lang="en-US" sz="2000" dirty="0"/>
          </a:p>
        </p:txBody>
      </p:sp>
      <p:sp>
        <p:nvSpPr>
          <p:cNvPr id="20" name="Priority focus 3"/>
          <p:cNvSpPr txBox="1"/>
          <p:nvPr/>
        </p:nvSpPr>
        <p:spPr>
          <a:xfrm>
            <a:off x="8402117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CO-DEVELOPMENT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重点：共同开发</a:t>
            </a:r>
            <a:endParaRPr lang="en-US" sz="1000" dirty="0"/>
          </a:p>
        </p:txBody>
      </p:sp>
      <p:sp>
        <p:nvSpPr>
          <p:cNvPr id="21" name="Priority points 3"/>
          <p:cNvSpPr txBox="1"/>
          <p:nvPr/>
        </p:nvSpPr>
        <p:spPr>
          <a:xfrm>
            <a:off x="8402117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Develop new models together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共同开发新款产品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Upgrades of our best-sellers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升级我们的畅销款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Your newest technology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贵司的最新技术</a:t>
            </a:r>
            <a:endParaRPr lang="en-US" sz="1400" dirty="0"/>
          </a:p>
        </p:txBody>
      </p:sp>
      <p:sp>
        <p:nvSpPr>
          <p:cNvPr id="22" name="Why it matters"/>
          <p:cNvSpPr txBox="1"/>
          <p:nvPr/>
        </p:nvSpPr>
        <p:spPr>
          <a:xfrm>
            <a:off x="548640" y="5559552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Why this matters: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our customers get a 100-day trial and a 2-year warranty, so every weak battery becomes a return and a bad review.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我们为客户提供 100 天试用和 2 年保修，每一个电池问题都会变成退货和差评。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would love to see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我们最期待看到的</a:t>
            </a:r>
            <a:endParaRPr lang="en-US" sz="2000" dirty="0"/>
          </a:p>
        </p:txBody>
      </p:sp>
      <p:sp>
        <p:nvSpPr>
          <p:cNvPr id="4" name="Ask card 1"/>
          <p:cNvSpPr/>
          <p:nvPr/>
        </p:nvSpPr>
        <p:spPr>
          <a:xfrm>
            <a:off x="548640" y="178308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5" name="Ask badge 1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As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03704"/>
            <a:ext cx="365760" cy="365760"/>
          </a:xfrm>
          <a:prstGeom prst="rect">
            <a:avLst/>
          </a:prstGeom>
        </p:spPr>
      </p:pic>
      <p:sp>
        <p:nvSpPr>
          <p:cNvPr id="7" name="Ask text 1"/>
          <p:cNvSpPr txBox="1"/>
          <p:nvPr/>
        </p:nvSpPr>
        <p:spPr>
          <a:xfrm>
            <a:off x="1691640" y="20574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Samples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样品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New models and improved batteries. We like to hold and test them ourselves.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新款产品和改进后的电池。我们希望亲手体验和测试。</a:t>
            </a:r>
            <a:endParaRPr lang="en-US" sz="1800" dirty="0"/>
          </a:p>
        </p:txBody>
      </p:sp>
      <p:sp>
        <p:nvSpPr>
          <p:cNvPr id="8" name="Ask card 2"/>
          <p:cNvSpPr/>
          <p:nvPr/>
        </p:nvSpPr>
        <p:spPr>
          <a:xfrm>
            <a:off x="548640" y="370332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9" name="Ask badge 2"/>
          <p:cNvSpPr/>
          <p:nvPr/>
        </p:nvSpPr>
        <p:spPr>
          <a:xfrm>
            <a:off x="822960" y="397764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123944"/>
            <a:ext cx="365760" cy="365760"/>
          </a:xfrm>
          <a:prstGeom prst="rect">
            <a:avLst/>
          </a:prstGeom>
        </p:spPr>
      </p:pic>
      <p:sp>
        <p:nvSpPr>
          <p:cNvPr id="11" name="Ask text 2"/>
          <p:cNvSpPr txBox="1"/>
          <p:nvPr/>
        </p:nvSpPr>
        <p:spPr>
          <a:xfrm>
            <a:off x="1691640" y="397764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Your recommendations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您的推荐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What sells well in other markets? What would you change in our products?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哪些产品在其他市场卖得好？您会如何改进我们的产品？</a:t>
            </a:r>
            <a:endParaRPr lang="en-US" sz="1800" dirty="0"/>
          </a:p>
        </p:txBody>
      </p:sp>
      <p:sp>
        <p:nvSpPr>
          <p:cNvPr id="12" name="No prep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 preparation needed: we mainly come to listen.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无需特别准备：我们主要是来倾听的。</a:t>
            </a:r>
            <a:endParaRPr lang="en-US" sz="1200" dirty="0"/>
          </a:p>
        </p:txBody>
      </p:sp>
      <p:sp>
        <p:nvSpPr>
          <p:cNvPr id="13" name="Thanks panel"/>
          <p:cNvSpPr/>
          <p:nvPr/>
        </p:nvSpPr>
        <p:spPr>
          <a:xfrm>
            <a:off x="7589520" y="1783080"/>
            <a:ext cx="4053535" cy="4297680"/>
          </a:xfrm>
          <a:prstGeom prst="roundRect">
            <a:avLst>
              <a:gd name="adj" fmla="val 3609"/>
            </a:avLst>
          </a:prstGeom>
          <a:solidFill>
            <a:srgbClr val="F5F1EA"/>
          </a:solidFill>
          <a:ln/>
        </p:spPr>
      </p:sp>
      <p:sp>
        <p:nvSpPr>
          <p:cNvPr id="14" name="Thanks"/>
          <p:cNvSpPr txBox="1"/>
          <p:nvPr/>
        </p:nvSpPr>
        <p:spPr>
          <a:xfrm>
            <a:off x="7955280" y="2103120"/>
            <a:ext cx="3322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Thank you</a:t>
            </a:r>
            <a:endParaRPr lang="en-US" sz="3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3600" dirty="0"/>
          </a:p>
        </p:txBody>
      </p:sp>
      <p:sp>
        <p:nvSpPr>
          <p:cNvPr id="15" name="Looking forward"/>
          <p:cNvSpPr txBox="1"/>
          <p:nvPr/>
        </p:nvSpPr>
        <p:spPr>
          <a:xfrm>
            <a:off x="7955280" y="361188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 look forward to growing together.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期待与贵司共同成长。</a:t>
            </a:r>
            <a:endParaRPr lang="en-US" sz="1400" dirty="0"/>
          </a:p>
        </p:txBody>
      </p:sp>
      <p:sp>
        <p:nvSpPr>
          <p:cNvPr id="16" name="Contact divider"/>
          <p:cNvSpPr/>
          <p:nvPr/>
        </p:nvSpPr>
        <p:spPr>
          <a:xfrm>
            <a:off x="7955280" y="4526280"/>
            <a:ext cx="332201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Contact"/>
          <p:cNvSpPr txBox="1"/>
          <p:nvPr/>
        </p:nvSpPr>
        <p:spPr>
          <a:xfrm>
            <a:off x="7955280" y="468172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Dustin Gibson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  ·  Founder &amp; CEO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dustin@wellshave.com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</a:rPr>
              <a:t>wellshave.com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lshave">
  <a:themeElements>
    <a:clrScheme name="Wellshave">
      <a:dk1>
        <a:srgbClr val="111111"/>
      </a:dk1>
      <a:lt1>
        <a:srgbClr val="FFFFFF"/>
      </a:lt1>
      <a:dk2>
        <a:srgbClr val="191816"/>
      </a:dk2>
      <a:lt2>
        <a:srgbClr val="F5F1EA"/>
      </a:lt2>
      <a:accent1>
        <a:srgbClr val="B0742A"/>
      </a:accent1>
      <a:accent2>
        <a:srgbClr val="F5D18A"/>
      </a:accent2>
      <a:accent3>
        <a:srgbClr val="EDE6DA"/>
      </a:accent3>
      <a:accent4>
        <a:srgbClr val="8C5A1A"/>
      </a:accent4>
      <a:accent5>
        <a:srgbClr val="24221F"/>
      </a:accent5>
      <a:accent6>
        <a:srgbClr val="6B655D"/>
      </a:accent6>
      <a:hlink>
        <a:srgbClr val="B0742A"/>
      </a:hlink>
      <a:folHlink>
        <a:srgbClr val="8C5A1A"/>
      </a:folHlink>
    </a:clrScheme>
    <a:fontScheme name="Wellshav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Wellshave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Wellshave · Factory visit · FANKE</dc:title>
  <dc:subject>PptxGenJS Presentation</dc:subject>
  <dc:creator>Wellshave</dc:creator>
  <cp:lastModifiedBy>Wellshave</cp:lastModifiedBy>
  <cp:revision>1</cp:revision>
  <dcterms:created xsi:type="dcterms:W3CDTF">2026-10-16T14:29:47Z</dcterms:created>
  <dcterms:modified xsi:type="dcterms:W3CDTF">2026-10-16T14:29:47Z</dcterms:modified>
</cp:coreProperties>
</file>