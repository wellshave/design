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f7c38c2-4838-4061-e18d-c83a7c12f8a6}">
          <p14:sldIdLst>
            <p14:sldId id="256"/>
          </p14:sldIdLst>
        </p14:section>
        <p14:section name="About Wellshave" id="{40512060-8cef-97d0-96bf-37066196ef9d}">
          <p14:sldIdLst>
            <p14:sldId id="257"/>
            <p14:sldId id="258"/>
          </p14:sldIdLst>
        </p14:section>
        <p14:section name="The visit" id="{e85dcbb2-efe6-429a-e000-71ce50fa7e9a}">
          <p14:sldIdLst>
            <p14:sldId id="259"/>
            <p14:sldId id="260"/>
          </p14:sldIdLst>
        </p14:section>
        <p14:section name="Your products" id="{4f52449f-33ac-c6cd-3060-8a6429c4e542}">
          <p14:sldIdLst>
            <p14:sldId id="261"/>
            <p14:sldId id="262"/>
          </p14:sldIdLst>
        </p14:section>
        <p14:section name="Working together" id="{914d6a3e-e206-5790-31b5-4d7e8d141191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Thank Global Best Way for hosting us. One sentence: who we are and why we came.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figures are approximate for 2026. Remove the two revenue tiles if you prefer not to share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short. Point at the categories this factory makes for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products we buy through this partner. Sales are bol.com units (about 80% of our revenue).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Themes are tagged by hand from the bol.com review texts. Quotes are translated from Dutch.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Fixed-cable adapter: from now on every device ships with a charger whose cable is fixed to the adapter, so customers always charge with the right adapter for that device. Wrong adapters damage batteries and lead to returns.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and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pic>
        <p:nvPicPr>
          <p:cNvPr id="4" name="Image 0" descr="/home/user/design/presentaties/fabrieksbezoek-china-2026/assets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1371600" cy="2194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pic>
        <p:nvPicPr>
          <p:cNvPr id="4" name="Image 0" descr="/home/user/design/presentaties/fabrieksbezoek-china-2026/assets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1371600" cy="2194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 photo" descr="Wellshave hair clipper with battery displ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pic>
        <p:nvPicPr>
          <p:cNvPr id="3" name="Logo" descr="Wellshave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85800"/>
            <a:ext cx="2514600" cy="402336"/>
          </a:xfrm>
          <a:prstGeom prst="rect">
            <a:avLst/>
          </a:prstGeom>
        </p:spPr>
      </p:pic>
      <p:sp>
        <p:nvSpPr>
          <p:cNvPr id="4" name="Eyebrow"/>
          <p:cNvSpPr txBox="1"/>
          <p:nvPr/>
        </p:nvSpPr>
        <p:spPr>
          <a:xfrm>
            <a:off x="685800" y="18745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FACTORY VISIT</a:t>
            </a:r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   ·   </a:t>
            </a:r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工厂拜访</a:t>
            </a:r>
            <a:endParaRPr lang="en-US" sz="1200" dirty="0"/>
          </a:p>
        </p:txBody>
      </p:sp>
      <p:sp>
        <p:nvSpPr>
          <p:cNvPr id="5" name="Title"/>
          <p:cNvSpPr txBox="1"/>
          <p:nvPr/>
        </p:nvSpPr>
        <p:spPr>
          <a:xfrm>
            <a:off x="685800" y="2286000"/>
            <a:ext cx="548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5200" b="1" dirty="0">
                <a:solidFill>
                  <a:schemeClr val="bg1"/>
                </a:solidFill>
              </a:rPr>
              <a:t>Introducing</a:t>
            </a:r>
            <a:endParaRPr lang="en-US" sz="5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5200" b="1" dirty="0">
                <a:solidFill>
                  <a:schemeClr val="bg1"/>
                </a:solidFill>
              </a:rPr>
              <a:t>Wellshave</a:t>
            </a:r>
            <a:endParaRPr lang="en-US" sz="5200" dirty="0"/>
          </a:p>
        </p:txBody>
      </p:sp>
      <p:sp>
        <p:nvSpPr>
          <p:cNvPr id="6" name="Title CN"/>
          <p:cNvSpPr txBox="1"/>
          <p:nvPr/>
        </p:nvSpPr>
        <p:spPr>
          <a:xfrm>
            <a:off x="685800" y="3931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Wellshave </a:t>
            </a:r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品牌介绍</a:t>
            </a:r>
            <a:endParaRPr lang="en-US" sz="3000" dirty="0"/>
          </a:p>
        </p:txBody>
      </p:sp>
      <p:sp>
        <p:nvSpPr>
          <p:cNvPr id="7" name="Subtitle"/>
          <p:cNvSpPr txBox="1"/>
          <p:nvPr/>
        </p:nvSpPr>
        <p:spPr>
          <a:xfrm>
            <a:off x="685800" y="46634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Dutch men's grooming brand  ·  Netherlands &amp; Belgium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荷兰男士理容品牌  ·  主营荷兰与比利时市场</a:t>
            </a:r>
            <a:endParaRPr lang="en-US" sz="1400" dirty="0"/>
          </a:p>
        </p:txBody>
      </p:sp>
      <p:sp>
        <p:nvSpPr>
          <p:cNvPr id="8" name="Prepared for"/>
          <p:cNvSpPr txBox="1"/>
          <p:nvPr/>
        </p:nvSpPr>
        <p:spPr>
          <a:xfrm>
            <a:off x="685800" y="539496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spc="300" kern="0" dirty="0">
                <a:solidFill>
                  <a:schemeClr val="accent2"/>
                </a:solidFill>
              </a:rPr>
              <a:t>PREPARED FOR</a:t>
            </a:r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·   拜访对象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Global Best Way Co., Ltd.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温州市贝威贸易有限公司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·   Jenny Huang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3"/>
                </a:solidFill>
              </a:rPr>
              <a:t>October 2026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·   2026 年 10 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About Wellshave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 </a:t>
            </a:r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Wellshave</a:t>
            </a:r>
            <a:endParaRPr lang="en-US" sz="2000" dirty="0"/>
          </a:p>
        </p:txBody>
      </p:sp>
      <p:sp>
        <p:nvSpPr>
          <p:cNvPr id="4" name="Story"/>
          <p:cNvSpPr txBox="1"/>
          <p:nvPr/>
        </p:nvSpPr>
        <p:spPr>
          <a:xfrm>
            <a:off x="548640" y="1783080"/>
            <a:ext cx="5577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Wellshave is a Dutch men's grooming brand, founded in 2021. We design and sell shavers, trimmers and clippers that give men premium quality at a fair price.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Wellshave 是一家荷兰男士理容品牌，成立于 2021 年。我们设计并销售剃须刀、修剪器和理发器，以合理的价格为男士提供高端品质。</a:t>
            </a:r>
            <a:endParaRPr lang="en-US" sz="1500" dirty="0"/>
          </a:p>
        </p:txBody>
      </p:sp>
      <p:sp>
        <p:nvSpPr>
          <p:cNvPr id="5" name="Feedback head"/>
          <p:cNvSpPr txBox="1"/>
          <p:nvPr/>
        </p:nvSpPr>
        <p:spPr>
          <a:xfrm>
            <a:off x="548640" y="3520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Driven by customer feedback</a:t>
            </a:r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以客户反馈为驱动</a:t>
            </a:r>
            <a:endParaRPr lang="en-US" sz="1500" dirty="0"/>
          </a:p>
        </p:txBody>
      </p:sp>
      <p:sp>
        <p:nvSpPr>
          <p:cNvPr id="6" name="Feedback"/>
          <p:cNvSpPr txBox="1"/>
          <p:nvPr/>
        </p:nvSpPr>
        <p:spPr>
          <a:xfrm>
            <a:off x="548640" y="388620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Every product upgrade starts with what customers return, miss or want better.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每一次产品升级都源于客户反馈：退货原因、缺少的功能或希望改进的地方。</a:t>
            </a:r>
            <a:endParaRPr lang="en-US" sz="1400" dirty="0"/>
          </a:p>
        </p:txBody>
      </p:sp>
      <p:sp>
        <p:nvSpPr>
          <p:cNvPr id="7" name="Promise 1"/>
          <p:cNvSpPr/>
          <p:nvPr/>
        </p:nvSpPr>
        <p:spPr>
          <a:xfrm>
            <a:off x="548640" y="5029200"/>
            <a:ext cx="173736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/>
        </p:spPr>
      </p:sp>
      <p:pic>
        <p:nvPicPr>
          <p:cNvPr id="8" name="Promise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212080"/>
            <a:ext cx="329184" cy="329184"/>
          </a:xfrm>
          <a:prstGeom prst="rect">
            <a:avLst/>
          </a:prstGeom>
        </p:spPr>
      </p:pic>
      <p:sp>
        <p:nvSpPr>
          <p:cNvPr id="9" name="Promise text 1"/>
          <p:cNvSpPr txBox="1"/>
          <p:nvPr/>
        </p:nvSpPr>
        <p:spPr>
          <a:xfrm>
            <a:off x="713232" y="5577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100-day trial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天试用</a:t>
            </a:r>
            <a:endParaRPr lang="en-US" sz="1100" dirty="0"/>
          </a:p>
        </p:txBody>
      </p:sp>
      <p:sp>
        <p:nvSpPr>
          <p:cNvPr id="10" name="Promise 2"/>
          <p:cNvSpPr/>
          <p:nvPr/>
        </p:nvSpPr>
        <p:spPr>
          <a:xfrm>
            <a:off x="2468880" y="5029200"/>
            <a:ext cx="173736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/>
        </p:spPr>
      </p:sp>
      <p:pic>
        <p:nvPicPr>
          <p:cNvPr id="11" name="Promise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72" y="5212080"/>
            <a:ext cx="329184" cy="329184"/>
          </a:xfrm>
          <a:prstGeom prst="rect">
            <a:avLst/>
          </a:prstGeom>
        </p:spPr>
      </p:pic>
      <p:sp>
        <p:nvSpPr>
          <p:cNvPr id="12" name="Promise text 2"/>
          <p:cNvSpPr txBox="1"/>
          <p:nvPr/>
        </p:nvSpPr>
        <p:spPr>
          <a:xfrm>
            <a:off x="2633472" y="5577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2-year warranty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年保修</a:t>
            </a:r>
            <a:endParaRPr lang="en-US" sz="1100" dirty="0"/>
          </a:p>
        </p:txBody>
      </p:sp>
      <p:sp>
        <p:nvSpPr>
          <p:cNvPr id="13" name="Promise 3"/>
          <p:cNvSpPr/>
          <p:nvPr/>
        </p:nvSpPr>
        <p:spPr>
          <a:xfrm>
            <a:off x="4389120" y="5029200"/>
            <a:ext cx="173736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/>
        </p:spPr>
      </p:sp>
      <p:pic>
        <p:nvPicPr>
          <p:cNvPr id="14" name="Promise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5212080"/>
            <a:ext cx="329184" cy="329184"/>
          </a:xfrm>
          <a:prstGeom prst="rect">
            <a:avLst/>
          </a:prstGeom>
        </p:spPr>
      </p:pic>
      <p:sp>
        <p:nvSpPr>
          <p:cNvPr id="15" name="Promise text 3"/>
          <p:cNvSpPr txBox="1"/>
          <p:nvPr/>
        </p:nvSpPr>
        <p:spPr>
          <a:xfrm>
            <a:off x="4553712" y="5577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Next-day delivery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次日送达</a:t>
            </a:r>
            <a:endParaRPr lang="en-US" sz="1100" dirty="0"/>
          </a:p>
        </p:txBody>
      </p:sp>
      <p:sp>
        <p:nvSpPr>
          <p:cNvPr id="16" name="Stat 1"/>
          <p:cNvSpPr/>
          <p:nvPr/>
        </p:nvSpPr>
        <p:spPr>
          <a:xfrm>
            <a:off x="6629400" y="1783080"/>
            <a:ext cx="2415388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/>
        </p:spPr>
      </p:sp>
      <p:sp>
        <p:nvSpPr>
          <p:cNvPr id="17" name="Stat value 1"/>
          <p:cNvSpPr txBox="1"/>
          <p:nvPr/>
        </p:nvSpPr>
        <p:spPr>
          <a:xfrm>
            <a:off x="6858000" y="1965960"/>
            <a:ext cx="2049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2021</a:t>
            </a:r>
            <a:endParaRPr lang="en-US" sz="2800" dirty="0"/>
          </a:p>
        </p:txBody>
      </p:sp>
      <p:sp>
        <p:nvSpPr>
          <p:cNvPr id="18" name="Stat label 1"/>
          <p:cNvSpPr txBox="1"/>
          <p:nvPr/>
        </p:nvSpPr>
        <p:spPr>
          <a:xfrm>
            <a:off x="6858000" y="2514600"/>
            <a:ext cx="2095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Founded in Helmond (NL)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成立于荷兰海尔蒙德</a:t>
            </a:r>
            <a:endParaRPr lang="en-US" sz="1100" dirty="0"/>
          </a:p>
        </p:txBody>
      </p:sp>
      <p:sp>
        <p:nvSpPr>
          <p:cNvPr id="19" name="Stat 2"/>
          <p:cNvSpPr/>
          <p:nvPr/>
        </p:nvSpPr>
        <p:spPr>
          <a:xfrm>
            <a:off x="9227668" y="1783080"/>
            <a:ext cx="2415388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/>
        </p:spPr>
      </p:sp>
      <p:sp>
        <p:nvSpPr>
          <p:cNvPr id="20" name="Stat value 2"/>
          <p:cNvSpPr txBox="1"/>
          <p:nvPr/>
        </p:nvSpPr>
        <p:spPr>
          <a:xfrm>
            <a:off x="9456268" y="1965960"/>
            <a:ext cx="2049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NL + BE</a:t>
            </a:r>
            <a:endParaRPr lang="en-US" sz="2800" dirty="0"/>
          </a:p>
        </p:txBody>
      </p:sp>
      <p:sp>
        <p:nvSpPr>
          <p:cNvPr id="21" name="Stat label 2"/>
          <p:cNvSpPr txBox="1"/>
          <p:nvPr/>
        </p:nvSpPr>
        <p:spPr>
          <a:xfrm>
            <a:off x="9456268" y="2514600"/>
            <a:ext cx="2095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Main markets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主要市场</a:t>
            </a:r>
            <a:endParaRPr lang="en-US" sz="1100" dirty="0"/>
          </a:p>
        </p:txBody>
      </p:sp>
      <p:sp>
        <p:nvSpPr>
          <p:cNvPr id="22" name="Stat 3"/>
          <p:cNvSpPr/>
          <p:nvPr/>
        </p:nvSpPr>
        <p:spPr>
          <a:xfrm>
            <a:off x="6629400" y="3227832"/>
            <a:ext cx="2415388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/>
        </p:spPr>
      </p:sp>
      <p:sp>
        <p:nvSpPr>
          <p:cNvPr id="23" name="Stat value 3"/>
          <p:cNvSpPr txBox="1"/>
          <p:nvPr/>
        </p:nvSpPr>
        <p:spPr>
          <a:xfrm>
            <a:off x="6858000" y="3410712"/>
            <a:ext cx="2049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≈ €2.5M</a:t>
            </a:r>
            <a:endParaRPr lang="en-US" sz="2800" dirty="0"/>
          </a:p>
        </p:txBody>
      </p:sp>
      <p:sp>
        <p:nvSpPr>
          <p:cNvPr id="24" name="Stat label 3"/>
          <p:cNvSpPr txBox="1"/>
          <p:nvPr/>
        </p:nvSpPr>
        <p:spPr>
          <a:xfrm>
            <a:off x="6858000" y="3959352"/>
            <a:ext cx="2095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bol.com revenue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bol.com 2026 年营业额</a:t>
            </a:r>
            <a:endParaRPr lang="en-US" sz="1100" dirty="0"/>
          </a:p>
        </p:txBody>
      </p:sp>
      <p:sp>
        <p:nvSpPr>
          <p:cNvPr id="25" name="Stat 4"/>
          <p:cNvSpPr/>
          <p:nvPr/>
        </p:nvSpPr>
        <p:spPr>
          <a:xfrm>
            <a:off x="9227668" y="3227832"/>
            <a:ext cx="2415388" cy="1261872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/>
        </p:spPr>
      </p:sp>
      <p:sp>
        <p:nvSpPr>
          <p:cNvPr id="26" name="Stat value 4"/>
          <p:cNvSpPr txBox="1"/>
          <p:nvPr/>
        </p:nvSpPr>
        <p:spPr>
          <a:xfrm>
            <a:off x="9456268" y="3410712"/>
            <a:ext cx="2049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≈ €0.6M</a:t>
            </a:r>
            <a:endParaRPr lang="en-US" sz="2800" dirty="0"/>
          </a:p>
        </p:txBody>
      </p:sp>
      <p:sp>
        <p:nvSpPr>
          <p:cNvPr id="27" name="Stat label 4"/>
          <p:cNvSpPr txBox="1"/>
          <p:nvPr/>
        </p:nvSpPr>
        <p:spPr>
          <a:xfrm>
            <a:off x="9456268" y="3959352"/>
            <a:ext cx="2095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Own webshop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自营官网 2026 年营业额</a:t>
            </a:r>
            <a:endParaRPr lang="en-US" sz="1100" dirty="0"/>
          </a:p>
        </p:txBody>
      </p:sp>
      <p:sp>
        <p:nvSpPr>
          <p:cNvPr id="28" name="Trustpilot"/>
          <p:cNvSpPr/>
          <p:nvPr/>
        </p:nvSpPr>
        <p:spPr>
          <a:xfrm>
            <a:off x="6629400" y="4672584"/>
            <a:ext cx="5013655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9" name="Trustpilot value"/>
          <p:cNvSpPr txBox="1"/>
          <p:nvPr/>
        </p:nvSpPr>
        <p:spPr>
          <a:xfrm>
            <a:off x="6858000" y="48737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4.4 / 5</a:t>
            </a:r>
            <a:endParaRPr lang="en-US" sz="2800" dirty="0"/>
          </a:p>
        </p:txBody>
      </p:sp>
      <p:sp>
        <p:nvSpPr>
          <p:cNvPr id="30" name="Trustpilot label"/>
          <p:cNvSpPr txBox="1"/>
          <p:nvPr/>
        </p:nvSpPr>
        <p:spPr>
          <a:xfrm>
            <a:off x="8503920" y="4928616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Trustpilot score, 1,000+ customer reviews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Trustpilot 评分，1000 多条客户评价</a:t>
            </a:r>
            <a:endParaRPr lang="en-US" sz="1100" dirty="0"/>
          </a:p>
        </p:txBody>
      </p:sp>
      <p:sp>
        <p:nvSpPr>
          <p:cNvPr id="31" name="bol note"/>
          <p:cNvSpPr txBox="1"/>
          <p:nvPr/>
        </p:nvSpPr>
        <p:spPr>
          <a:xfrm>
            <a:off x="6629400" y="5788152"/>
            <a:ext cx="5013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bol.com is the largest online marketplace in the Netherlands and Belgium. 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bol.com 是荷兰和比利时最大的电商平台。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Our product range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我们的产品系列</a:t>
            </a:r>
            <a:endParaRPr lang="en-US" sz="2000" dirty="0"/>
          </a:p>
        </p:txBody>
      </p:sp>
      <p:sp>
        <p:nvSpPr>
          <p:cNvPr id="4" name="Range card 1"/>
          <p:cNvSpPr/>
          <p:nvPr/>
        </p:nvSpPr>
        <p:spPr>
          <a:xfrm>
            <a:off x="548640" y="1755648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pic>
        <p:nvPicPr>
          <p:cNvPr id="5" name="Range photo 1" descr="Groom Guard™ P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38528"/>
            <a:ext cx="1463040" cy="1463040"/>
          </a:xfrm>
          <a:prstGeom prst="rect">
            <a:avLst/>
          </a:prstGeom>
        </p:spPr>
      </p:pic>
      <p:sp>
        <p:nvSpPr>
          <p:cNvPr id="6" name="Range text 1"/>
          <p:cNvSpPr txBox="1"/>
          <p:nvPr/>
        </p:nvSpPr>
        <p:spPr>
          <a:xfrm>
            <a:off x="2395728" y="1938528"/>
            <a:ext cx="15035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Body groomers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身体修剪器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Groom Guard™ PRO</a:t>
            </a:r>
            <a:endParaRPr lang="en-US" sz="1400" dirty="0"/>
          </a:p>
        </p:txBody>
      </p:sp>
      <p:sp>
        <p:nvSpPr>
          <p:cNvPr id="7" name="Range card 2"/>
          <p:cNvSpPr/>
          <p:nvPr/>
        </p:nvSpPr>
        <p:spPr>
          <a:xfrm>
            <a:off x="4338218" y="1755648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pic>
        <p:nvPicPr>
          <p:cNvPr id="8" name="Range photo 2" descr="The Gentleman Shaver™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098" y="1938528"/>
            <a:ext cx="1463040" cy="1463040"/>
          </a:xfrm>
          <a:prstGeom prst="rect">
            <a:avLst/>
          </a:prstGeom>
        </p:spPr>
      </p:pic>
      <p:sp>
        <p:nvSpPr>
          <p:cNvPr id="9" name="Range text 2"/>
          <p:cNvSpPr txBox="1"/>
          <p:nvPr/>
        </p:nvSpPr>
        <p:spPr>
          <a:xfrm>
            <a:off x="6185306" y="1938528"/>
            <a:ext cx="15035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Electric shavers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电动剃须刀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The Gentleman Shaver™</a:t>
            </a:r>
            <a:endParaRPr lang="en-US" sz="1400" dirty="0"/>
          </a:p>
        </p:txBody>
      </p:sp>
      <p:sp>
        <p:nvSpPr>
          <p:cNvPr id="10" name="Range card 3"/>
          <p:cNvSpPr/>
          <p:nvPr/>
        </p:nvSpPr>
        <p:spPr>
          <a:xfrm>
            <a:off x="8127797" y="1755648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pic>
        <p:nvPicPr>
          <p:cNvPr id="11" name="Range photo 3" descr="Head Shaver Delux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677" y="1938528"/>
            <a:ext cx="1463040" cy="1463040"/>
          </a:xfrm>
          <a:prstGeom prst="rect">
            <a:avLst/>
          </a:prstGeom>
        </p:spPr>
      </p:pic>
      <p:sp>
        <p:nvSpPr>
          <p:cNvPr id="12" name="Range text 3"/>
          <p:cNvSpPr txBox="1"/>
          <p:nvPr/>
        </p:nvSpPr>
        <p:spPr>
          <a:xfrm>
            <a:off x="9974885" y="1938528"/>
            <a:ext cx="15035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Head shavers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光头剃须刀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Head Shaver Deluxe</a:t>
            </a:r>
            <a:endParaRPr lang="en-US" sz="1400" dirty="0"/>
          </a:p>
        </p:txBody>
      </p:sp>
      <p:sp>
        <p:nvSpPr>
          <p:cNvPr id="13" name="Range card 4"/>
          <p:cNvSpPr/>
          <p:nvPr/>
        </p:nvSpPr>
        <p:spPr>
          <a:xfrm>
            <a:off x="548640" y="3813048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pic>
        <p:nvPicPr>
          <p:cNvPr id="14" name="Range photo 4" descr="Men Shaper Supreme™ 6-in-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95928"/>
            <a:ext cx="1463040" cy="1463040"/>
          </a:xfrm>
          <a:prstGeom prst="rect">
            <a:avLst/>
          </a:prstGeom>
        </p:spPr>
      </p:pic>
      <p:sp>
        <p:nvSpPr>
          <p:cNvPr id="15" name="Range text 4"/>
          <p:cNvSpPr txBox="1"/>
          <p:nvPr/>
        </p:nvSpPr>
        <p:spPr>
          <a:xfrm>
            <a:off x="2395728" y="3995928"/>
            <a:ext cx="15035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Beard trimmers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胡须修剪器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Men Shaper Supreme™ 6-in-1</a:t>
            </a:r>
            <a:endParaRPr lang="en-US" sz="1400" dirty="0"/>
          </a:p>
        </p:txBody>
      </p:sp>
      <p:sp>
        <p:nvSpPr>
          <p:cNvPr id="16" name="Range card 5"/>
          <p:cNvSpPr/>
          <p:nvPr/>
        </p:nvSpPr>
        <p:spPr>
          <a:xfrm>
            <a:off x="4338218" y="3813048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pic>
        <p:nvPicPr>
          <p:cNvPr id="17" name="Range photo 5" descr="Tondeuse Elegant™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1098" y="3995928"/>
            <a:ext cx="1463040" cy="1463040"/>
          </a:xfrm>
          <a:prstGeom prst="rect">
            <a:avLst/>
          </a:prstGeom>
        </p:spPr>
      </p:pic>
      <p:sp>
        <p:nvSpPr>
          <p:cNvPr id="18" name="Range text 5"/>
          <p:cNvSpPr txBox="1"/>
          <p:nvPr/>
        </p:nvSpPr>
        <p:spPr>
          <a:xfrm>
            <a:off x="6185306" y="3995928"/>
            <a:ext cx="15035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Hair clippers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理发器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Tondeuse Elegant™</a:t>
            </a:r>
            <a:endParaRPr lang="en-US" sz="1400" dirty="0"/>
          </a:p>
        </p:txBody>
      </p:sp>
      <p:sp>
        <p:nvSpPr>
          <p:cNvPr id="19" name="Range card 6"/>
          <p:cNvSpPr/>
          <p:nvPr/>
        </p:nvSpPr>
        <p:spPr>
          <a:xfrm>
            <a:off x="8127797" y="3813048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pic>
        <p:nvPicPr>
          <p:cNvPr id="20" name="Range photo 6" descr="Neustrimmer Ultimate™ 4-in-1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0677" y="3995928"/>
            <a:ext cx="1463040" cy="1463040"/>
          </a:xfrm>
          <a:prstGeom prst="rect">
            <a:avLst/>
          </a:prstGeom>
        </p:spPr>
      </p:pic>
      <p:sp>
        <p:nvSpPr>
          <p:cNvPr id="21" name="Range text 6"/>
          <p:cNvSpPr txBox="1"/>
          <p:nvPr/>
        </p:nvSpPr>
        <p:spPr>
          <a:xfrm>
            <a:off x="9974885" y="3995928"/>
            <a:ext cx="15035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Nose trimmers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鼻毛修剪器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Neustrimmer Ultimate™ 4-in-1</a:t>
            </a:r>
            <a:endParaRPr lang="en-US" sz="1400" dirty="0"/>
          </a:p>
        </p:txBody>
      </p:sp>
      <p:sp>
        <p:nvSpPr>
          <p:cNvPr id="22" name="Range note"/>
          <p:cNvSpPr txBox="1"/>
          <p:nvPr/>
        </p:nvSpPr>
        <p:spPr>
          <a:xfrm>
            <a:off x="548640" y="592531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Also: safety razors, replacement blades, accessories and value bundles.   </a:t>
            </a:r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另有：安全剃须刀、替换刀片、配件及超值套装。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Today's visit team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今日拜访团队</a:t>
            </a:r>
            <a:endParaRPr lang="en-US" sz="2000" dirty="0"/>
          </a:p>
        </p:txBody>
      </p:sp>
      <p:sp>
        <p:nvSpPr>
          <p:cNvPr id="4" name="Team card 1"/>
          <p:cNvSpPr/>
          <p:nvPr/>
        </p:nvSpPr>
        <p:spPr>
          <a:xfrm>
            <a:off x="548640" y="1783080"/>
            <a:ext cx="3515258" cy="3977640"/>
          </a:xfrm>
          <a:prstGeom prst="roundRect">
            <a:avLst>
              <a:gd name="adj" fmla="val 4162"/>
            </a:avLst>
          </a:prstGeom>
          <a:solidFill>
            <a:srgbClr val="FFFFFF"/>
          </a:solidFill>
          <a:ln/>
        </p:spPr>
      </p:sp>
      <p:sp>
        <p:nvSpPr>
          <p:cNvPr id="5" name="Avatar 1"/>
          <p:cNvSpPr/>
          <p:nvPr/>
        </p:nvSpPr>
        <p:spPr>
          <a:xfrm>
            <a:off x="868680" y="210312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Initials 1"/>
          <p:cNvSpPr txBox="1"/>
          <p:nvPr/>
        </p:nvSpPr>
        <p:spPr>
          <a:xfrm>
            <a:off x="86868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DG</a:t>
            </a:r>
            <a:endParaRPr lang="en-US" sz="2400" dirty="0"/>
          </a:p>
        </p:txBody>
      </p:sp>
      <p:sp>
        <p:nvSpPr>
          <p:cNvPr id="7" name="Name 1"/>
          <p:cNvSpPr txBox="1"/>
          <p:nvPr/>
        </p:nvSpPr>
        <p:spPr>
          <a:xfrm>
            <a:off x="868680" y="320040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Dustin Gibson</a:t>
            </a:r>
            <a:endParaRPr lang="en-US" sz="2000" dirty="0"/>
          </a:p>
        </p:txBody>
      </p:sp>
      <p:sp>
        <p:nvSpPr>
          <p:cNvPr id="8" name="Role 1"/>
          <p:cNvSpPr txBox="1"/>
          <p:nvPr/>
        </p:nvSpPr>
        <p:spPr>
          <a:xfrm>
            <a:off x="868680" y="365760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Founder &amp; CEO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创始人兼首席执行官</a:t>
            </a:r>
            <a:endParaRPr lang="en-US" sz="1300" dirty="0"/>
          </a:p>
        </p:txBody>
      </p:sp>
      <p:sp>
        <p:nvSpPr>
          <p:cNvPr id="9" name="Divider 1"/>
          <p:cNvSpPr/>
          <p:nvPr/>
        </p:nvSpPr>
        <p:spPr>
          <a:xfrm>
            <a:off x="868680" y="4572000"/>
            <a:ext cx="2875178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0" name="Visit role 1"/>
          <p:cNvSpPr txBox="1"/>
          <p:nvPr/>
        </p:nvSpPr>
        <p:spPr>
          <a:xfrm>
            <a:off x="868680" y="470916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chemeClr val="accent6"/>
                </a:solidFill>
              </a:rPr>
              <a:t>DURING THE VISIT  ·  </a:t>
            </a:r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拜访角色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Brand vision, 2027 plans and final decisions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品牌愿景、2027 年计划与最终决策</a:t>
            </a:r>
            <a:endParaRPr lang="en-US" sz="900" dirty="0"/>
          </a:p>
        </p:txBody>
      </p:sp>
      <p:sp>
        <p:nvSpPr>
          <p:cNvPr id="11" name="Team card 2"/>
          <p:cNvSpPr/>
          <p:nvPr/>
        </p:nvSpPr>
        <p:spPr>
          <a:xfrm>
            <a:off x="4338218" y="1783080"/>
            <a:ext cx="3515258" cy="3977640"/>
          </a:xfrm>
          <a:prstGeom prst="roundRect">
            <a:avLst>
              <a:gd name="adj" fmla="val 4162"/>
            </a:avLst>
          </a:prstGeom>
          <a:solidFill>
            <a:srgbClr val="FFFFFF"/>
          </a:solidFill>
          <a:ln/>
        </p:spPr>
      </p:sp>
      <p:sp>
        <p:nvSpPr>
          <p:cNvPr id="12" name="Avatar 2"/>
          <p:cNvSpPr/>
          <p:nvPr/>
        </p:nvSpPr>
        <p:spPr>
          <a:xfrm>
            <a:off x="4658258" y="210312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Initials 2"/>
          <p:cNvSpPr txBox="1"/>
          <p:nvPr/>
        </p:nvSpPr>
        <p:spPr>
          <a:xfrm>
            <a:off x="4658258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WG</a:t>
            </a:r>
            <a:endParaRPr lang="en-US" sz="2400" dirty="0"/>
          </a:p>
        </p:txBody>
      </p:sp>
      <p:sp>
        <p:nvSpPr>
          <p:cNvPr id="14" name="Name 2"/>
          <p:cNvSpPr txBox="1"/>
          <p:nvPr/>
        </p:nvSpPr>
        <p:spPr>
          <a:xfrm>
            <a:off x="4658258" y="320040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Willem de Groot</a:t>
            </a:r>
            <a:endParaRPr lang="en-US" sz="2000" dirty="0"/>
          </a:p>
        </p:txBody>
      </p:sp>
      <p:sp>
        <p:nvSpPr>
          <p:cNvPr id="15" name="Role 2"/>
          <p:cNvSpPr txBox="1"/>
          <p:nvPr/>
        </p:nvSpPr>
        <p:spPr>
          <a:xfrm>
            <a:off x="4658258" y="365760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Creative Strategist &amp; Operations Manager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创意策略师兼运营经理</a:t>
            </a:r>
            <a:endParaRPr lang="en-US" sz="1300" dirty="0"/>
          </a:p>
        </p:txBody>
      </p:sp>
      <p:sp>
        <p:nvSpPr>
          <p:cNvPr id="16" name="Divider 2"/>
          <p:cNvSpPr/>
          <p:nvPr/>
        </p:nvSpPr>
        <p:spPr>
          <a:xfrm>
            <a:off x="4658258" y="4572000"/>
            <a:ext cx="2875178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7" name="Visit role 2"/>
          <p:cNvSpPr txBox="1"/>
          <p:nvPr/>
        </p:nvSpPr>
        <p:spPr>
          <a:xfrm>
            <a:off x="4658258" y="470916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chemeClr val="accent6"/>
                </a:solidFill>
              </a:rPr>
              <a:t>DURING THE VISIT  ·  </a:t>
            </a:r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拜访角色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Customer insights, product presentation and operations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客户洞察、产品呈现与运营</a:t>
            </a:r>
            <a:endParaRPr lang="en-US" sz="900" dirty="0"/>
          </a:p>
        </p:txBody>
      </p:sp>
      <p:sp>
        <p:nvSpPr>
          <p:cNvPr id="18" name="Team card 3"/>
          <p:cNvSpPr/>
          <p:nvPr/>
        </p:nvSpPr>
        <p:spPr>
          <a:xfrm>
            <a:off x="8127797" y="1783080"/>
            <a:ext cx="3515258" cy="3977640"/>
          </a:xfrm>
          <a:prstGeom prst="roundRect">
            <a:avLst>
              <a:gd name="adj" fmla="val 4162"/>
            </a:avLst>
          </a:prstGeom>
          <a:solidFill>
            <a:srgbClr val="FFFFFF"/>
          </a:solidFill>
          <a:ln/>
        </p:spPr>
      </p:sp>
      <p:sp>
        <p:nvSpPr>
          <p:cNvPr id="19" name="Avatar 3"/>
          <p:cNvSpPr/>
          <p:nvPr/>
        </p:nvSpPr>
        <p:spPr>
          <a:xfrm>
            <a:off x="8447837" y="210312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Initials 3"/>
          <p:cNvSpPr txBox="1"/>
          <p:nvPr/>
        </p:nvSpPr>
        <p:spPr>
          <a:xfrm>
            <a:off x="8447837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</a:t>
            </a:r>
            <a:endParaRPr lang="en-US" sz="2400" dirty="0"/>
          </a:p>
        </p:txBody>
      </p:sp>
      <p:sp>
        <p:nvSpPr>
          <p:cNvPr id="21" name="Name 3"/>
          <p:cNvSpPr txBox="1"/>
          <p:nvPr/>
        </p:nvSpPr>
        <p:spPr>
          <a:xfrm>
            <a:off x="8447837" y="320040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Leo</a:t>
            </a:r>
            <a:endParaRPr lang="en-US" sz="2000" dirty="0"/>
          </a:p>
        </p:txBody>
      </p:sp>
      <p:sp>
        <p:nvSpPr>
          <p:cNvPr id="22" name="Role 3"/>
          <p:cNvSpPr txBox="1"/>
          <p:nvPr/>
        </p:nvSpPr>
        <p:spPr>
          <a:xfrm>
            <a:off x="8447837" y="3657600"/>
            <a:ext cx="28751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Supply Chain Manager, China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中国供应链经理</a:t>
            </a:r>
            <a:endParaRPr lang="en-US" sz="1300" dirty="0"/>
          </a:p>
        </p:txBody>
      </p:sp>
      <p:sp>
        <p:nvSpPr>
          <p:cNvPr id="23" name="Divider 3"/>
          <p:cNvSpPr/>
          <p:nvPr/>
        </p:nvSpPr>
        <p:spPr>
          <a:xfrm>
            <a:off x="8447837" y="4572000"/>
            <a:ext cx="2875178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24" name="Visit role 3"/>
          <p:cNvSpPr txBox="1"/>
          <p:nvPr/>
        </p:nvSpPr>
        <p:spPr>
          <a:xfrm>
            <a:off x="8447837" y="470916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b="1" spc="200" kern="0" dirty="0">
                <a:solidFill>
                  <a:schemeClr val="accent6"/>
                </a:solidFill>
              </a:rPr>
              <a:t>DURING THE VISIT  ·  </a:t>
            </a:r>
            <a:pPr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拜访角色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Your local contact for orders, quality and follow-up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订单、品质与后续跟进的本地联系人</a:t>
            </a:r>
            <a:endParaRPr lang="en-US" sz="900" dirty="0"/>
          </a:p>
        </p:txBody>
      </p:sp>
      <p:sp>
        <p:nvSpPr>
          <p:cNvPr id="25" name="Team note"/>
          <p:cNvSpPr txBox="1"/>
          <p:nvPr/>
        </p:nvSpPr>
        <p:spPr>
          <a:xfrm>
            <a:off x="548640" y="592531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One team, in the Netherlands and in China.   </a:t>
            </a:r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荷兰与中国，同一个团队。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we are visiting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本次拜访目的</a:t>
            </a:r>
            <a:endParaRPr lang="en-US" sz="2000" dirty="0"/>
          </a:p>
        </p:txBody>
      </p:sp>
      <p:sp>
        <p:nvSpPr>
          <p:cNvPr id="4" name="Step card 1"/>
          <p:cNvSpPr/>
          <p:nvPr/>
        </p:nvSpPr>
        <p:spPr>
          <a:xfrm>
            <a:off x="548640" y="1783080"/>
            <a:ext cx="2609012" cy="3154680"/>
          </a:xfrm>
          <a:prstGeom prst="roundRect">
            <a:avLst>
              <a:gd name="adj" fmla="val 5608"/>
            </a:avLst>
          </a:prstGeom>
          <a:solidFill>
            <a:srgbClr val="FFFFFF"/>
          </a:solidFill>
          <a:ln/>
        </p:spPr>
      </p:sp>
      <p:sp>
        <p:nvSpPr>
          <p:cNvPr id="5" name="Step number 1"/>
          <p:cNvSpPr txBox="1"/>
          <p:nvPr/>
        </p:nvSpPr>
        <p:spPr>
          <a:xfrm>
            <a:off x="804672" y="20391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01</a:t>
            </a:r>
            <a:endParaRPr lang="en-US" sz="3200" dirty="0"/>
          </a:p>
        </p:txBody>
      </p:sp>
      <p:sp>
        <p:nvSpPr>
          <p:cNvPr id="6" name="Step title 1"/>
          <p:cNvSpPr txBox="1"/>
          <p:nvPr/>
        </p:nvSpPr>
        <p:spPr>
          <a:xfrm>
            <a:off x="804672" y="2697480"/>
            <a:ext cx="21518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Get to know each other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相互了解</a:t>
            </a:r>
            <a:endParaRPr lang="en-US" sz="1600" dirty="0"/>
          </a:p>
        </p:txBody>
      </p:sp>
      <p:sp>
        <p:nvSpPr>
          <p:cNvPr id="7" name="Step text 1"/>
          <p:cNvSpPr txBox="1"/>
          <p:nvPr/>
        </p:nvSpPr>
        <p:spPr>
          <a:xfrm>
            <a:off x="804672" y="3611880"/>
            <a:ext cx="21975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We introduce Wellshave, our customers and how we work.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 Wellshave、我们的客户和工作方式。</a:t>
            </a:r>
            <a:endParaRPr lang="en-US" sz="1300" dirty="0"/>
          </a:p>
        </p:txBody>
      </p:sp>
      <p:sp>
        <p:nvSpPr>
          <p:cNvPr id="8" name="Step card 2"/>
          <p:cNvSpPr/>
          <p:nvPr/>
        </p:nvSpPr>
        <p:spPr>
          <a:xfrm>
            <a:off x="3377108" y="1783080"/>
            <a:ext cx="2609012" cy="3154680"/>
          </a:xfrm>
          <a:prstGeom prst="roundRect">
            <a:avLst>
              <a:gd name="adj" fmla="val 5608"/>
            </a:avLst>
          </a:prstGeom>
          <a:solidFill>
            <a:srgbClr val="FFFFFF"/>
          </a:solidFill>
          <a:ln/>
        </p:spPr>
      </p:sp>
      <p:sp>
        <p:nvSpPr>
          <p:cNvPr id="9" name="Step number 2"/>
          <p:cNvSpPr txBox="1"/>
          <p:nvPr/>
        </p:nvSpPr>
        <p:spPr>
          <a:xfrm>
            <a:off x="3633140" y="20391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02</a:t>
            </a:r>
            <a:endParaRPr lang="en-US" sz="3200" dirty="0"/>
          </a:p>
        </p:txBody>
      </p:sp>
      <p:sp>
        <p:nvSpPr>
          <p:cNvPr id="10" name="Step title 2"/>
          <p:cNvSpPr txBox="1"/>
          <p:nvPr/>
        </p:nvSpPr>
        <p:spPr>
          <a:xfrm>
            <a:off x="3633140" y="2697480"/>
            <a:ext cx="21518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Review current data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回顾当前数据</a:t>
            </a:r>
            <a:endParaRPr lang="en-US" sz="1600" dirty="0"/>
          </a:p>
        </p:txBody>
      </p:sp>
      <p:sp>
        <p:nvSpPr>
          <p:cNvPr id="11" name="Step text 2"/>
          <p:cNvSpPr txBox="1"/>
          <p:nvPr/>
        </p:nvSpPr>
        <p:spPr>
          <a:xfrm>
            <a:off x="3633140" y="3611880"/>
            <a:ext cx="21975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Sales, reviews and returns of the products we buy from you.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回顾我们向贵司采购产品的销量、评价和退货情况。</a:t>
            </a:r>
            <a:endParaRPr lang="en-US" sz="1300" dirty="0"/>
          </a:p>
        </p:txBody>
      </p:sp>
      <p:sp>
        <p:nvSpPr>
          <p:cNvPr id="12" name="Step card 3"/>
          <p:cNvSpPr/>
          <p:nvPr/>
        </p:nvSpPr>
        <p:spPr>
          <a:xfrm>
            <a:off x="6205576" y="1783080"/>
            <a:ext cx="2609012" cy="3154680"/>
          </a:xfrm>
          <a:prstGeom prst="roundRect">
            <a:avLst>
              <a:gd name="adj" fmla="val 5608"/>
            </a:avLst>
          </a:prstGeom>
          <a:solidFill>
            <a:srgbClr val="FFFFFF"/>
          </a:solidFill>
          <a:ln/>
        </p:spPr>
      </p:sp>
      <p:sp>
        <p:nvSpPr>
          <p:cNvPr id="13" name="Step number 3"/>
          <p:cNvSpPr txBox="1"/>
          <p:nvPr/>
        </p:nvSpPr>
        <p:spPr>
          <a:xfrm>
            <a:off x="6461608" y="20391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03</a:t>
            </a:r>
            <a:endParaRPr lang="en-US" sz="3200" dirty="0"/>
          </a:p>
        </p:txBody>
      </p:sp>
      <p:sp>
        <p:nvSpPr>
          <p:cNvPr id="14" name="Step title 3"/>
          <p:cNvSpPr txBox="1"/>
          <p:nvPr/>
        </p:nvSpPr>
        <p:spPr>
          <a:xfrm>
            <a:off x="6461608" y="2697480"/>
            <a:ext cx="21518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Share our 2027 plans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 2027 年计划</a:t>
            </a:r>
            <a:endParaRPr lang="en-US" sz="1600" dirty="0"/>
          </a:p>
        </p:txBody>
      </p:sp>
      <p:sp>
        <p:nvSpPr>
          <p:cNvPr id="15" name="Step text 3"/>
          <p:cNvSpPr txBox="1"/>
          <p:nvPr/>
        </p:nvSpPr>
        <p:spPr>
          <a:xfrm>
            <a:off x="6461608" y="3611880"/>
            <a:ext cx="21975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Our growth plans and what they mean for your factory.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我们的增长计划及其对贵厂的意义。</a:t>
            </a:r>
            <a:endParaRPr lang="en-US" sz="1300" dirty="0"/>
          </a:p>
        </p:txBody>
      </p:sp>
      <p:sp>
        <p:nvSpPr>
          <p:cNvPr id="16" name="Step card 4"/>
          <p:cNvSpPr/>
          <p:nvPr/>
        </p:nvSpPr>
        <p:spPr>
          <a:xfrm>
            <a:off x="9034043" y="1783080"/>
            <a:ext cx="2609012" cy="3154680"/>
          </a:xfrm>
          <a:prstGeom prst="roundRect">
            <a:avLst>
              <a:gd name="adj" fmla="val 5608"/>
            </a:avLst>
          </a:prstGeom>
          <a:solidFill>
            <a:srgbClr val="FFFFFF"/>
          </a:solidFill>
          <a:ln/>
        </p:spPr>
      </p:sp>
      <p:sp>
        <p:nvSpPr>
          <p:cNvPr id="17" name="Step number 4"/>
          <p:cNvSpPr txBox="1"/>
          <p:nvPr/>
        </p:nvSpPr>
        <p:spPr>
          <a:xfrm>
            <a:off x="9290075" y="20391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04</a:t>
            </a:r>
            <a:endParaRPr lang="en-US" sz="3200" dirty="0"/>
          </a:p>
        </p:txBody>
      </p:sp>
      <p:sp>
        <p:nvSpPr>
          <p:cNvPr id="18" name="Step title 4"/>
          <p:cNvSpPr txBox="1"/>
          <p:nvPr/>
        </p:nvSpPr>
        <p:spPr>
          <a:xfrm>
            <a:off x="9290075" y="2697480"/>
            <a:ext cx="21518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Improve the range together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共同优化产品</a:t>
            </a:r>
            <a:endParaRPr lang="en-US" sz="1600" dirty="0"/>
          </a:p>
        </p:txBody>
      </p:sp>
      <p:sp>
        <p:nvSpPr>
          <p:cNvPr id="19" name="Step text 4"/>
          <p:cNvSpPr txBox="1"/>
          <p:nvPr/>
        </p:nvSpPr>
        <p:spPr>
          <a:xfrm>
            <a:off x="9290075" y="3611880"/>
            <a:ext cx="21975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Better quality, better prices and new models.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更好的品质、更优的价格和新款产品。</a:t>
            </a:r>
            <a:endParaRPr lang="en-US" sz="1300" dirty="0"/>
          </a:p>
        </p:txBody>
      </p:sp>
      <p:sp>
        <p:nvSpPr>
          <p:cNvPr id="20" name="Outcome box"/>
          <p:cNvSpPr/>
          <p:nvPr/>
        </p:nvSpPr>
        <p:spPr>
          <a:xfrm>
            <a:off x="548640" y="5212080"/>
            <a:ext cx="11094415" cy="749808"/>
          </a:xfrm>
          <a:prstGeom prst="roundRect">
            <a:avLst>
              <a:gd name="adj" fmla="val 19512"/>
            </a:avLst>
          </a:prstGeom>
          <a:solidFill>
            <a:srgbClr val="EDE6DA"/>
          </a:solidFill>
          <a:ln/>
        </p:spPr>
      </p:sp>
      <p:pic>
        <p:nvPicPr>
          <p:cNvPr id="21" name="Outcom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5413248"/>
            <a:ext cx="347472" cy="347472"/>
          </a:xfrm>
          <a:prstGeom prst="rect">
            <a:avLst/>
          </a:prstGeom>
        </p:spPr>
      </p:pic>
      <p:sp>
        <p:nvSpPr>
          <p:cNvPr id="22" name="Outcome"/>
          <p:cNvSpPr txBox="1"/>
          <p:nvPr/>
        </p:nvSpPr>
        <p:spPr>
          <a:xfrm>
            <a:off x="1325880" y="5321808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A good visit: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we leave with samples, your recommendations and clear next steps for 2027.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成功的拜访：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我们带着样品、您的建议和清晰的 2027 年下一步计划回去。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Your products at Wellshave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贵司产品在 </a:t>
            </a:r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Wellshave</a:t>
            </a:r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的表现</a:t>
            </a:r>
            <a:endParaRPr lang="en-US" sz="2000" dirty="0"/>
          </a:p>
        </p:txBody>
      </p:sp>
      <p:graphicFrame>
        <p:nvGraphicFramePr>
          <p:cNvPr id="7" name="Produc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2377440"/>
                <a:gridCol w="2103120"/>
                <a:gridCol w="2039112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Product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Model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型号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Sold in 2026 *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 年销量 *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Return rate *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退货率 *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Nose trimmers (7 models)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WS-NT1 / WS-NT2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25,627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2.1%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Body groomer Groom Guard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WS-BG1 / HT-6006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2,116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2.3%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Head Shaver Deluxe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WS-SA1 / JK-8588A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1,581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4.6%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Foil shaver Blade Baron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FK-706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1,307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5.6%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Body groomer Flex Guard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WS-BG3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1,135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5.2%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G-Series clipper, Shave Package, spare heads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1,786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4.1%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Total 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33,552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37160" marR="137160" marT="54864" marB="54864" anchor="ctr">
                    <a:lnL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sp>
        <p:nvSpPr>
          <p:cNvPr id="5" name="Data source"/>
          <p:cNvSpPr txBox="1"/>
          <p:nvPr/>
        </p:nvSpPr>
        <p:spPr>
          <a:xfrm>
            <a:off x="548640" y="57150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* bol.com, 1 January to 15 October 2026. Return rate counts all return reasons. Webshop sales not included. We share our 2027 forecast in the meeting.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数据来源：bol.com，2026年1月1日至10月15日。退货率包含所有退货原因，不含官网销量。2027年预测将在会议中分享。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our customers tell us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客户反馈</a:t>
            </a:r>
            <a:endParaRPr lang="en-US" sz="2000" dirty="0"/>
          </a:p>
        </p:txBody>
      </p:sp>
      <p:sp>
        <p:nvSpPr>
          <p:cNvPr id="4" name="Stats card"/>
          <p:cNvSpPr/>
          <p:nvPr/>
        </p:nvSpPr>
        <p:spPr>
          <a:xfrm>
            <a:off x="548640" y="1645920"/>
            <a:ext cx="3200400" cy="425196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</p:spPr>
      </p:sp>
      <p:sp>
        <p:nvSpPr>
          <p:cNvPr id="5" name="Stat value 1"/>
          <p:cNvSpPr txBox="1"/>
          <p:nvPr/>
        </p:nvSpPr>
        <p:spPr>
          <a:xfrm>
            <a:off x="822960" y="19385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33,552</a:t>
            </a:r>
            <a:endParaRPr lang="en-US" sz="3000" dirty="0"/>
          </a:p>
        </p:txBody>
      </p:sp>
      <p:sp>
        <p:nvSpPr>
          <p:cNvPr id="6" name="Stat label 1"/>
          <p:cNvSpPr txBox="1"/>
          <p:nvPr/>
        </p:nvSpPr>
        <p:spPr>
          <a:xfrm>
            <a:off x="822960" y="25054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units sold on bol.com in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2026年bol.com销量</a:t>
            </a:r>
            <a:endParaRPr lang="en-US" sz="1100" dirty="0"/>
          </a:p>
        </p:txBody>
      </p:sp>
      <p:sp>
        <p:nvSpPr>
          <p:cNvPr id="7" name="Stat value 2"/>
          <p:cNvSpPr txBox="1"/>
          <p:nvPr/>
        </p:nvSpPr>
        <p:spPr>
          <a:xfrm>
            <a:off x="822960" y="32644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77</a:t>
            </a:r>
            <a:endParaRPr lang="en-US" sz="3000" dirty="0"/>
          </a:p>
        </p:txBody>
      </p:sp>
      <p:sp>
        <p:nvSpPr>
          <p:cNvPr id="8" name="Stat label 2"/>
          <p:cNvSpPr txBox="1"/>
          <p:nvPr/>
        </p:nvSpPr>
        <p:spPr>
          <a:xfrm>
            <a:off x="822960" y="38313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critical reviews (1 to 3 stars)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差评数（1至3星）</a:t>
            </a:r>
            <a:endParaRPr lang="en-US" sz="1100" dirty="0"/>
          </a:p>
        </p:txBody>
      </p:sp>
      <p:sp>
        <p:nvSpPr>
          <p:cNvPr id="9" name="Stat value 3"/>
          <p:cNvSpPr txBox="1"/>
          <p:nvPr/>
        </p:nvSpPr>
        <p:spPr>
          <a:xfrm>
            <a:off x="822960" y="459028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2.3</a:t>
            </a:r>
            <a:endParaRPr lang="en-US" sz="3000" dirty="0"/>
          </a:p>
        </p:txBody>
      </p:sp>
      <p:sp>
        <p:nvSpPr>
          <p:cNvPr id="10" name="Stat label 3"/>
          <p:cNvSpPr txBox="1"/>
          <p:nvPr/>
        </p:nvSpPr>
        <p:spPr>
          <a:xfrm>
            <a:off x="822960" y="51572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critical reviews per 1,000 units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每千件产品的差评数</a:t>
            </a:r>
            <a:endParaRPr lang="en-US" sz="1100" dirty="0"/>
          </a:p>
        </p:txBody>
      </p:sp>
      <p:sp>
        <p:nvSpPr>
          <p:cNvPr id="11" name="Theme 1"/>
          <p:cNvSpPr txBox="1"/>
          <p:nvPr/>
        </p:nvSpPr>
        <p:spPr>
          <a:xfrm>
            <a:off x="4114800" y="1645920"/>
            <a:ext cx="6705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Weak cutting: hairs not caught</a:t>
            </a:r>
            <a:pPr indent="0" marL="0">
              <a:buNone/>
            </a:pPr>
            <a:r>
              <a:rPr lang="en-US" sz="12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修剪力度不足，剪不到毛发</a:t>
            </a:r>
            <a:endParaRPr lang="en-US" sz="1350" dirty="0"/>
          </a:p>
        </p:txBody>
      </p:sp>
      <p:sp>
        <p:nvSpPr>
          <p:cNvPr id="12" name="Theme count 1"/>
          <p:cNvSpPr txBox="1"/>
          <p:nvPr/>
        </p:nvSpPr>
        <p:spPr>
          <a:xfrm>
            <a:off x="10820095" y="16276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28</a:t>
            </a:r>
            <a:endParaRPr lang="en-US" sz="1600" dirty="0"/>
          </a:p>
        </p:txBody>
      </p:sp>
      <p:sp>
        <p:nvSpPr>
          <p:cNvPr id="13" name="Theme track 1"/>
          <p:cNvSpPr/>
          <p:nvPr/>
        </p:nvSpPr>
        <p:spPr>
          <a:xfrm>
            <a:off x="4114800" y="1947672"/>
            <a:ext cx="7528255" cy="914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4" name="Theme bar 1"/>
          <p:cNvSpPr/>
          <p:nvPr/>
        </p:nvSpPr>
        <p:spPr>
          <a:xfrm>
            <a:off x="4114800" y="1947672"/>
            <a:ext cx="7528255" cy="914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Theme quote 1"/>
          <p:cNvSpPr txBox="1"/>
          <p:nvPr/>
        </p:nvSpPr>
        <p:spPr>
          <a:xfrm>
            <a:off x="4114800" y="2075688"/>
            <a:ext cx="75282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1"/>
                </a:solidFill>
              </a:rPr>
              <a:t>“After 10 minutes in my nose, just as many hairs as before.”</a:t>
            </a:r>
            <a:br/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在鼻子里用了10分钟，鼻毛还是和之前一样多。</a:t>
            </a:r>
            <a:endParaRPr lang="en-US" sz="1000" dirty="0"/>
          </a:p>
        </p:txBody>
      </p:sp>
      <p:sp>
        <p:nvSpPr>
          <p:cNvPr id="16" name="Theme 2"/>
          <p:cNvSpPr txBox="1"/>
          <p:nvPr/>
        </p:nvSpPr>
        <p:spPr>
          <a:xfrm>
            <a:off x="4114800" y="2496312"/>
            <a:ext cx="6705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Broken within weeks or months</a:t>
            </a:r>
            <a:pPr indent="0" marL="0">
              <a:buNone/>
            </a:pPr>
            <a:r>
              <a:rPr lang="en-US" sz="12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使用数周或数月后损坏</a:t>
            </a:r>
            <a:endParaRPr lang="en-US" sz="1350" dirty="0"/>
          </a:p>
        </p:txBody>
      </p:sp>
      <p:sp>
        <p:nvSpPr>
          <p:cNvPr id="17" name="Theme count 2"/>
          <p:cNvSpPr txBox="1"/>
          <p:nvPr/>
        </p:nvSpPr>
        <p:spPr>
          <a:xfrm>
            <a:off x="10820095" y="24780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18</a:t>
            </a:r>
            <a:endParaRPr lang="en-US" sz="1600" dirty="0"/>
          </a:p>
        </p:txBody>
      </p:sp>
      <p:sp>
        <p:nvSpPr>
          <p:cNvPr id="18" name="Theme track 2"/>
          <p:cNvSpPr/>
          <p:nvPr/>
        </p:nvSpPr>
        <p:spPr>
          <a:xfrm>
            <a:off x="4114800" y="2798064"/>
            <a:ext cx="7528255" cy="914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9" name="Theme bar 2"/>
          <p:cNvSpPr/>
          <p:nvPr/>
        </p:nvSpPr>
        <p:spPr>
          <a:xfrm>
            <a:off x="4114800" y="2798064"/>
            <a:ext cx="4839593" cy="914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Theme quote 2"/>
          <p:cNvSpPr txBox="1"/>
          <p:nvPr/>
        </p:nvSpPr>
        <p:spPr>
          <a:xfrm>
            <a:off x="4114800" y="2926080"/>
            <a:ext cx="75282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1"/>
                </a:solidFill>
              </a:rPr>
              <a:t>“Used it twice and the head was broken.”</a:t>
            </a:r>
            <a:br/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只用了两次，刀头就坏了。</a:t>
            </a:r>
            <a:endParaRPr lang="en-US" sz="1000" dirty="0"/>
          </a:p>
        </p:txBody>
      </p:sp>
      <p:sp>
        <p:nvSpPr>
          <p:cNvPr id="21" name="Theme 3"/>
          <p:cNvSpPr txBox="1"/>
          <p:nvPr/>
        </p:nvSpPr>
        <p:spPr>
          <a:xfrm>
            <a:off x="4114800" y="3346704"/>
            <a:ext cx="6705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Caps, attachments, missing parts</a:t>
            </a:r>
            <a:pPr indent="0" marL="0">
              <a:buNone/>
            </a:pPr>
            <a:r>
              <a:rPr lang="en-US" sz="12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保护盖、配件安装与缺件</a:t>
            </a:r>
            <a:endParaRPr lang="en-US" sz="1350" dirty="0"/>
          </a:p>
        </p:txBody>
      </p:sp>
      <p:sp>
        <p:nvSpPr>
          <p:cNvPr id="22" name="Theme count 3"/>
          <p:cNvSpPr txBox="1"/>
          <p:nvPr/>
        </p:nvSpPr>
        <p:spPr>
          <a:xfrm>
            <a:off x="10820095" y="332841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11</a:t>
            </a:r>
            <a:endParaRPr lang="en-US" sz="1600" dirty="0"/>
          </a:p>
        </p:txBody>
      </p:sp>
      <p:sp>
        <p:nvSpPr>
          <p:cNvPr id="23" name="Theme track 3"/>
          <p:cNvSpPr/>
          <p:nvPr/>
        </p:nvSpPr>
        <p:spPr>
          <a:xfrm>
            <a:off x="4114800" y="3648456"/>
            <a:ext cx="7528255" cy="914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4" name="Theme bar 3"/>
          <p:cNvSpPr/>
          <p:nvPr/>
        </p:nvSpPr>
        <p:spPr>
          <a:xfrm>
            <a:off x="4114800" y="3648456"/>
            <a:ext cx="2957529" cy="914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5" name="Theme quote 3"/>
          <p:cNvSpPr txBox="1"/>
          <p:nvPr/>
        </p:nvSpPr>
        <p:spPr>
          <a:xfrm>
            <a:off x="4114800" y="3776472"/>
            <a:ext cx="75282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1"/>
                </a:solidFill>
              </a:rPr>
              <a:t>“The cap got stuck on the head and was very hard to remove.”</a:t>
            </a:r>
            <a:br/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保护盖卡在刀头上，很难取下来。</a:t>
            </a:r>
            <a:endParaRPr lang="en-US" sz="1000" dirty="0"/>
          </a:p>
        </p:txBody>
      </p:sp>
      <p:sp>
        <p:nvSpPr>
          <p:cNvPr id="26" name="Theme 4"/>
          <p:cNvSpPr txBox="1"/>
          <p:nvPr/>
        </p:nvSpPr>
        <p:spPr>
          <a:xfrm>
            <a:off x="4114800" y="4197096"/>
            <a:ext cx="6705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Skin irritation</a:t>
            </a:r>
            <a:pPr indent="0" marL="0">
              <a:buNone/>
            </a:pPr>
            <a:r>
              <a:rPr lang="en-US" sz="12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皮肤刺激</a:t>
            </a:r>
            <a:endParaRPr lang="en-US" sz="1350" dirty="0"/>
          </a:p>
        </p:txBody>
      </p:sp>
      <p:sp>
        <p:nvSpPr>
          <p:cNvPr id="27" name="Theme count 4"/>
          <p:cNvSpPr txBox="1"/>
          <p:nvPr/>
        </p:nvSpPr>
        <p:spPr>
          <a:xfrm>
            <a:off x="10820095" y="41788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7</a:t>
            </a:r>
            <a:endParaRPr lang="en-US" sz="1600" dirty="0"/>
          </a:p>
        </p:txBody>
      </p:sp>
      <p:sp>
        <p:nvSpPr>
          <p:cNvPr id="28" name="Theme track 4"/>
          <p:cNvSpPr/>
          <p:nvPr/>
        </p:nvSpPr>
        <p:spPr>
          <a:xfrm>
            <a:off x="4114800" y="4498848"/>
            <a:ext cx="7528255" cy="914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9" name="Theme bar 4"/>
          <p:cNvSpPr/>
          <p:nvPr/>
        </p:nvSpPr>
        <p:spPr>
          <a:xfrm>
            <a:off x="4114800" y="4498848"/>
            <a:ext cx="1882064" cy="914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0" name="Theme quote 4"/>
          <p:cNvSpPr txBox="1"/>
          <p:nvPr/>
        </p:nvSpPr>
        <p:spPr>
          <a:xfrm>
            <a:off x="4114800" y="4626864"/>
            <a:ext cx="75282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1"/>
                </a:solidFill>
              </a:rPr>
              <a:t>“Welts on the skin right from the first use.”</a:t>
            </a:r>
            <a:br/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第一次使用就在皮肤上留下了红痕。</a:t>
            </a:r>
            <a:endParaRPr lang="en-US" sz="1000" dirty="0"/>
          </a:p>
        </p:txBody>
      </p:sp>
      <p:sp>
        <p:nvSpPr>
          <p:cNvPr id="31" name="Theme 5"/>
          <p:cNvSpPr txBox="1"/>
          <p:nvPr/>
        </p:nvSpPr>
        <p:spPr>
          <a:xfrm>
            <a:off x="4114800" y="5047488"/>
            <a:ext cx="6705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Battery, charging and heat</a:t>
            </a:r>
            <a:pPr indent="0" marL="0">
              <a:buNone/>
            </a:pPr>
            <a:r>
              <a:rPr lang="en-US" sz="125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电池、充电与发热</a:t>
            </a:r>
            <a:endParaRPr lang="en-US" sz="1350" dirty="0"/>
          </a:p>
        </p:txBody>
      </p:sp>
      <p:sp>
        <p:nvSpPr>
          <p:cNvPr id="32" name="Theme count 5"/>
          <p:cNvSpPr txBox="1"/>
          <p:nvPr/>
        </p:nvSpPr>
        <p:spPr>
          <a:xfrm>
            <a:off x="10820095" y="50292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heme track 5"/>
          <p:cNvSpPr/>
          <p:nvPr/>
        </p:nvSpPr>
        <p:spPr>
          <a:xfrm>
            <a:off x="4114800" y="5349240"/>
            <a:ext cx="7528255" cy="914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4" name="Theme bar 5"/>
          <p:cNvSpPr/>
          <p:nvPr/>
        </p:nvSpPr>
        <p:spPr>
          <a:xfrm>
            <a:off x="4114800" y="5349240"/>
            <a:ext cx="1613198" cy="914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5" name="Theme quote 5"/>
          <p:cNvSpPr txBox="1"/>
          <p:nvPr/>
        </p:nvSpPr>
        <p:spPr>
          <a:xfrm>
            <a:off x="4114800" y="5477256"/>
            <a:ext cx="75282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1"/>
                </a:solidFill>
              </a:rPr>
              <a:t>“After 3 months it no longer charges.”</a:t>
            </a:r>
            <a:br/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用了3个月后就无法充电了。</a:t>
            </a:r>
            <a:endParaRPr lang="en-US" sz="1000" dirty="0"/>
          </a:p>
        </p:txBody>
      </p:sp>
      <p:sp>
        <p:nvSpPr>
          <p:cNvPr id="36" name="Review source"/>
          <p:cNvSpPr txBox="1"/>
          <p:nvPr/>
        </p:nvSpPr>
        <p:spPr>
          <a:xfrm>
            <a:off x="548640" y="5989320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accent6"/>
                </a:solidFill>
              </a:rPr>
              <a:t>Source: bol.com reviews with 1 to 3 stars on your products, January to October 2026. One review can mention several topics.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数据来源：2026年1月至10月bol.com上贵司产品的1至3星评价，一条评价可能涉及多个问题。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we want to improve together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我们希望共同改进的方向</a:t>
            </a:r>
            <a:endParaRPr lang="en-US" sz="2000" dirty="0"/>
          </a:p>
        </p:txBody>
      </p:sp>
      <p:sp>
        <p:nvSpPr>
          <p:cNvPr id="4" name="Priority card 1"/>
          <p:cNvSpPr/>
          <p:nvPr/>
        </p:nvSpPr>
        <p:spPr>
          <a:xfrm>
            <a:off x="548640" y="1755648"/>
            <a:ext cx="3515258" cy="3639312"/>
          </a:xfrm>
          <a:prstGeom prst="roundRect">
            <a:avLst>
              <a:gd name="adj" fmla="val 4162"/>
            </a:avLst>
          </a:prstGeom>
          <a:solidFill>
            <a:srgbClr val="24221F"/>
          </a:solidFill>
          <a:ln/>
        </p:spPr>
      </p:sp>
      <p:sp>
        <p:nvSpPr>
          <p:cNvPr id="5" name="Priority badge 1"/>
          <p:cNvSpPr/>
          <p:nvPr/>
        </p:nvSpPr>
        <p:spPr>
          <a:xfrm>
            <a:off x="822960" y="2029968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Priority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176272"/>
            <a:ext cx="365760" cy="365760"/>
          </a:xfrm>
          <a:prstGeom prst="rect">
            <a:avLst/>
          </a:prstGeom>
        </p:spPr>
      </p:pic>
      <p:sp>
        <p:nvSpPr>
          <p:cNvPr id="7" name="Priority title 1"/>
          <p:cNvSpPr txBox="1"/>
          <p:nvPr/>
        </p:nvSpPr>
        <p:spPr>
          <a:xfrm>
            <a:off x="1645920" y="1993392"/>
            <a:ext cx="2235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Better quality</a:t>
            </a:r>
            <a:endParaRPr lang="en-US" sz="2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更好的品质</a:t>
            </a:r>
            <a:endParaRPr lang="en-US" sz="2000" dirty="0"/>
          </a:p>
        </p:txBody>
      </p:sp>
      <p:sp>
        <p:nvSpPr>
          <p:cNvPr id="8" name="Priority focus 1"/>
          <p:cNvSpPr txBox="1"/>
          <p:nvPr/>
        </p:nvSpPr>
        <p:spPr>
          <a:xfrm>
            <a:off x="822960" y="2871216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FOCUS: BATTERIES &amp; CHARGING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重点：电池与充电</a:t>
            </a:r>
            <a:endParaRPr lang="en-US" sz="1000" dirty="0"/>
          </a:p>
        </p:txBody>
      </p:sp>
      <p:sp>
        <p:nvSpPr>
          <p:cNvPr id="9" name="Priority points 1"/>
          <p:cNvSpPr txBox="1"/>
          <p:nvPr/>
        </p:nvSpPr>
        <p:spPr>
          <a:xfrm>
            <a:off x="822960" y="3474720"/>
            <a:ext cx="30580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Longer battery life and lifespan</a:t>
            </a:r>
            <a:br/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续航更长，电池寿命更长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Fixed-cable adapter as standard</a:t>
            </a:r>
            <a:br/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今后标配线缆固定的一体式适配器</a:t>
            </a:r>
            <a:br/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accent2"/>
                </a:solidFill>
              </a:rPr>
              <a:t>So the right adapter is always used</a:t>
            </a:r>
            <a:br/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确保客户始终使用与设备匹配的适配器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Fewer defects and returns</a:t>
            </a:r>
            <a:br/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减少故障和退货</a:t>
            </a:r>
            <a:endParaRPr lang="en-US" sz="1400" dirty="0"/>
          </a:p>
        </p:txBody>
      </p:sp>
      <p:sp>
        <p:nvSpPr>
          <p:cNvPr id="10" name="Priority card 2"/>
          <p:cNvSpPr/>
          <p:nvPr/>
        </p:nvSpPr>
        <p:spPr>
          <a:xfrm>
            <a:off x="4338218" y="1755648"/>
            <a:ext cx="3515258" cy="3639312"/>
          </a:xfrm>
          <a:prstGeom prst="roundRect">
            <a:avLst>
              <a:gd name="adj" fmla="val 4162"/>
            </a:avLst>
          </a:prstGeom>
          <a:solidFill>
            <a:srgbClr val="24221F"/>
          </a:solidFill>
          <a:ln/>
        </p:spPr>
      </p:sp>
      <p:sp>
        <p:nvSpPr>
          <p:cNvPr id="11" name="Priority badge 2"/>
          <p:cNvSpPr/>
          <p:nvPr/>
        </p:nvSpPr>
        <p:spPr>
          <a:xfrm>
            <a:off x="4612538" y="2029968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Priority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842" y="2176272"/>
            <a:ext cx="365760" cy="365760"/>
          </a:xfrm>
          <a:prstGeom prst="rect">
            <a:avLst/>
          </a:prstGeom>
        </p:spPr>
      </p:pic>
      <p:sp>
        <p:nvSpPr>
          <p:cNvPr id="13" name="Priority title 2"/>
          <p:cNvSpPr txBox="1"/>
          <p:nvPr/>
        </p:nvSpPr>
        <p:spPr>
          <a:xfrm>
            <a:off x="5435498" y="1993392"/>
            <a:ext cx="2235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Better prices</a:t>
            </a:r>
            <a:endParaRPr lang="en-US" sz="2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更优的价格</a:t>
            </a:r>
            <a:endParaRPr lang="en-US" sz="2000" dirty="0"/>
          </a:p>
        </p:txBody>
      </p:sp>
      <p:sp>
        <p:nvSpPr>
          <p:cNvPr id="14" name="Priority focus 2"/>
          <p:cNvSpPr txBox="1"/>
          <p:nvPr/>
        </p:nvSpPr>
        <p:spPr>
          <a:xfrm>
            <a:off x="4612538" y="2871216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FOCUS: CURRENT RANGE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重点：现有产品</a:t>
            </a:r>
            <a:endParaRPr lang="en-US" sz="1000" dirty="0"/>
          </a:p>
        </p:txBody>
      </p:sp>
      <p:sp>
        <p:nvSpPr>
          <p:cNvPr id="15" name="Priority points 2"/>
          <p:cNvSpPr txBox="1"/>
          <p:nvPr/>
        </p:nvSpPr>
        <p:spPr>
          <a:xfrm>
            <a:off x="4612538" y="3474720"/>
            <a:ext cx="30580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Lower purchase prices</a:t>
            </a:r>
            <a:br/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降低现有产品的采购价格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Cost ideas that keep the quality</a:t>
            </a:r>
            <a:br/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在保证品质前提下的降本方案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Prices based on 2027 volumes</a:t>
            </a:r>
            <a:br/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2027 年采购量报价</a:t>
            </a:r>
            <a:endParaRPr lang="en-US" sz="1400" dirty="0"/>
          </a:p>
        </p:txBody>
      </p:sp>
      <p:sp>
        <p:nvSpPr>
          <p:cNvPr id="16" name="Priority card 3"/>
          <p:cNvSpPr/>
          <p:nvPr/>
        </p:nvSpPr>
        <p:spPr>
          <a:xfrm>
            <a:off x="8127797" y="1755648"/>
            <a:ext cx="3515258" cy="3639312"/>
          </a:xfrm>
          <a:prstGeom prst="roundRect">
            <a:avLst>
              <a:gd name="adj" fmla="val 4162"/>
            </a:avLst>
          </a:prstGeom>
          <a:solidFill>
            <a:srgbClr val="24221F"/>
          </a:solidFill>
          <a:ln/>
        </p:spPr>
      </p:sp>
      <p:sp>
        <p:nvSpPr>
          <p:cNvPr id="17" name="Priority badge 3"/>
          <p:cNvSpPr/>
          <p:nvPr/>
        </p:nvSpPr>
        <p:spPr>
          <a:xfrm>
            <a:off x="8402117" y="2029968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Priority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421" y="2176272"/>
            <a:ext cx="365760" cy="365760"/>
          </a:xfrm>
          <a:prstGeom prst="rect">
            <a:avLst/>
          </a:prstGeom>
        </p:spPr>
      </p:pic>
      <p:sp>
        <p:nvSpPr>
          <p:cNvPr id="19" name="Priority title 3"/>
          <p:cNvSpPr txBox="1"/>
          <p:nvPr/>
        </p:nvSpPr>
        <p:spPr>
          <a:xfrm>
            <a:off x="9225077" y="1993392"/>
            <a:ext cx="2235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New models</a:t>
            </a:r>
            <a:endParaRPr lang="en-US" sz="2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新款产品</a:t>
            </a:r>
            <a:endParaRPr lang="en-US" sz="2000" dirty="0"/>
          </a:p>
        </p:txBody>
      </p:sp>
      <p:sp>
        <p:nvSpPr>
          <p:cNvPr id="20" name="Priority focus 3"/>
          <p:cNvSpPr txBox="1"/>
          <p:nvPr/>
        </p:nvSpPr>
        <p:spPr>
          <a:xfrm>
            <a:off x="8402117" y="2871216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FOCUS: CO-DEVELOPMENT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重点：共同开发</a:t>
            </a:r>
            <a:endParaRPr lang="en-US" sz="1000" dirty="0"/>
          </a:p>
        </p:txBody>
      </p:sp>
      <p:sp>
        <p:nvSpPr>
          <p:cNvPr id="21" name="Priority points 3"/>
          <p:cNvSpPr txBox="1"/>
          <p:nvPr/>
        </p:nvSpPr>
        <p:spPr>
          <a:xfrm>
            <a:off x="8402117" y="3474720"/>
            <a:ext cx="30580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Develop new models together</a:t>
            </a:r>
            <a:br/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共同开发新款产品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Upgrades of our best-sellers</a:t>
            </a:r>
            <a:br/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升级我们的畅销款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Your newest technology</a:t>
            </a:r>
            <a:br/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贵司的最新技术</a:t>
            </a:r>
            <a:endParaRPr lang="en-US" sz="1400" dirty="0"/>
          </a:p>
        </p:txBody>
      </p:sp>
      <p:sp>
        <p:nvSpPr>
          <p:cNvPr id="22" name="Why it matters"/>
          <p:cNvSpPr txBox="1"/>
          <p:nvPr/>
        </p:nvSpPr>
        <p:spPr>
          <a:xfrm>
            <a:off x="548640" y="5559552"/>
            <a:ext cx="110944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Why this matters: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our customers get a 100-day trial and a 2-year warranty, so every weak battery becomes a return and a bad review.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我们为客户提供 100 天试用和 2 年保修，每一个电池问题都会变成退货和差评。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we would love to see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我们最期待看到的</a:t>
            </a:r>
            <a:endParaRPr lang="en-US" sz="2000" dirty="0"/>
          </a:p>
        </p:txBody>
      </p:sp>
      <p:sp>
        <p:nvSpPr>
          <p:cNvPr id="4" name="Ask card 1"/>
          <p:cNvSpPr/>
          <p:nvPr/>
        </p:nvSpPr>
        <p:spPr>
          <a:xfrm>
            <a:off x="548640" y="1783080"/>
            <a:ext cx="6675120" cy="1691640"/>
          </a:xfrm>
          <a:prstGeom prst="roundRect">
            <a:avLst>
              <a:gd name="adj" fmla="val 8649"/>
            </a:avLst>
          </a:prstGeom>
          <a:solidFill>
            <a:srgbClr val="24221F"/>
          </a:solidFill>
          <a:ln/>
        </p:spPr>
      </p:sp>
      <p:sp>
        <p:nvSpPr>
          <p:cNvPr id="5" name="Ask badge 1"/>
          <p:cNvSpPr/>
          <p:nvPr/>
        </p:nvSpPr>
        <p:spPr>
          <a:xfrm>
            <a:off x="822960" y="2057400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Ask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203704"/>
            <a:ext cx="365760" cy="365760"/>
          </a:xfrm>
          <a:prstGeom prst="rect">
            <a:avLst/>
          </a:prstGeom>
        </p:spPr>
      </p:pic>
      <p:sp>
        <p:nvSpPr>
          <p:cNvPr id="7" name="Ask text 1"/>
          <p:cNvSpPr txBox="1"/>
          <p:nvPr/>
        </p:nvSpPr>
        <p:spPr>
          <a:xfrm>
            <a:off x="1691640" y="205740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Samples</a:t>
            </a:r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样品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New models and improved batteries. We like to hold and test them ourselves.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新款产品和改进后的电池。我们希望亲手体验和测试。</a:t>
            </a:r>
            <a:endParaRPr lang="en-US" sz="1800" dirty="0"/>
          </a:p>
        </p:txBody>
      </p:sp>
      <p:sp>
        <p:nvSpPr>
          <p:cNvPr id="8" name="Ask card 2"/>
          <p:cNvSpPr/>
          <p:nvPr/>
        </p:nvSpPr>
        <p:spPr>
          <a:xfrm>
            <a:off x="548640" y="3703320"/>
            <a:ext cx="6675120" cy="1691640"/>
          </a:xfrm>
          <a:prstGeom prst="roundRect">
            <a:avLst>
              <a:gd name="adj" fmla="val 8649"/>
            </a:avLst>
          </a:prstGeom>
          <a:solidFill>
            <a:srgbClr val="24221F"/>
          </a:solidFill>
          <a:ln/>
        </p:spPr>
      </p:sp>
      <p:sp>
        <p:nvSpPr>
          <p:cNvPr id="9" name="Ask badge 2"/>
          <p:cNvSpPr/>
          <p:nvPr/>
        </p:nvSpPr>
        <p:spPr>
          <a:xfrm>
            <a:off x="822960" y="3977640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Ask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4123944"/>
            <a:ext cx="365760" cy="365760"/>
          </a:xfrm>
          <a:prstGeom prst="rect">
            <a:avLst/>
          </a:prstGeom>
        </p:spPr>
      </p:pic>
      <p:sp>
        <p:nvSpPr>
          <p:cNvPr id="11" name="Ask text 2"/>
          <p:cNvSpPr txBox="1"/>
          <p:nvPr/>
        </p:nvSpPr>
        <p:spPr>
          <a:xfrm>
            <a:off x="1691640" y="397764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Your recommendations</a:t>
            </a:r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您的推荐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What sells well in other markets? What would you change in our products?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哪些产品在其他市场卖得好？您会如何改进我们的产品？</a:t>
            </a:r>
            <a:endParaRPr lang="en-US" sz="1800" dirty="0"/>
          </a:p>
        </p:txBody>
      </p:sp>
      <p:sp>
        <p:nvSpPr>
          <p:cNvPr id="12" name="No prep"/>
          <p:cNvSpPr txBox="1"/>
          <p:nvPr/>
        </p:nvSpPr>
        <p:spPr>
          <a:xfrm>
            <a:off x="548640" y="57607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No preparation needed: we mainly come to listen.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无需特别准备：我们主要是来倾听的。</a:t>
            </a:r>
            <a:endParaRPr lang="en-US" sz="1200" dirty="0"/>
          </a:p>
        </p:txBody>
      </p:sp>
      <p:sp>
        <p:nvSpPr>
          <p:cNvPr id="13" name="Thanks panel"/>
          <p:cNvSpPr/>
          <p:nvPr/>
        </p:nvSpPr>
        <p:spPr>
          <a:xfrm>
            <a:off x="7589520" y="1783080"/>
            <a:ext cx="4053535" cy="4297680"/>
          </a:xfrm>
          <a:prstGeom prst="roundRect">
            <a:avLst>
              <a:gd name="adj" fmla="val 3609"/>
            </a:avLst>
          </a:prstGeom>
          <a:solidFill>
            <a:srgbClr val="F5F1EA"/>
          </a:solidFill>
          <a:ln/>
        </p:spPr>
      </p:sp>
      <p:sp>
        <p:nvSpPr>
          <p:cNvPr id="14" name="Thanks"/>
          <p:cNvSpPr txBox="1"/>
          <p:nvPr/>
        </p:nvSpPr>
        <p:spPr>
          <a:xfrm>
            <a:off x="7955280" y="2103120"/>
            <a:ext cx="33220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3600" b="1" dirty="0">
                <a:solidFill>
                  <a:schemeClr val="tx1"/>
                </a:solidFill>
              </a:rPr>
              <a:t>Thank you</a:t>
            </a:r>
            <a:endParaRPr lang="en-US" sz="3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3600" dirty="0"/>
          </a:p>
        </p:txBody>
      </p:sp>
      <p:sp>
        <p:nvSpPr>
          <p:cNvPr id="15" name="Looking forward"/>
          <p:cNvSpPr txBox="1"/>
          <p:nvPr/>
        </p:nvSpPr>
        <p:spPr>
          <a:xfrm>
            <a:off x="7955280" y="3611880"/>
            <a:ext cx="3322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We look forward to growing together.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期待与贵司共同成长。</a:t>
            </a:r>
            <a:endParaRPr lang="en-US" sz="1400" dirty="0"/>
          </a:p>
        </p:txBody>
      </p:sp>
      <p:sp>
        <p:nvSpPr>
          <p:cNvPr id="16" name="Contact divider"/>
          <p:cNvSpPr/>
          <p:nvPr/>
        </p:nvSpPr>
        <p:spPr>
          <a:xfrm>
            <a:off x="7955280" y="4526280"/>
            <a:ext cx="3322015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7" name="Contact"/>
          <p:cNvSpPr txBox="1"/>
          <p:nvPr/>
        </p:nvSpPr>
        <p:spPr>
          <a:xfrm>
            <a:off x="7955280" y="4681728"/>
            <a:ext cx="3322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Dustin Gibson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  ·  Founder &amp; CEO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dustin@wellshave.com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1"/>
                </a:solidFill>
              </a:rPr>
              <a:t>wellshave.com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llshave">
  <a:themeElements>
    <a:clrScheme name="Wellshave">
      <a:dk1>
        <a:srgbClr val="111111"/>
      </a:dk1>
      <a:lt1>
        <a:srgbClr val="FFFFFF"/>
      </a:lt1>
      <a:dk2>
        <a:srgbClr val="191816"/>
      </a:dk2>
      <a:lt2>
        <a:srgbClr val="F5F1EA"/>
      </a:lt2>
      <a:accent1>
        <a:srgbClr val="B0742A"/>
      </a:accent1>
      <a:accent2>
        <a:srgbClr val="F5D18A"/>
      </a:accent2>
      <a:accent3>
        <a:srgbClr val="EDE6DA"/>
      </a:accent3>
      <a:accent4>
        <a:srgbClr val="8C5A1A"/>
      </a:accent4>
      <a:accent5>
        <a:srgbClr val="24221F"/>
      </a:accent5>
      <a:accent6>
        <a:srgbClr val="6B655D"/>
      </a:accent6>
      <a:hlink>
        <a:srgbClr val="B0742A"/>
      </a:hlink>
      <a:folHlink>
        <a:srgbClr val="8C5A1A"/>
      </a:folHlink>
    </a:clrScheme>
    <a:fontScheme name="Wellshav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Wellshave BV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Wellshave · Factory visit · Global Best Way</dc:title>
  <dc:subject>PptxGenJS Presentation</dc:subject>
  <dc:creator>Wellshave</dc:creator>
  <cp:lastModifiedBy>Wellshave</cp:lastModifiedBy>
  <cp:revision>1</cp:revision>
  <dcterms:created xsi:type="dcterms:W3CDTF">2026-10-16T14:29:46Z</dcterms:created>
  <dcterms:modified xsi:type="dcterms:W3CDTF">2026-10-16T14:29:46Z</dcterms:modified>
</cp:coreProperties>
</file>