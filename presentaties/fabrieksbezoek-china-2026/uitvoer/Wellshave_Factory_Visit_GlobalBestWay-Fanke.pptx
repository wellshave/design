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a5ccf16-3eac-2892-f20d-da69c4f62c41}">
          <p14:sldIdLst>
            <p14:sldId id="256"/>
          </p14:sldIdLst>
        </p14:section>
        <p14:section name="About Wellshave" id="{51d28e42-e401-0189-9fba-8c0dafa20eef}">
          <p14:sldIdLst>
            <p14:sldId id="257"/>
          </p14:sldIdLst>
        </p14:section>
        <p14:section name="The visit" id="{fe67f829-a3ca-3e07-4e1b-1fb43ca5f830}">
          <p14:sldIdLst>
            <p14:sldId id="258"/>
            <p14:sldId id="259"/>
          </p14:sldIdLst>
        </p14:section>
        <p14:section name="Your products" id="{cb71bee6-6066-803f-9a70-c35742f66a4c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orking together" id="{3c6e9abe-3166-f948-4ef3-eeeb35b9b4a0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Thank Jenny Huang and He Ting 何婷 (Global Best Way &amp; Fanke) for hosting us. One sentence: who we are and why we came.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figures are approximate for 2026. Remove the two revenue tiles if you prefer not to share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products we buy from you. Sales are bol.com units (about 80% of our revenue). Next slides go product by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product we buy from you has the same main defect: the battery or charging. 146 of 215 defect reports this year. Most fail well within the 2-year warranty, and nearly every report means we send a new device at our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battery. Our customer service logged 54 defect reports on the Elite this year; 37 were about the battery or charging, typically 5 months after purchase, and every one got a new device. The quotes are from those reports. In bol.com reviews the most common topic is the shave itself: it pulls hairs instead of cutting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biggest volume: 25,627 units. Few defects for that volume, but half of them are battery or charging. In reviews the blade does not catch the hairs.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trimmers: battery and charging is the top defect. Supreme 8988: 26 of 36 reports. Pro 8188: 10 of 15. In reviews the Supreme is mostly about an uneven trim.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 Shaver Deluxe: 28 of 39 defect reports are battery or charging, the battery percentage drops suddenly. Blade Baron: hardly any defects, but the highest return rate of these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Groom Guard: 27 of 35 defect reports are battery or charging. Reviews also mention the charging stand tipping over. Flex Guard: few reports, pulls hairs, attachments do not match the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Fixed-cable adapter: from now on every device ships with a charger whose cable is fixed to the adapter, so customers always charge with the right adapter for that device. Wrong adapters damage batteries and lead to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and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Image 0" descr="/home/user/design/presentaties/fabrieksbezoek-china-2026/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37160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Image 0" descr="/home/user/design/presentaties/fabrieksbezoek-china-2026/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37160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Wellshave Shaver Elite rinsed under the t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pic>
        <p:nvPicPr>
          <p:cNvPr id="3" name="Logo" descr="Wellshav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2514600" cy="402336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FACTORY VISIT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   ·   </a:t>
            </a:r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工厂拜访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85800" y="182880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chemeClr val="bg1"/>
                </a:solidFill>
              </a:rPr>
              <a:t>Introducing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chemeClr val="bg1"/>
                </a:solidFill>
              </a:rPr>
              <a:t>Wellshave</a:t>
            </a:r>
            <a:endParaRPr lang="en-US" sz="5200" dirty="0"/>
          </a:p>
        </p:txBody>
      </p:sp>
      <p:sp>
        <p:nvSpPr>
          <p:cNvPr id="6" name="Title CN"/>
          <p:cNvSpPr txBox="1"/>
          <p:nvPr/>
        </p:nvSpPr>
        <p:spPr>
          <a:xfrm>
            <a:off x="68580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Wellshave </a:t>
            </a:r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品牌介绍</a:t>
            </a:r>
            <a:endParaRPr lang="en-US" sz="3000" dirty="0"/>
          </a:p>
        </p:txBody>
      </p:sp>
      <p:sp>
        <p:nvSpPr>
          <p:cNvPr id="7" name="Subtitle"/>
          <p:cNvSpPr txBox="1"/>
          <p:nvPr/>
        </p:nvSpPr>
        <p:spPr>
          <a:xfrm>
            <a:off x="685800" y="4206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Dutch men's grooming brand  ·  Netherlands &amp; Belgium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荷兰男士理容品牌  ·  主营荷兰与比利时市场</a:t>
            </a:r>
            <a:endParaRPr lang="en-US" sz="1400" dirty="0"/>
          </a:p>
        </p:txBody>
      </p:sp>
      <p:sp>
        <p:nvSpPr>
          <p:cNvPr id="8" name="Prepared for"/>
          <p:cNvSpPr txBox="1"/>
          <p:nvPr/>
        </p:nvSpPr>
        <p:spPr>
          <a:xfrm>
            <a:off x="685800" y="493776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PREPARED FOR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拜访对象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Global Best Way Co., Ltd.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温州市贝威贸易有限公司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Jenny Huang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Wenzhou Fanke Electric Appliance Co., Ltd.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温州凡科电器有限公司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He Ting 何婷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October 2026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2026 年 10 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About Wellshave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Wellshave</a:t>
            </a:r>
            <a:endParaRPr lang="en-US" sz="2000" dirty="0"/>
          </a:p>
        </p:txBody>
      </p:sp>
      <p:sp>
        <p:nvSpPr>
          <p:cNvPr id="4" name="Story"/>
          <p:cNvSpPr txBox="1"/>
          <p:nvPr/>
        </p:nvSpPr>
        <p:spPr>
          <a:xfrm>
            <a:off x="548640" y="1783080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Wellshave is a Dutch men's grooming brand, founded in 2021. We design and sell shavers, trimmers and clippers that give men premium quality at a fair price.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Wellshave 是一家荷兰男士理容品牌，成立于 2021 年。我们设计并销售剃须刀、修剪器和理发器，以合理的价格为男士提供高端品质。</a:t>
            </a:r>
            <a:endParaRPr lang="en-US" sz="1500" dirty="0"/>
          </a:p>
        </p:txBody>
      </p:sp>
      <p:sp>
        <p:nvSpPr>
          <p:cNvPr id="5" name="Feedback head"/>
          <p:cNvSpPr txBox="1"/>
          <p:nvPr/>
        </p:nvSpPr>
        <p:spPr>
          <a:xfrm>
            <a:off x="548640" y="3520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Driven by customer feedback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以客户反馈为驱动</a:t>
            </a:r>
            <a:endParaRPr lang="en-US" sz="1500" dirty="0"/>
          </a:p>
        </p:txBody>
      </p:sp>
      <p:sp>
        <p:nvSpPr>
          <p:cNvPr id="6" name="Feedback"/>
          <p:cNvSpPr txBox="1"/>
          <p:nvPr/>
        </p:nvSpPr>
        <p:spPr>
          <a:xfrm>
            <a:off x="548640" y="38862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product upgrade starts with what customers return, miss or want better.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每一次产品升级都源于客户反馈：退货原因、缺少的功能或希望改进的地方。</a:t>
            </a:r>
            <a:endParaRPr lang="en-US" sz="1400" dirty="0"/>
          </a:p>
        </p:txBody>
      </p:sp>
      <p:sp>
        <p:nvSpPr>
          <p:cNvPr id="7" name="Promise 1"/>
          <p:cNvSpPr/>
          <p:nvPr/>
        </p:nvSpPr>
        <p:spPr>
          <a:xfrm>
            <a:off x="54864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8" name="Promis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212080"/>
            <a:ext cx="329184" cy="329184"/>
          </a:xfrm>
          <a:prstGeom prst="rect">
            <a:avLst/>
          </a:prstGeom>
        </p:spPr>
      </p:pic>
      <p:sp>
        <p:nvSpPr>
          <p:cNvPr id="9" name="Promise text 1"/>
          <p:cNvSpPr txBox="1"/>
          <p:nvPr/>
        </p:nvSpPr>
        <p:spPr>
          <a:xfrm>
            <a:off x="71323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100-day trial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天试用</a:t>
            </a:r>
            <a:endParaRPr lang="en-US" sz="1100" dirty="0"/>
          </a:p>
        </p:txBody>
      </p:sp>
      <p:sp>
        <p:nvSpPr>
          <p:cNvPr id="10" name="Promise 2"/>
          <p:cNvSpPr/>
          <p:nvPr/>
        </p:nvSpPr>
        <p:spPr>
          <a:xfrm>
            <a:off x="246888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11" name="Promis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5212080"/>
            <a:ext cx="329184" cy="329184"/>
          </a:xfrm>
          <a:prstGeom prst="rect">
            <a:avLst/>
          </a:prstGeom>
        </p:spPr>
      </p:pic>
      <p:sp>
        <p:nvSpPr>
          <p:cNvPr id="12" name="Promise text 2"/>
          <p:cNvSpPr txBox="1"/>
          <p:nvPr/>
        </p:nvSpPr>
        <p:spPr>
          <a:xfrm>
            <a:off x="263347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2-year warranty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年保修</a:t>
            </a:r>
            <a:endParaRPr lang="en-US" sz="1100" dirty="0"/>
          </a:p>
        </p:txBody>
      </p:sp>
      <p:sp>
        <p:nvSpPr>
          <p:cNvPr id="13" name="Promise 3"/>
          <p:cNvSpPr/>
          <p:nvPr/>
        </p:nvSpPr>
        <p:spPr>
          <a:xfrm>
            <a:off x="438912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14" name="Promis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5212080"/>
            <a:ext cx="329184" cy="329184"/>
          </a:xfrm>
          <a:prstGeom prst="rect">
            <a:avLst/>
          </a:prstGeom>
        </p:spPr>
      </p:pic>
      <p:sp>
        <p:nvSpPr>
          <p:cNvPr id="15" name="Promise text 3"/>
          <p:cNvSpPr txBox="1"/>
          <p:nvPr/>
        </p:nvSpPr>
        <p:spPr>
          <a:xfrm>
            <a:off x="455371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Next-day delivery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次日送达</a:t>
            </a:r>
            <a:endParaRPr lang="en-US" sz="1100" dirty="0"/>
          </a:p>
        </p:txBody>
      </p:sp>
      <p:sp>
        <p:nvSpPr>
          <p:cNvPr id="16" name="Stat 1"/>
          <p:cNvSpPr/>
          <p:nvPr/>
        </p:nvSpPr>
        <p:spPr>
          <a:xfrm>
            <a:off x="6629400" y="1783080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17" name="Stat value 1"/>
          <p:cNvSpPr txBox="1"/>
          <p:nvPr/>
        </p:nvSpPr>
        <p:spPr>
          <a:xfrm>
            <a:off x="6858000" y="1965960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2021</a:t>
            </a:r>
            <a:endParaRPr lang="en-US" sz="2800" dirty="0"/>
          </a:p>
        </p:txBody>
      </p:sp>
      <p:sp>
        <p:nvSpPr>
          <p:cNvPr id="18" name="Stat label 1"/>
          <p:cNvSpPr txBox="1"/>
          <p:nvPr/>
        </p:nvSpPr>
        <p:spPr>
          <a:xfrm>
            <a:off x="6858000" y="25146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Founded in Helmond (NL)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成立于荷兰海尔蒙德</a:t>
            </a:r>
            <a:endParaRPr lang="en-US" sz="1100" dirty="0"/>
          </a:p>
        </p:txBody>
      </p:sp>
      <p:sp>
        <p:nvSpPr>
          <p:cNvPr id="19" name="Stat 2"/>
          <p:cNvSpPr/>
          <p:nvPr/>
        </p:nvSpPr>
        <p:spPr>
          <a:xfrm>
            <a:off x="9227668" y="1783080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0" name="Stat value 2"/>
          <p:cNvSpPr txBox="1"/>
          <p:nvPr/>
        </p:nvSpPr>
        <p:spPr>
          <a:xfrm>
            <a:off x="9456268" y="1965960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NL + BE</a:t>
            </a:r>
            <a:endParaRPr lang="en-US" sz="2800" dirty="0"/>
          </a:p>
        </p:txBody>
      </p:sp>
      <p:sp>
        <p:nvSpPr>
          <p:cNvPr id="21" name="Stat label 2"/>
          <p:cNvSpPr txBox="1"/>
          <p:nvPr/>
        </p:nvSpPr>
        <p:spPr>
          <a:xfrm>
            <a:off x="9456268" y="25146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Main markets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主要市场</a:t>
            </a:r>
            <a:endParaRPr lang="en-US" sz="1100" dirty="0"/>
          </a:p>
        </p:txBody>
      </p:sp>
      <p:sp>
        <p:nvSpPr>
          <p:cNvPr id="22" name="Stat 3"/>
          <p:cNvSpPr/>
          <p:nvPr/>
        </p:nvSpPr>
        <p:spPr>
          <a:xfrm>
            <a:off x="6629400" y="3227832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3" name="Stat value 3"/>
          <p:cNvSpPr txBox="1"/>
          <p:nvPr/>
        </p:nvSpPr>
        <p:spPr>
          <a:xfrm>
            <a:off x="6858000" y="3410712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€2.5M</a:t>
            </a:r>
            <a:endParaRPr lang="en-US" sz="2800" dirty="0"/>
          </a:p>
        </p:txBody>
      </p:sp>
      <p:sp>
        <p:nvSpPr>
          <p:cNvPr id="24" name="Stat label 3"/>
          <p:cNvSpPr txBox="1"/>
          <p:nvPr/>
        </p:nvSpPr>
        <p:spPr>
          <a:xfrm>
            <a:off x="6858000" y="3959352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bol.com revenue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bol.com 2026 年营业额</a:t>
            </a:r>
            <a:endParaRPr lang="en-US" sz="1100" dirty="0"/>
          </a:p>
        </p:txBody>
      </p:sp>
      <p:sp>
        <p:nvSpPr>
          <p:cNvPr id="25" name="Stat 4"/>
          <p:cNvSpPr/>
          <p:nvPr/>
        </p:nvSpPr>
        <p:spPr>
          <a:xfrm>
            <a:off x="9227668" y="3227832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6" name="Stat value 4"/>
          <p:cNvSpPr txBox="1"/>
          <p:nvPr/>
        </p:nvSpPr>
        <p:spPr>
          <a:xfrm>
            <a:off x="9456268" y="3410712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€0.6M</a:t>
            </a:r>
            <a:endParaRPr lang="en-US" sz="2800" dirty="0"/>
          </a:p>
        </p:txBody>
      </p:sp>
      <p:sp>
        <p:nvSpPr>
          <p:cNvPr id="27" name="Stat label 4"/>
          <p:cNvSpPr txBox="1"/>
          <p:nvPr/>
        </p:nvSpPr>
        <p:spPr>
          <a:xfrm>
            <a:off x="9456268" y="3959352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Own webshop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自营官网 2026 年营业额</a:t>
            </a:r>
            <a:endParaRPr lang="en-US" sz="1100" dirty="0"/>
          </a:p>
        </p:txBody>
      </p:sp>
      <p:sp>
        <p:nvSpPr>
          <p:cNvPr id="28" name="Trustpilot"/>
          <p:cNvSpPr/>
          <p:nvPr/>
        </p:nvSpPr>
        <p:spPr>
          <a:xfrm>
            <a:off x="6629400" y="4672584"/>
            <a:ext cx="5013655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Trustpilot value"/>
          <p:cNvSpPr txBox="1"/>
          <p:nvPr/>
        </p:nvSpPr>
        <p:spPr>
          <a:xfrm>
            <a:off x="6858000" y="4873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4.4 / 5</a:t>
            </a:r>
            <a:endParaRPr lang="en-US" sz="2800" dirty="0"/>
          </a:p>
        </p:txBody>
      </p:sp>
      <p:sp>
        <p:nvSpPr>
          <p:cNvPr id="30" name="Trustpilot label"/>
          <p:cNvSpPr txBox="1"/>
          <p:nvPr/>
        </p:nvSpPr>
        <p:spPr>
          <a:xfrm>
            <a:off x="8503920" y="492861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Trustpilot score, 1,000+ customer reviews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Trustpilot 评分，1000 多条客户评价</a:t>
            </a:r>
            <a:endParaRPr lang="en-US" sz="1100" dirty="0"/>
          </a:p>
        </p:txBody>
      </p:sp>
      <p:sp>
        <p:nvSpPr>
          <p:cNvPr id="31" name="bol note"/>
          <p:cNvSpPr txBox="1"/>
          <p:nvPr/>
        </p:nvSpPr>
        <p:spPr>
          <a:xfrm>
            <a:off x="6629400" y="5788152"/>
            <a:ext cx="5013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bol.com is the largest online marketplace in the Netherlands and Belgium.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bol.com 是荷兰和比利时最大的电商平台。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Today's visit team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今日拜访团队</a:t>
            </a:r>
            <a:endParaRPr lang="en-US" sz="20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5" name="Avatar 1"/>
          <p:cNvSpPr/>
          <p:nvPr/>
        </p:nvSpPr>
        <p:spPr>
          <a:xfrm>
            <a:off x="868680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Initials 1"/>
          <p:cNvSpPr txBox="1"/>
          <p:nvPr/>
        </p:nvSpPr>
        <p:spPr>
          <a:xfrm>
            <a:off x="8686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DG</a:t>
            </a:r>
            <a:endParaRPr lang="en-US" sz="2400" dirty="0"/>
          </a:p>
        </p:txBody>
      </p:sp>
      <p:sp>
        <p:nvSpPr>
          <p:cNvPr id="7" name="Name 1"/>
          <p:cNvSpPr txBox="1"/>
          <p:nvPr/>
        </p:nvSpPr>
        <p:spPr>
          <a:xfrm>
            <a:off x="868680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Dustin Gibson</a:t>
            </a:r>
            <a:endParaRPr lang="en-US" sz="2000" dirty="0"/>
          </a:p>
        </p:txBody>
      </p:sp>
      <p:sp>
        <p:nvSpPr>
          <p:cNvPr id="8" name="Role 1"/>
          <p:cNvSpPr txBox="1"/>
          <p:nvPr/>
        </p:nvSpPr>
        <p:spPr>
          <a:xfrm>
            <a:off x="868680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Founder &amp; CEO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创始人兼首席执行官</a:t>
            </a:r>
            <a:endParaRPr lang="en-US" sz="1300" dirty="0"/>
          </a:p>
        </p:txBody>
      </p:sp>
      <p:sp>
        <p:nvSpPr>
          <p:cNvPr id="9" name="Divider 1"/>
          <p:cNvSpPr/>
          <p:nvPr/>
        </p:nvSpPr>
        <p:spPr>
          <a:xfrm>
            <a:off x="868680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Visit role 1"/>
          <p:cNvSpPr txBox="1"/>
          <p:nvPr/>
        </p:nvSpPr>
        <p:spPr>
          <a:xfrm>
            <a:off x="868680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Brand vision, 2027 plans and final decisions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品牌愿景、2027 年计划与最终决策</a:t>
            </a:r>
            <a:endParaRPr lang="en-US" sz="900" dirty="0"/>
          </a:p>
        </p:txBody>
      </p:sp>
      <p:sp>
        <p:nvSpPr>
          <p:cNvPr id="11" name="Team card 2"/>
          <p:cNvSpPr/>
          <p:nvPr/>
        </p:nvSpPr>
        <p:spPr>
          <a:xfrm>
            <a:off x="4338218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12" name="Avatar 2"/>
          <p:cNvSpPr/>
          <p:nvPr/>
        </p:nvSpPr>
        <p:spPr>
          <a:xfrm>
            <a:off x="4658258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Initials 2"/>
          <p:cNvSpPr txBox="1"/>
          <p:nvPr/>
        </p:nvSpPr>
        <p:spPr>
          <a:xfrm>
            <a:off x="465825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WG</a:t>
            </a:r>
            <a:endParaRPr lang="en-US" sz="2400" dirty="0"/>
          </a:p>
        </p:txBody>
      </p:sp>
      <p:sp>
        <p:nvSpPr>
          <p:cNvPr id="14" name="Name 2"/>
          <p:cNvSpPr txBox="1"/>
          <p:nvPr/>
        </p:nvSpPr>
        <p:spPr>
          <a:xfrm>
            <a:off x="4658258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Willem de Groot</a:t>
            </a:r>
            <a:endParaRPr lang="en-US" sz="2000" dirty="0"/>
          </a:p>
        </p:txBody>
      </p:sp>
      <p:sp>
        <p:nvSpPr>
          <p:cNvPr id="15" name="Role 2"/>
          <p:cNvSpPr txBox="1"/>
          <p:nvPr/>
        </p:nvSpPr>
        <p:spPr>
          <a:xfrm>
            <a:off x="4658258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Creative Strategist &amp; Operations Manager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创意策略师兼运营经理</a:t>
            </a:r>
            <a:endParaRPr lang="en-US" sz="1300" dirty="0"/>
          </a:p>
        </p:txBody>
      </p:sp>
      <p:sp>
        <p:nvSpPr>
          <p:cNvPr id="16" name="Divider 2"/>
          <p:cNvSpPr/>
          <p:nvPr/>
        </p:nvSpPr>
        <p:spPr>
          <a:xfrm>
            <a:off x="4658258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Visit role 2"/>
          <p:cNvSpPr txBox="1"/>
          <p:nvPr/>
        </p:nvSpPr>
        <p:spPr>
          <a:xfrm>
            <a:off x="4658258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Customer insights, product presentation and operations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客户洞察、产品呈现与运营</a:t>
            </a:r>
            <a:endParaRPr lang="en-US" sz="900" dirty="0"/>
          </a:p>
        </p:txBody>
      </p:sp>
      <p:sp>
        <p:nvSpPr>
          <p:cNvPr id="18" name="Team card 3"/>
          <p:cNvSpPr/>
          <p:nvPr/>
        </p:nvSpPr>
        <p:spPr>
          <a:xfrm>
            <a:off x="8127797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19" name="Avatar 3"/>
          <p:cNvSpPr/>
          <p:nvPr/>
        </p:nvSpPr>
        <p:spPr>
          <a:xfrm>
            <a:off x="8447837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Initials 3"/>
          <p:cNvSpPr txBox="1"/>
          <p:nvPr/>
        </p:nvSpPr>
        <p:spPr>
          <a:xfrm>
            <a:off x="8447837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</a:t>
            </a:r>
            <a:endParaRPr lang="en-US" sz="2400" dirty="0"/>
          </a:p>
        </p:txBody>
      </p:sp>
      <p:sp>
        <p:nvSpPr>
          <p:cNvPr id="21" name="Name 3"/>
          <p:cNvSpPr txBox="1"/>
          <p:nvPr/>
        </p:nvSpPr>
        <p:spPr>
          <a:xfrm>
            <a:off x="8447837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Leo</a:t>
            </a:r>
            <a:endParaRPr lang="en-US" sz="2000" dirty="0"/>
          </a:p>
        </p:txBody>
      </p:sp>
      <p:sp>
        <p:nvSpPr>
          <p:cNvPr id="22" name="Role 3"/>
          <p:cNvSpPr txBox="1"/>
          <p:nvPr/>
        </p:nvSpPr>
        <p:spPr>
          <a:xfrm>
            <a:off x="8447837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Supply Chain Manager, China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中国供应链经理</a:t>
            </a:r>
            <a:endParaRPr lang="en-US" sz="1300" dirty="0"/>
          </a:p>
        </p:txBody>
      </p:sp>
      <p:sp>
        <p:nvSpPr>
          <p:cNvPr id="23" name="Divider 3"/>
          <p:cNvSpPr/>
          <p:nvPr/>
        </p:nvSpPr>
        <p:spPr>
          <a:xfrm>
            <a:off x="8447837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4" name="Visit role 3"/>
          <p:cNvSpPr txBox="1"/>
          <p:nvPr/>
        </p:nvSpPr>
        <p:spPr>
          <a:xfrm>
            <a:off x="8447837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Your local contact for orders, quality and follow-up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订单、品质与后续跟进的本地联系人</a:t>
            </a:r>
            <a:endParaRPr lang="en-US" sz="900" dirty="0"/>
          </a:p>
        </p:txBody>
      </p:sp>
      <p:sp>
        <p:nvSpPr>
          <p:cNvPr id="25" name="Team note"/>
          <p:cNvSpPr txBox="1"/>
          <p:nvPr/>
        </p:nvSpPr>
        <p:spPr>
          <a:xfrm>
            <a:off x="548640" y="59253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team, in the Netherlands and in China.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荷兰与中国，同一个团队。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we are visiting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本次拜访目的</a:t>
            </a:r>
            <a:endParaRPr lang="en-US" sz="2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804672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Step title 1"/>
          <p:cNvSpPr txBox="1"/>
          <p:nvPr/>
        </p:nvSpPr>
        <p:spPr>
          <a:xfrm>
            <a:off x="804672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Get to know each other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相互了解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804672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 introduce Wellshave, our customers and how we work.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 Wellshave、我们的客户和工作方式。</a:t>
            </a:r>
            <a:endParaRPr lang="en-US" sz="1300" dirty="0"/>
          </a:p>
        </p:txBody>
      </p:sp>
      <p:sp>
        <p:nvSpPr>
          <p:cNvPr id="8" name="Step card 2"/>
          <p:cNvSpPr/>
          <p:nvPr/>
        </p:nvSpPr>
        <p:spPr>
          <a:xfrm>
            <a:off x="3377108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9" name="Step number 2"/>
          <p:cNvSpPr txBox="1"/>
          <p:nvPr/>
        </p:nvSpPr>
        <p:spPr>
          <a:xfrm>
            <a:off x="3633140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10" name="Step title 2"/>
          <p:cNvSpPr txBox="1"/>
          <p:nvPr/>
        </p:nvSpPr>
        <p:spPr>
          <a:xfrm>
            <a:off x="3633140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current data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回顾当前数据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3633140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Sales, reviews and returns of the products we buy from you.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回顾我们向贵司采购产品的销量、评价和退货情况。</a:t>
            </a:r>
            <a:endParaRPr lang="en-US" sz="1300" dirty="0"/>
          </a:p>
        </p:txBody>
      </p:sp>
      <p:sp>
        <p:nvSpPr>
          <p:cNvPr id="12" name="Step card 3"/>
          <p:cNvSpPr/>
          <p:nvPr/>
        </p:nvSpPr>
        <p:spPr>
          <a:xfrm>
            <a:off x="6205576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13" name="Step number 3"/>
          <p:cNvSpPr txBox="1"/>
          <p:nvPr/>
        </p:nvSpPr>
        <p:spPr>
          <a:xfrm>
            <a:off x="6461608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4" name="Step title 3"/>
          <p:cNvSpPr txBox="1"/>
          <p:nvPr/>
        </p:nvSpPr>
        <p:spPr>
          <a:xfrm>
            <a:off x="6461608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Share our 2027 plans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 2027 年计划</a:t>
            </a:r>
            <a:endParaRPr lang="en-US" sz="1600" dirty="0"/>
          </a:p>
        </p:txBody>
      </p:sp>
      <p:sp>
        <p:nvSpPr>
          <p:cNvPr id="15" name="Step text 3"/>
          <p:cNvSpPr txBox="1"/>
          <p:nvPr/>
        </p:nvSpPr>
        <p:spPr>
          <a:xfrm>
            <a:off x="6461608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Our growth plans and what they mean for your factory.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我们的增长计划及其对贵厂的意义。</a:t>
            </a:r>
            <a:endParaRPr lang="en-US" sz="1300" dirty="0"/>
          </a:p>
        </p:txBody>
      </p:sp>
      <p:sp>
        <p:nvSpPr>
          <p:cNvPr id="16" name="Step card 4"/>
          <p:cNvSpPr/>
          <p:nvPr/>
        </p:nvSpPr>
        <p:spPr>
          <a:xfrm>
            <a:off x="9034043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17" name="Step number 4"/>
          <p:cNvSpPr txBox="1"/>
          <p:nvPr/>
        </p:nvSpPr>
        <p:spPr>
          <a:xfrm>
            <a:off x="9290075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8" name="Step title 4"/>
          <p:cNvSpPr txBox="1"/>
          <p:nvPr/>
        </p:nvSpPr>
        <p:spPr>
          <a:xfrm>
            <a:off x="9290075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Improve the range together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共同优化产品</a:t>
            </a:r>
            <a:endParaRPr lang="en-US" sz="1600" dirty="0"/>
          </a:p>
        </p:txBody>
      </p:sp>
      <p:sp>
        <p:nvSpPr>
          <p:cNvPr id="19" name="Step text 4"/>
          <p:cNvSpPr txBox="1"/>
          <p:nvPr/>
        </p:nvSpPr>
        <p:spPr>
          <a:xfrm>
            <a:off x="9290075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Better quality, better prices and new models.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更好的品质、更优的价格和新款产品。</a:t>
            </a:r>
            <a:endParaRPr lang="en-US" sz="1300" dirty="0"/>
          </a:p>
        </p:txBody>
      </p:sp>
      <p:sp>
        <p:nvSpPr>
          <p:cNvPr id="20" name="Outcome box"/>
          <p:cNvSpPr/>
          <p:nvPr/>
        </p:nvSpPr>
        <p:spPr>
          <a:xfrm>
            <a:off x="548640" y="5212080"/>
            <a:ext cx="11094415" cy="749808"/>
          </a:xfrm>
          <a:prstGeom prst="roundRect">
            <a:avLst>
              <a:gd name="adj" fmla="val 19512"/>
            </a:avLst>
          </a:prstGeom>
          <a:solidFill>
            <a:srgbClr val="EDE6DA"/>
          </a:solidFill>
          <a:ln/>
        </p:spPr>
      </p:sp>
      <p:pic>
        <p:nvPicPr>
          <p:cNvPr id="21" name="Outco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413248"/>
            <a:ext cx="347472" cy="347472"/>
          </a:xfrm>
          <a:prstGeom prst="rect">
            <a:avLst/>
          </a:prstGeom>
        </p:spPr>
      </p:pic>
      <p:sp>
        <p:nvSpPr>
          <p:cNvPr id="22" name="Outcome"/>
          <p:cNvSpPr txBox="1"/>
          <p:nvPr/>
        </p:nvSpPr>
        <p:spPr>
          <a:xfrm>
            <a:off x="1325880" y="532180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 good visit: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 leave with samples, your recommendations and clear next steps for 2027.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成功的拜访：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我们带着样品、您的建议和清晰的 2027 年下一步计划回去。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products at Wellshave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贵司产品在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Wellshave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的表现</a:t>
            </a:r>
            <a:endParaRPr lang="en-US" sz="2000" dirty="0"/>
          </a:p>
        </p:txBody>
      </p:sp>
      <p:sp>
        <p:nvSpPr>
          <p:cNvPr id="4" name="Product card 1"/>
          <p:cNvSpPr/>
          <p:nvPr/>
        </p:nvSpPr>
        <p:spPr>
          <a:xfrm>
            <a:off x="548640" y="1600200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5" name="Product photo 1" descr="Nose trimmers (7 model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728216"/>
            <a:ext cx="1082040" cy="1082040"/>
          </a:xfrm>
          <a:prstGeom prst="rect">
            <a:avLst/>
          </a:prstGeom>
        </p:spPr>
      </p:pic>
      <p:sp>
        <p:nvSpPr>
          <p:cNvPr id="6" name="Product text 1"/>
          <p:cNvSpPr txBox="1"/>
          <p:nvPr/>
        </p:nvSpPr>
        <p:spPr>
          <a:xfrm>
            <a:off x="1923288" y="1691640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Nose trimmers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鼻毛修剪器（7 款）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7 models · WS-NT1 / WS-NT2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25,627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2.1%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25,627  ·  退货率 2.1%</a:t>
            </a:r>
            <a:endParaRPr lang="en-US" sz="1250" dirty="0"/>
          </a:p>
        </p:txBody>
      </p:sp>
      <p:sp>
        <p:nvSpPr>
          <p:cNvPr id="7" name="Product card 2"/>
          <p:cNvSpPr/>
          <p:nvPr/>
        </p:nvSpPr>
        <p:spPr>
          <a:xfrm>
            <a:off x="4313834" y="1600200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8" name="Product photo 2" descr="Shaver Elite 4-in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850" y="1728216"/>
            <a:ext cx="1082040" cy="1082040"/>
          </a:xfrm>
          <a:prstGeom prst="rect">
            <a:avLst/>
          </a:prstGeom>
        </p:spPr>
      </p:pic>
      <p:sp>
        <p:nvSpPr>
          <p:cNvPr id="9" name="Product text 2"/>
          <p:cNvSpPr txBox="1"/>
          <p:nvPr/>
        </p:nvSpPr>
        <p:spPr>
          <a:xfrm>
            <a:off x="5688482" y="1691640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Shaver Elite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Elite 四合一剃须刀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8600 / WS-SA3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4,567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5.2%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4,567  ·  退货率 5.2%</a:t>
            </a:r>
            <a:endParaRPr lang="en-US" sz="1250" dirty="0"/>
          </a:p>
        </p:txBody>
      </p:sp>
      <p:sp>
        <p:nvSpPr>
          <p:cNvPr id="10" name="Product card 3"/>
          <p:cNvSpPr/>
          <p:nvPr/>
        </p:nvSpPr>
        <p:spPr>
          <a:xfrm>
            <a:off x="8079029" y="1600200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11" name="Product photo 3" descr="Beard Trimmer Supreme 6-in-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045" y="1728216"/>
            <a:ext cx="1082040" cy="1082040"/>
          </a:xfrm>
          <a:prstGeom prst="rect">
            <a:avLst/>
          </a:prstGeom>
        </p:spPr>
      </p:pic>
      <p:sp>
        <p:nvSpPr>
          <p:cNvPr id="12" name="Product text 3"/>
          <p:cNvSpPr txBox="1"/>
          <p:nvPr/>
        </p:nvSpPr>
        <p:spPr>
          <a:xfrm>
            <a:off x="9453677" y="1691640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Beard Trimmer Supreme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Supreme 六合一胡须修剪器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8988 / WS-BTG2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3,143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3.5%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3,143  ·  退货率 3.5%</a:t>
            </a:r>
            <a:endParaRPr lang="en-US" sz="1250" dirty="0"/>
          </a:p>
        </p:txBody>
      </p:sp>
      <p:sp>
        <p:nvSpPr>
          <p:cNvPr id="13" name="Product card 4"/>
          <p:cNvSpPr/>
          <p:nvPr/>
        </p:nvSpPr>
        <p:spPr>
          <a:xfrm>
            <a:off x="548640" y="3102864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14" name="Product photo 4" descr="Beard Trimmer Pro 5-in-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230880"/>
            <a:ext cx="1082040" cy="1082040"/>
          </a:xfrm>
          <a:prstGeom prst="rect">
            <a:avLst/>
          </a:prstGeom>
        </p:spPr>
      </p:pic>
      <p:sp>
        <p:nvSpPr>
          <p:cNvPr id="15" name="Product text 4"/>
          <p:cNvSpPr txBox="1"/>
          <p:nvPr/>
        </p:nvSpPr>
        <p:spPr>
          <a:xfrm>
            <a:off x="1923288" y="3194304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Beard Trimmer Pro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五合一胡须修剪器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8188 / WS-BTG1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2,179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4.3%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2,179  ·  退货率 4.3%</a:t>
            </a:r>
            <a:endParaRPr lang="en-US" sz="1250" dirty="0"/>
          </a:p>
        </p:txBody>
      </p:sp>
      <p:sp>
        <p:nvSpPr>
          <p:cNvPr id="16" name="Product card 5"/>
          <p:cNvSpPr/>
          <p:nvPr/>
        </p:nvSpPr>
        <p:spPr>
          <a:xfrm>
            <a:off x="4313834" y="3102864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17" name="Product photo 5" descr="Body Groomer Groom Gu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850" y="3230880"/>
            <a:ext cx="1082040" cy="1082040"/>
          </a:xfrm>
          <a:prstGeom prst="rect">
            <a:avLst/>
          </a:prstGeom>
        </p:spPr>
      </p:pic>
      <p:sp>
        <p:nvSpPr>
          <p:cNvPr id="18" name="Product text 5"/>
          <p:cNvSpPr txBox="1"/>
          <p:nvPr/>
        </p:nvSpPr>
        <p:spPr>
          <a:xfrm>
            <a:off x="5688482" y="3194304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Groom Guard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Groom Guard 身体修剪器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WS-BG1 / HT-6006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2,116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2.3%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2,116  ·  退货率 2.3%</a:t>
            </a:r>
            <a:endParaRPr lang="en-US" sz="1250" dirty="0"/>
          </a:p>
        </p:txBody>
      </p:sp>
      <p:sp>
        <p:nvSpPr>
          <p:cNvPr id="19" name="Product card 6"/>
          <p:cNvSpPr/>
          <p:nvPr/>
        </p:nvSpPr>
        <p:spPr>
          <a:xfrm>
            <a:off x="8079029" y="3102864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20" name="Product photo 6" descr="Head Shaver Delux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045" y="3230880"/>
            <a:ext cx="1082040" cy="1082040"/>
          </a:xfrm>
          <a:prstGeom prst="rect">
            <a:avLst/>
          </a:prstGeom>
        </p:spPr>
      </p:pic>
      <p:sp>
        <p:nvSpPr>
          <p:cNvPr id="21" name="Product text 6"/>
          <p:cNvSpPr txBox="1"/>
          <p:nvPr/>
        </p:nvSpPr>
        <p:spPr>
          <a:xfrm>
            <a:off x="9453677" y="3194304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Head Shaver Deluxe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Deluxe 光头剃须刀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WS-SA1 / JK-8588A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1,581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4.6%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1,581  ·  退货率 4.6%</a:t>
            </a:r>
            <a:endParaRPr lang="en-US" sz="1250" dirty="0"/>
          </a:p>
        </p:txBody>
      </p:sp>
      <p:sp>
        <p:nvSpPr>
          <p:cNvPr id="22" name="Product card 7"/>
          <p:cNvSpPr/>
          <p:nvPr/>
        </p:nvSpPr>
        <p:spPr>
          <a:xfrm>
            <a:off x="548640" y="4605528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23" name="Product photo 7" descr="Foil Shaver Blade Bar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4733544"/>
            <a:ext cx="1082040" cy="1082040"/>
          </a:xfrm>
          <a:prstGeom prst="rect">
            <a:avLst/>
          </a:prstGeom>
        </p:spPr>
      </p:pic>
      <p:sp>
        <p:nvSpPr>
          <p:cNvPr id="24" name="Product text 7"/>
          <p:cNvSpPr txBox="1"/>
          <p:nvPr/>
        </p:nvSpPr>
        <p:spPr>
          <a:xfrm>
            <a:off x="1923288" y="4696968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Blade Baron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Blade Baron 往复式剃须刀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FK-706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1,307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5.6%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1,307  ·  退货率 5.6%</a:t>
            </a:r>
            <a:endParaRPr lang="en-US" sz="1250" dirty="0"/>
          </a:p>
        </p:txBody>
      </p:sp>
      <p:sp>
        <p:nvSpPr>
          <p:cNvPr id="25" name="Product card 8"/>
          <p:cNvSpPr/>
          <p:nvPr/>
        </p:nvSpPr>
        <p:spPr>
          <a:xfrm>
            <a:off x="4313834" y="4605528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26" name="Product photo 8" descr="Body Groomer Flex Guar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1850" y="4733544"/>
            <a:ext cx="1082040" cy="1082040"/>
          </a:xfrm>
          <a:prstGeom prst="rect">
            <a:avLst/>
          </a:prstGeom>
        </p:spPr>
      </p:pic>
      <p:sp>
        <p:nvSpPr>
          <p:cNvPr id="27" name="Product text 8"/>
          <p:cNvSpPr txBox="1"/>
          <p:nvPr/>
        </p:nvSpPr>
        <p:spPr>
          <a:xfrm>
            <a:off x="5688482" y="4696968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Flex Guard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 Guard 身体修剪器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WS-BG3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1,135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5.2%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1,135  ·  退货率 5.2%</a:t>
            </a:r>
            <a:endParaRPr lang="en-US" sz="1250" dirty="0"/>
          </a:p>
        </p:txBody>
      </p:sp>
      <p:sp>
        <p:nvSpPr>
          <p:cNvPr id="28" name="Product card 9"/>
          <p:cNvSpPr/>
          <p:nvPr/>
        </p:nvSpPr>
        <p:spPr>
          <a:xfrm>
            <a:off x="8079029" y="4605528"/>
            <a:ext cx="3564026" cy="1338072"/>
          </a:xfrm>
          <a:prstGeom prst="roundRect">
            <a:avLst>
              <a:gd name="adj" fmla="val 10934"/>
            </a:avLst>
          </a:prstGeom>
          <a:solidFill>
            <a:srgbClr val="FFFFFF"/>
          </a:solidFill>
          <a:ln/>
        </p:spPr>
      </p:sp>
      <p:pic>
        <p:nvPicPr>
          <p:cNvPr id="29" name="Product photo 9" descr="G-Series clipper, Shave Package, spare head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7045" y="4733544"/>
            <a:ext cx="1082040" cy="1082040"/>
          </a:xfrm>
          <a:prstGeom prst="rect">
            <a:avLst/>
          </a:prstGeom>
        </p:spPr>
      </p:pic>
      <p:sp>
        <p:nvSpPr>
          <p:cNvPr id="30" name="Product text 9"/>
          <p:cNvSpPr txBox="1"/>
          <p:nvPr/>
        </p:nvSpPr>
        <p:spPr>
          <a:xfrm>
            <a:off x="9453677" y="4696968"/>
            <a:ext cx="209793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G-Series and more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G-Series 理发器及其他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Clipper, Shave Package, spare heads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1,786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sold  ·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4.1%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returns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 1,786  ·  退货率 4.1%</a:t>
            </a:r>
            <a:endParaRPr lang="en-US" sz="1250" dirty="0"/>
          </a:p>
        </p:txBody>
      </p:sp>
      <p:sp>
        <p:nvSpPr>
          <p:cNvPr id="31" name="Data source"/>
          <p:cNvSpPr txBox="1"/>
          <p:nvPr/>
        </p:nvSpPr>
        <p:spPr>
          <a:xfrm>
            <a:off x="548640" y="6016752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Total 43,441 units sold on bol.com, 1 January to 15 October 2026. Return rate counts all return reasons. Webshop sales not included. We share our 2027 forecast in the meeting.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43,441 件。数据来源：bol.com，2026年1月1日至10月15日。退货率包含所有退货原因，不含官网销量。2027年预测将在会议中分享。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Customer service: the battery is the #1 defect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售后数据：电池是头号故障</a:t>
            </a:r>
            <a:endParaRPr lang="en-US" sz="2000" dirty="0"/>
          </a:p>
        </p:txBody>
      </p:sp>
      <p:sp>
        <p:nvSpPr>
          <p:cNvPr id="4" name="Defect chart card"/>
          <p:cNvSpPr/>
          <p:nvPr/>
        </p:nvSpPr>
        <p:spPr>
          <a:xfrm>
            <a:off x="548640" y="1691640"/>
            <a:ext cx="7086600" cy="425196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/>
        </p:spPr>
      </p:sp>
      <p:sp>
        <p:nvSpPr>
          <p:cNvPr id="5" name="Legend swatch 1"/>
          <p:cNvSpPr/>
          <p:nvPr/>
        </p:nvSpPr>
        <p:spPr>
          <a:xfrm>
            <a:off x="822960" y="1938528"/>
            <a:ext cx="201168" cy="128016"/>
          </a:xfrm>
          <a:prstGeom prst="roundRect">
            <a:avLst>
              <a:gd name="adj" fmla="val 28571"/>
            </a:avLst>
          </a:prstGeom>
          <a:solidFill>
            <a:srgbClr val="B0742A"/>
          </a:solidFill>
          <a:ln/>
        </p:spPr>
      </p:sp>
      <p:sp>
        <p:nvSpPr>
          <p:cNvPr id="6" name="Legend 1"/>
          <p:cNvSpPr txBox="1"/>
          <p:nvPr/>
        </p:nvSpPr>
        <p:spPr>
          <a:xfrm>
            <a:off x="1097280" y="1892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Battery or charging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电池或充电</a:t>
            </a:r>
            <a:endParaRPr lang="en-US" sz="1000" dirty="0"/>
          </a:p>
        </p:txBody>
      </p:sp>
      <p:sp>
        <p:nvSpPr>
          <p:cNvPr id="7" name="Legend swatch 2"/>
          <p:cNvSpPr/>
          <p:nvPr/>
        </p:nvSpPr>
        <p:spPr>
          <a:xfrm>
            <a:off x="3474720" y="1938528"/>
            <a:ext cx="201168" cy="128016"/>
          </a:xfrm>
          <a:prstGeom prst="roundRect">
            <a:avLst>
              <a:gd name="adj" fmla="val 28571"/>
            </a:avLst>
          </a:prstGeom>
          <a:solidFill>
            <a:srgbClr val="EDE6DA"/>
          </a:solidFill>
          <a:ln/>
        </p:spPr>
      </p:sp>
      <p:sp>
        <p:nvSpPr>
          <p:cNvPr id="8" name="Legend 2"/>
          <p:cNvSpPr txBox="1"/>
          <p:nvPr/>
        </p:nvSpPr>
        <p:spPr>
          <a:xfrm>
            <a:off x="3749040" y="1892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Other defects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其他故障</a:t>
            </a:r>
            <a:endParaRPr lang="en-US" sz="1000" dirty="0"/>
          </a:p>
        </p:txBody>
      </p:sp>
      <p:sp>
        <p:nvSpPr>
          <p:cNvPr id="9" name="Defect label 1"/>
          <p:cNvSpPr txBox="1"/>
          <p:nvPr/>
        </p:nvSpPr>
        <p:spPr>
          <a:xfrm>
            <a:off x="822960" y="2258568"/>
            <a:ext cx="2057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Shaver Elite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Elite 四合一剃须刀</a:t>
            </a:r>
            <a:endParaRPr lang="en-US" sz="1050" dirty="0"/>
          </a:p>
        </p:txBody>
      </p:sp>
      <p:sp>
        <p:nvSpPr>
          <p:cNvPr id="10" name="Defect bar all 1"/>
          <p:cNvSpPr/>
          <p:nvPr/>
        </p:nvSpPr>
        <p:spPr>
          <a:xfrm>
            <a:off x="2971800" y="2371725"/>
            <a:ext cx="3520440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Defect bar battery 1"/>
          <p:cNvSpPr/>
          <p:nvPr/>
        </p:nvSpPr>
        <p:spPr>
          <a:xfrm>
            <a:off x="2971800" y="2371725"/>
            <a:ext cx="2412153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Defect count 1"/>
          <p:cNvSpPr txBox="1"/>
          <p:nvPr/>
        </p:nvSpPr>
        <p:spPr>
          <a:xfrm>
            <a:off x="6583680" y="2258568"/>
            <a:ext cx="8229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37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/ 54</a:t>
            </a:r>
            <a:endParaRPr lang="en-US" sz="1150" dirty="0"/>
          </a:p>
        </p:txBody>
      </p:sp>
      <p:sp>
        <p:nvSpPr>
          <p:cNvPr id="13" name="Defect label 2"/>
          <p:cNvSpPr txBox="1"/>
          <p:nvPr/>
        </p:nvSpPr>
        <p:spPr>
          <a:xfrm>
            <a:off x="822960" y="2704338"/>
            <a:ext cx="2057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Head Shaver Deluxe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Deluxe 光头剃须刀</a:t>
            </a:r>
            <a:endParaRPr lang="en-US" sz="1050" dirty="0"/>
          </a:p>
        </p:txBody>
      </p:sp>
      <p:sp>
        <p:nvSpPr>
          <p:cNvPr id="14" name="Defect bar all 2"/>
          <p:cNvSpPr/>
          <p:nvPr/>
        </p:nvSpPr>
        <p:spPr>
          <a:xfrm>
            <a:off x="2971800" y="2817495"/>
            <a:ext cx="2542540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Defect bar battery 2"/>
          <p:cNvSpPr/>
          <p:nvPr/>
        </p:nvSpPr>
        <p:spPr>
          <a:xfrm>
            <a:off x="2971800" y="2817495"/>
            <a:ext cx="1825413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Defect count 2"/>
          <p:cNvSpPr txBox="1"/>
          <p:nvPr/>
        </p:nvSpPr>
        <p:spPr>
          <a:xfrm>
            <a:off x="5605780" y="2704338"/>
            <a:ext cx="8229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28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/ 39</a:t>
            </a:r>
            <a:endParaRPr lang="en-US" sz="1150" dirty="0"/>
          </a:p>
        </p:txBody>
      </p:sp>
      <p:sp>
        <p:nvSpPr>
          <p:cNvPr id="17" name="Defect label 3"/>
          <p:cNvSpPr txBox="1"/>
          <p:nvPr/>
        </p:nvSpPr>
        <p:spPr>
          <a:xfrm>
            <a:off x="822960" y="3150108"/>
            <a:ext cx="2057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Groom Guard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Groom Guard 身体修剪器</a:t>
            </a:r>
            <a:endParaRPr lang="en-US" sz="1050" dirty="0"/>
          </a:p>
        </p:txBody>
      </p:sp>
      <p:sp>
        <p:nvSpPr>
          <p:cNvPr id="18" name="Defect bar all 3"/>
          <p:cNvSpPr/>
          <p:nvPr/>
        </p:nvSpPr>
        <p:spPr>
          <a:xfrm>
            <a:off x="2971800" y="3263265"/>
            <a:ext cx="2281767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Defect bar battery 3"/>
          <p:cNvSpPr/>
          <p:nvPr/>
        </p:nvSpPr>
        <p:spPr>
          <a:xfrm>
            <a:off x="2971800" y="3263265"/>
            <a:ext cx="1760220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Defect count 3"/>
          <p:cNvSpPr txBox="1"/>
          <p:nvPr/>
        </p:nvSpPr>
        <p:spPr>
          <a:xfrm>
            <a:off x="5345007" y="3150108"/>
            <a:ext cx="8229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27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/ 35</a:t>
            </a:r>
            <a:endParaRPr lang="en-US" sz="1150" dirty="0"/>
          </a:p>
        </p:txBody>
      </p:sp>
      <p:sp>
        <p:nvSpPr>
          <p:cNvPr id="21" name="Defect label 4"/>
          <p:cNvSpPr txBox="1"/>
          <p:nvPr/>
        </p:nvSpPr>
        <p:spPr>
          <a:xfrm>
            <a:off x="822960" y="3595878"/>
            <a:ext cx="2057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Beard Trimmer Supreme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Supreme 六合一胡须修剪器</a:t>
            </a:r>
            <a:endParaRPr lang="en-US" sz="1050" dirty="0"/>
          </a:p>
        </p:txBody>
      </p:sp>
      <p:sp>
        <p:nvSpPr>
          <p:cNvPr id="22" name="Defect bar all 4"/>
          <p:cNvSpPr/>
          <p:nvPr/>
        </p:nvSpPr>
        <p:spPr>
          <a:xfrm>
            <a:off x="2971800" y="3709035"/>
            <a:ext cx="2346960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Defect bar battery 4"/>
          <p:cNvSpPr/>
          <p:nvPr/>
        </p:nvSpPr>
        <p:spPr>
          <a:xfrm>
            <a:off x="2971800" y="3709035"/>
            <a:ext cx="1695027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Defect count 4"/>
          <p:cNvSpPr txBox="1"/>
          <p:nvPr/>
        </p:nvSpPr>
        <p:spPr>
          <a:xfrm>
            <a:off x="5410200" y="3595878"/>
            <a:ext cx="8229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26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/ 36</a:t>
            </a:r>
            <a:endParaRPr lang="en-US" sz="1150" dirty="0"/>
          </a:p>
        </p:txBody>
      </p:sp>
      <p:sp>
        <p:nvSpPr>
          <p:cNvPr id="25" name="Defect label 5"/>
          <p:cNvSpPr txBox="1"/>
          <p:nvPr/>
        </p:nvSpPr>
        <p:spPr>
          <a:xfrm>
            <a:off x="822960" y="4041648"/>
            <a:ext cx="2057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Nose trimmers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鼻毛修剪器（7 款）</a:t>
            </a:r>
            <a:endParaRPr lang="en-US" sz="1050" dirty="0"/>
          </a:p>
        </p:txBody>
      </p:sp>
      <p:sp>
        <p:nvSpPr>
          <p:cNvPr id="26" name="Defect bar all 5"/>
          <p:cNvSpPr/>
          <p:nvPr/>
        </p:nvSpPr>
        <p:spPr>
          <a:xfrm>
            <a:off x="2971800" y="4154805"/>
            <a:ext cx="2020993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" name="Defect bar battery 5"/>
          <p:cNvSpPr/>
          <p:nvPr/>
        </p:nvSpPr>
        <p:spPr>
          <a:xfrm>
            <a:off x="2971800" y="4154805"/>
            <a:ext cx="1043093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Defect count 5"/>
          <p:cNvSpPr txBox="1"/>
          <p:nvPr/>
        </p:nvSpPr>
        <p:spPr>
          <a:xfrm>
            <a:off x="5084233" y="4041648"/>
            <a:ext cx="8229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16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/ 31</a:t>
            </a:r>
            <a:endParaRPr lang="en-US" sz="1150" dirty="0"/>
          </a:p>
        </p:txBody>
      </p:sp>
      <p:sp>
        <p:nvSpPr>
          <p:cNvPr id="29" name="Defect label 6"/>
          <p:cNvSpPr txBox="1"/>
          <p:nvPr/>
        </p:nvSpPr>
        <p:spPr>
          <a:xfrm>
            <a:off x="822960" y="4487418"/>
            <a:ext cx="2057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Beard Trimmer Pro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五合一胡须修剪器</a:t>
            </a:r>
            <a:endParaRPr lang="en-US" sz="1050" dirty="0"/>
          </a:p>
        </p:txBody>
      </p:sp>
      <p:sp>
        <p:nvSpPr>
          <p:cNvPr id="30" name="Defect bar all 6"/>
          <p:cNvSpPr/>
          <p:nvPr/>
        </p:nvSpPr>
        <p:spPr>
          <a:xfrm>
            <a:off x="2971800" y="4600575"/>
            <a:ext cx="977900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" name="Defect bar battery 6"/>
          <p:cNvSpPr/>
          <p:nvPr/>
        </p:nvSpPr>
        <p:spPr>
          <a:xfrm>
            <a:off x="2971800" y="4600575"/>
            <a:ext cx="651933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Defect count 6"/>
          <p:cNvSpPr txBox="1"/>
          <p:nvPr/>
        </p:nvSpPr>
        <p:spPr>
          <a:xfrm>
            <a:off x="4041140" y="4487418"/>
            <a:ext cx="8229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/ 15</a:t>
            </a:r>
            <a:endParaRPr lang="en-US" sz="1150" dirty="0"/>
          </a:p>
        </p:txBody>
      </p:sp>
      <p:sp>
        <p:nvSpPr>
          <p:cNvPr id="33" name="Defect label 7"/>
          <p:cNvSpPr txBox="1"/>
          <p:nvPr/>
        </p:nvSpPr>
        <p:spPr>
          <a:xfrm>
            <a:off x="822960" y="4933188"/>
            <a:ext cx="2057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Flex Guard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 Guard 身体修剪器</a:t>
            </a:r>
            <a:endParaRPr lang="en-US" sz="1050" dirty="0"/>
          </a:p>
        </p:txBody>
      </p:sp>
      <p:sp>
        <p:nvSpPr>
          <p:cNvPr id="34" name="Defect bar all 7"/>
          <p:cNvSpPr/>
          <p:nvPr/>
        </p:nvSpPr>
        <p:spPr>
          <a:xfrm>
            <a:off x="2971800" y="5046345"/>
            <a:ext cx="260773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" name="Defect bar battery 7"/>
          <p:cNvSpPr/>
          <p:nvPr/>
        </p:nvSpPr>
        <p:spPr>
          <a:xfrm>
            <a:off x="2971800" y="5046345"/>
            <a:ext cx="130387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Defect count 7"/>
          <p:cNvSpPr txBox="1"/>
          <p:nvPr/>
        </p:nvSpPr>
        <p:spPr>
          <a:xfrm>
            <a:off x="3324013" y="4933188"/>
            <a:ext cx="8229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/ 4</a:t>
            </a:r>
            <a:endParaRPr lang="en-US" sz="1150" dirty="0"/>
          </a:p>
        </p:txBody>
      </p:sp>
      <p:sp>
        <p:nvSpPr>
          <p:cNvPr id="37" name="Defect label 8"/>
          <p:cNvSpPr txBox="1"/>
          <p:nvPr/>
        </p:nvSpPr>
        <p:spPr>
          <a:xfrm>
            <a:off x="822960" y="5378958"/>
            <a:ext cx="20574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Blade Baron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Blade Baron 往复式剃须刀</a:t>
            </a:r>
            <a:endParaRPr lang="en-US" sz="1050" dirty="0"/>
          </a:p>
        </p:txBody>
      </p:sp>
      <p:sp>
        <p:nvSpPr>
          <p:cNvPr id="38" name="Defect bar all 8"/>
          <p:cNvSpPr/>
          <p:nvPr/>
        </p:nvSpPr>
        <p:spPr>
          <a:xfrm>
            <a:off x="2971800" y="5492115"/>
            <a:ext cx="73152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9" name="Defect count 8"/>
          <p:cNvSpPr txBox="1"/>
          <p:nvPr/>
        </p:nvSpPr>
        <p:spPr>
          <a:xfrm>
            <a:off x="3136392" y="5378958"/>
            <a:ext cx="8229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/ 1</a:t>
            </a:r>
            <a:endParaRPr lang="en-US" sz="1150" dirty="0"/>
          </a:p>
        </p:txBody>
      </p:sp>
      <p:sp>
        <p:nvSpPr>
          <p:cNvPr id="40" name="Defect stat 1"/>
          <p:cNvSpPr/>
          <p:nvPr/>
        </p:nvSpPr>
        <p:spPr>
          <a:xfrm>
            <a:off x="7909560" y="1691640"/>
            <a:ext cx="3733495" cy="1307592"/>
          </a:xfrm>
          <a:prstGeom prst="roundRect">
            <a:avLst>
              <a:gd name="adj" fmla="val 11189"/>
            </a:avLst>
          </a:prstGeom>
          <a:solidFill>
            <a:srgbClr val="191816"/>
          </a:solidFill>
          <a:ln/>
        </p:spPr>
      </p:sp>
      <p:sp>
        <p:nvSpPr>
          <p:cNvPr id="41" name="Defect stat text 1"/>
          <p:cNvSpPr txBox="1"/>
          <p:nvPr/>
        </p:nvSpPr>
        <p:spPr>
          <a:xfrm>
            <a:off x="8138160" y="1801368"/>
            <a:ext cx="332201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accent2"/>
                </a:solidFill>
              </a:rPr>
              <a:t>68%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146 of 215 defect reports are about the battery or charging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215 起故障报告中有 146 起与电池或充电有关</a:t>
            </a:r>
            <a:endParaRPr lang="en-US" sz="2600" dirty="0"/>
          </a:p>
        </p:txBody>
      </p:sp>
      <p:sp>
        <p:nvSpPr>
          <p:cNvPr id="42" name="Defect stat 2"/>
          <p:cNvSpPr/>
          <p:nvPr/>
        </p:nvSpPr>
        <p:spPr>
          <a:xfrm>
            <a:off x="7909560" y="3163824"/>
            <a:ext cx="3733495" cy="1307592"/>
          </a:xfrm>
          <a:prstGeom prst="roundRect">
            <a:avLst>
              <a:gd name="adj" fmla="val 11189"/>
            </a:avLst>
          </a:prstGeom>
          <a:solidFill>
            <a:srgbClr val="FFFFFF"/>
          </a:solidFill>
          <a:ln/>
        </p:spPr>
      </p:sp>
      <p:sp>
        <p:nvSpPr>
          <p:cNvPr id="43" name="Defect stat text 2"/>
          <p:cNvSpPr txBox="1"/>
          <p:nvPr/>
        </p:nvSpPr>
        <p:spPr>
          <a:xfrm>
            <a:off x="8138160" y="3273552"/>
            <a:ext cx="332201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5 to 13 months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median time from purchase to a battery report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从购买到电池故障的中位时间</a:t>
            </a:r>
            <a:endParaRPr lang="en-US" sz="2600" dirty="0"/>
          </a:p>
        </p:txBody>
      </p:sp>
      <p:sp>
        <p:nvSpPr>
          <p:cNvPr id="44" name="Defect stat 3"/>
          <p:cNvSpPr/>
          <p:nvPr/>
        </p:nvSpPr>
        <p:spPr>
          <a:xfrm>
            <a:off x="7909560" y="4636008"/>
            <a:ext cx="3733495" cy="1307592"/>
          </a:xfrm>
          <a:prstGeom prst="roundRect">
            <a:avLst>
              <a:gd name="adj" fmla="val 11189"/>
            </a:avLst>
          </a:prstGeom>
          <a:solidFill>
            <a:srgbClr val="FFFFFF"/>
          </a:solidFill>
          <a:ln/>
        </p:spPr>
      </p:sp>
      <p:sp>
        <p:nvSpPr>
          <p:cNvPr id="45" name="Defect stat text 3"/>
          <p:cNvSpPr txBox="1"/>
          <p:nvPr/>
        </p:nvSpPr>
        <p:spPr>
          <a:xfrm>
            <a:off x="8138160" y="4745736"/>
            <a:ext cx="332201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97%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of reports: we send the customer a new device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的报告需要为客户寄送新机</a:t>
            </a:r>
            <a:endParaRPr lang="en-US" sz="2600" dirty="0"/>
          </a:p>
        </p:txBody>
      </p:sp>
      <p:sp>
        <p:nvSpPr>
          <p:cNvPr id="46" name="Defect source"/>
          <p:cNvSpPr txBox="1"/>
          <p:nvPr/>
        </p:nvSpPr>
        <p:spPr>
          <a:xfrm>
            <a:off x="548640" y="6016752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Source: Wellshave customer service defect log, 1 January to 15 October 2026, webshop and bol.com customers. Category taken from the customer's complaint.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数据来源：Wellshave 售后故障记录，2026年1月1日至10月15日，含官网和 bol.com 客户。类别依据客户的投诉内容划分。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Product focus: Shaver Elite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产品聚焦：Elite 剃须刀</a:t>
            </a:r>
            <a:endParaRPr lang="en-US" sz="2000" dirty="0"/>
          </a:p>
        </p:txBody>
      </p:sp>
      <p:sp>
        <p:nvSpPr>
          <p:cNvPr id="4" name="Product photo card"/>
          <p:cNvSpPr/>
          <p:nvPr/>
        </p:nvSpPr>
        <p:spPr>
          <a:xfrm>
            <a:off x="548640" y="1600200"/>
            <a:ext cx="3886200" cy="43434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/>
        </p:spPr>
      </p:sp>
      <p:pic>
        <p:nvPicPr>
          <p:cNvPr id="5" name="Product photo" descr="Shaver Elite 4-i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1368"/>
            <a:ext cx="2926080" cy="2926080"/>
          </a:xfrm>
          <a:prstGeom prst="rect">
            <a:avLst/>
          </a:prstGeom>
        </p:spPr>
      </p:pic>
      <p:sp>
        <p:nvSpPr>
          <p:cNvPr id="6" name="Model"/>
          <p:cNvSpPr txBox="1"/>
          <p:nvPr/>
        </p:nvSpPr>
        <p:spPr>
          <a:xfrm>
            <a:off x="731520" y="48188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Model  </a:t>
            </a:r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8600 / WS-SA3</a:t>
            </a:r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型号</a:t>
            </a:r>
            <a:endParaRPr lang="en-US" sz="1050" dirty="0"/>
          </a:p>
        </p:txBody>
      </p:sp>
      <p:sp>
        <p:nvSpPr>
          <p:cNvPr id="7" name="Product stat 1"/>
          <p:cNvSpPr txBox="1"/>
          <p:nvPr/>
        </p:nvSpPr>
        <p:spPr>
          <a:xfrm>
            <a:off x="685800" y="5148072"/>
            <a:ext cx="1203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4,567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sold in 2026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年销量</a:t>
            </a:r>
            <a:endParaRPr lang="en-US" sz="1900" dirty="0"/>
          </a:p>
        </p:txBody>
      </p:sp>
      <p:sp>
        <p:nvSpPr>
          <p:cNvPr id="8" name="Product stat 2"/>
          <p:cNvSpPr txBox="1"/>
          <p:nvPr/>
        </p:nvSpPr>
        <p:spPr>
          <a:xfrm>
            <a:off x="1889760" y="5148072"/>
            <a:ext cx="1203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5.2%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return rate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</a:t>
            </a:r>
            <a:endParaRPr lang="en-US" sz="1900" dirty="0"/>
          </a:p>
        </p:txBody>
      </p:sp>
      <p:sp>
        <p:nvSpPr>
          <p:cNvPr id="9" name="Product stat 3"/>
          <p:cNvSpPr txBox="1"/>
          <p:nvPr/>
        </p:nvSpPr>
        <p:spPr>
          <a:xfrm>
            <a:off x="3093720" y="5148072"/>
            <a:ext cx="1203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54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defect reports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故障报告</a:t>
            </a:r>
            <a:endParaRPr lang="en-US" sz="1900" dirty="0"/>
          </a:p>
        </p:txBody>
      </p:sp>
      <p:sp>
        <p:nvSpPr>
          <p:cNvPr id="10" name="Focus elite"/>
          <p:cNvSpPr/>
          <p:nvPr/>
        </p:nvSpPr>
        <p:spPr>
          <a:xfrm>
            <a:off x="4709160" y="1600200"/>
            <a:ext cx="6933895" cy="2057400"/>
          </a:xfrm>
          <a:prstGeom prst="roundRect">
            <a:avLst>
              <a:gd name="adj" fmla="val 7111"/>
            </a:avLst>
          </a:prstGeom>
          <a:solidFill>
            <a:srgbClr val="191816"/>
          </a:solidFill>
          <a:ln/>
        </p:spPr>
      </p:sp>
      <p:sp>
        <p:nvSpPr>
          <p:cNvPr id="11" name="Focus badge elite"/>
          <p:cNvSpPr/>
          <p:nvPr/>
        </p:nvSpPr>
        <p:spPr>
          <a:xfrm>
            <a:off x="4937760" y="18288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Focus icon elit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146" y="1942186"/>
            <a:ext cx="340157" cy="340157"/>
          </a:xfrm>
          <a:prstGeom prst="rect">
            <a:avLst/>
          </a:prstGeom>
        </p:spPr>
      </p:pic>
      <p:sp>
        <p:nvSpPr>
          <p:cNvPr id="13" name="Focus head elite"/>
          <p:cNvSpPr txBox="1"/>
          <p:nvPr/>
        </p:nvSpPr>
        <p:spPr>
          <a:xfrm>
            <a:off x="5733288" y="1801368"/>
            <a:ext cx="56811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BATTERY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电池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Battery fails: 37 of 54 defect reports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电池故障：54 起故障报告中有 37 起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3"/>
                </a:solidFill>
              </a:rPr>
              <a:t>Typically 5 months after purchase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通常在购买后约 5 个月</a:t>
            </a:r>
            <a:endParaRPr lang="en-US" sz="1000" dirty="0"/>
          </a:p>
        </p:txBody>
      </p:sp>
      <p:sp>
        <p:nvSpPr>
          <p:cNvPr id="14" name="Focus quote rule elite 1"/>
          <p:cNvSpPr/>
          <p:nvPr/>
        </p:nvSpPr>
        <p:spPr>
          <a:xfrm>
            <a:off x="4937760" y="2843784"/>
            <a:ext cx="0" cy="63093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" name="Focus quote elite 1"/>
          <p:cNvSpPr txBox="1"/>
          <p:nvPr/>
        </p:nvSpPr>
        <p:spPr>
          <a:xfrm>
            <a:off x="5056632" y="2807208"/>
            <a:ext cx="188762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1"/>
                </a:solidFill>
              </a:rPr>
              <a:t>“Battery shows 99%, but the shaver does nothing.”</a:t>
            </a:r>
            <a:br/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电量显示 99%，但剃须刀完全不工作。</a:t>
            </a:r>
            <a:endParaRPr lang="en-US" sz="1000" dirty="0"/>
          </a:p>
        </p:txBody>
      </p:sp>
      <p:sp>
        <p:nvSpPr>
          <p:cNvPr id="16" name="Focus quote rule elite 2"/>
          <p:cNvSpPr/>
          <p:nvPr/>
        </p:nvSpPr>
        <p:spPr>
          <a:xfrm>
            <a:off x="7172858" y="2843784"/>
            <a:ext cx="0" cy="63093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" name="Focus quote elite 2"/>
          <p:cNvSpPr txBox="1"/>
          <p:nvPr/>
        </p:nvSpPr>
        <p:spPr>
          <a:xfrm>
            <a:off x="7291730" y="2807208"/>
            <a:ext cx="188762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1"/>
                </a:solidFill>
              </a:rPr>
              <a:t>“After two hours of charging, the battery lasts two minutes.”</a:t>
            </a:r>
            <a:br/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充电两个小时，只能用两分钟。</a:t>
            </a:r>
            <a:endParaRPr lang="en-US" sz="1000" dirty="0"/>
          </a:p>
        </p:txBody>
      </p:sp>
      <p:sp>
        <p:nvSpPr>
          <p:cNvPr id="18" name="Focus quote rule elite 3"/>
          <p:cNvSpPr/>
          <p:nvPr/>
        </p:nvSpPr>
        <p:spPr>
          <a:xfrm>
            <a:off x="9407957" y="2843784"/>
            <a:ext cx="0" cy="63093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9" name="Focus quote elite 3"/>
          <p:cNvSpPr txBox="1"/>
          <p:nvPr/>
        </p:nvSpPr>
        <p:spPr>
          <a:xfrm>
            <a:off x="9526829" y="2807208"/>
            <a:ext cx="188762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1"/>
                </a:solidFill>
              </a:rPr>
              <a:t>“While charging I heard a pop and smelled burning. Now it does nothing.”</a:t>
            </a:r>
            <a:br/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充电时听到“砰”的一声，闻到焦味，之后完全不能用了。</a:t>
            </a:r>
            <a:endParaRPr lang="en-US" sz="1000" dirty="0"/>
          </a:p>
        </p:txBody>
      </p:sp>
      <p:sp>
        <p:nvSpPr>
          <p:cNvPr id="20" name="List head elite 1"/>
          <p:cNvSpPr txBox="1"/>
          <p:nvPr/>
        </p:nvSpPr>
        <p:spPr>
          <a:xfrm>
            <a:off x="4709160" y="3785616"/>
            <a:ext cx="332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6"/>
                </a:solidFill>
              </a:rPr>
              <a:t>DEFECT REPORTS</a:t>
            </a:r>
            <a:pPr indent="0" marL="0">
              <a:buNone/>
            </a:pPr>
            <a:r>
              <a:rPr lang="en-US" sz="9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售后故障</a:t>
            </a:r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   54</a:t>
            </a:r>
            <a:endParaRPr lang="en-US" sz="950" dirty="0"/>
          </a:p>
        </p:txBody>
      </p:sp>
      <p:sp>
        <p:nvSpPr>
          <p:cNvPr id="21" name="List count elite 1 1"/>
          <p:cNvSpPr txBox="1"/>
          <p:nvPr/>
        </p:nvSpPr>
        <p:spPr>
          <a:xfrm>
            <a:off x="4709160" y="40142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37</a:t>
            </a:r>
            <a:endParaRPr lang="en-US" sz="1600" dirty="0"/>
          </a:p>
        </p:txBody>
      </p:sp>
      <p:sp>
        <p:nvSpPr>
          <p:cNvPr id="22" name="List item elite 1 1"/>
          <p:cNvSpPr txBox="1"/>
          <p:nvPr/>
        </p:nvSpPr>
        <p:spPr>
          <a:xfrm>
            <a:off x="5212080" y="4014216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Battery or charging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1100" dirty="0"/>
          </a:p>
        </p:txBody>
      </p:sp>
      <p:sp>
        <p:nvSpPr>
          <p:cNvPr id="23" name="List count elite 1 2"/>
          <p:cNvSpPr txBox="1"/>
          <p:nvPr/>
        </p:nvSpPr>
        <p:spPr>
          <a:xfrm>
            <a:off x="4709160" y="4361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en-US" sz="1600" dirty="0"/>
          </a:p>
        </p:txBody>
      </p:sp>
      <p:sp>
        <p:nvSpPr>
          <p:cNvPr id="24" name="List item elite 1 2"/>
          <p:cNvSpPr txBox="1"/>
          <p:nvPr/>
        </p:nvSpPr>
        <p:spPr>
          <a:xfrm>
            <a:off x="5212080" y="4361688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Won't start, cuts out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无法启动或断电</a:t>
            </a:r>
            <a:endParaRPr lang="en-US" sz="1100" dirty="0"/>
          </a:p>
        </p:txBody>
      </p:sp>
      <p:sp>
        <p:nvSpPr>
          <p:cNvPr id="25" name="List count elite 1 3"/>
          <p:cNvSpPr txBox="1"/>
          <p:nvPr/>
        </p:nvSpPr>
        <p:spPr>
          <a:xfrm>
            <a:off x="4709160" y="47091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List item elite 1 3"/>
          <p:cNvSpPr txBox="1"/>
          <p:nvPr/>
        </p:nvSpPr>
        <p:spPr>
          <a:xfrm>
            <a:off x="5212080" y="4709160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Head or parts break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刀头或部件损坏</a:t>
            </a:r>
            <a:endParaRPr lang="en-US" sz="1100" dirty="0"/>
          </a:p>
        </p:txBody>
      </p:sp>
      <p:sp>
        <p:nvSpPr>
          <p:cNvPr id="27" name="List head elite 2"/>
          <p:cNvSpPr txBox="1"/>
          <p:nvPr/>
        </p:nvSpPr>
        <p:spPr>
          <a:xfrm>
            <a:off x="8313268" y="3785616"/>
            <a:ext cx="332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6"/>
                </a:solidFill>
              </a:rPr>
              <a:t>BOL.COM REVIEWS</a:t>
            </a:r>
            <a:pPr indent="0" marL="0">
              <a:buNone/>
            </a:pPr>
            <a:r>
              <a:rPr lang="en-US" sz="9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差评</a:t>
            </a:r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   28</a:t>
            </a:r>
            <a:endParaRPr lang="en-US" sz="950" dirty="0"/>
          </a:p>
        </p:txBody>
      </p:sp>
      <p:sp>
        <p:nvSpPr>
          <p:cNvPr id="28" name="List count elite 2 1"/>
          <p:cNvSpPr txBox="1"/>
          <p:nvPr/>
        </p:nvSpPr>
        <p:spPr>
          <a:xfrm>
            <a:off x="8313268" y="40142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22</a:t>
            </a:r>
            <a:endParaRPr lang="en-US" sz="1600" dirty="0"/>
          </a:p>
        </p:txBody>
      </p:sp>
      <p:sp>
        <p:nvSpPr>
          <p:cNvPr id="29" name="List item elite 2 1"/>
          <p:cNvSpPr txBox="1"/>
          <p:nvPr/>
        </p:nvSpPr>
        <p:spPr>
          <a:xfrm>
            <a:off x="8816188" y="4014216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Pulls hairs, not close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剃不干净，拉扯胡须</a:t>
            </a:r>
            <a:endParaRPr lang="en-US" sz="1100" dirty="0"/>
          </a:p>
        </p:txBody>
      </p:sp>
      <p:sp>
        <p:nvSpPr>
          <p:cNvPr id="30" name="List count elite 2 2"/>
          <p:cNvSpPr txBox="1"/>
          <p:nvPr/>
        </p:nvSpPr>
        <p:spPr>
          <a:xfrm>
            <a:off x="8313268" y="4361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List item elite 2 2"/>
          <p:cNvSpPr txBox="1"/>
          <p:nvPr/>
        </p:nvSpPr>
        <p:spPr>
          <a:xfrm>
            <a:off x="8816188" y="4361688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Head loose or broken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刀头松动或损坏</a:t>
            </a:r>
            <a:endParaRPr lang="en-US" sz="1100" dirty="0"/>
          </a:p>
        </p:txBody>
      </p:sp>
      <p:sp>
        <p:nvSpPr>
          <p:cNvPr id="32" name="List count elite 2 3"/>
          <p:cNvSpPr txBox="1"/>
          <p:nvPr/>
        </p:nvSpPr>
        <p:spPr>
          <a:xfrm>
            <a:off x="8313268" y="47091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List item elite 2 3"/>
          <p:cNvSpPr txBox="1"/>
          <p:nvPr/>
        </p:nvSpPr>
        <p:spPr>
          <a:xfrm>
            <a:off x="8816188" y="4709160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Battery and charging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电池与充电</a:t>
            </a:r>
            <a:endParaRPr lang="en-US" sz="1100" dirty="0"/>
          </a:p>
        </p:txBody>
      </p:sp>
      <p:sp>
        <p:nvSpPr>
          <p:cNvPr id="34" name="Ask card"/>
          <p:cNvSpPr/>
          <p:nvPr/>
        </p:nvSpPr>
        <p:spPr>
          <a:xfrm>
            <a:off x="4709160" y="5166360"/>
            <a:ext cx="6933895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/>
        </p:spPr>
      </p:sp>
      <p:sp>
        <p:nvSpPr>
          <p:cNvPr id="35" name="Ask head"/>
          <p:cNvSpPr txBox="1"/>
          <p:nvPr/>
        </p:nvSpPr>
        <p:spPr>
          <a:xfrm>
            <a:off x="4937760" y="5276088"/>
            <a:ext cx="6476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OUR ASK</a:t>
            </a:r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我们的期望</a:t>
            </a:r>
            <a:endParaRPr lang="en-US" sz="950" dirty="0"/>
          </a:p>
        </p:txBody>
      </p:sp>
      <p:sp>
        <p:nvSpPr>
          <p:cNvPr id="36" name="Ask 1"/>
          <p:cNvSpPr txBox="1"/>
          <p:nvPr/>
        </p:nvSpPr>
        <p:spPr>
          <a:xfrm>
            <a:off x="4937760" y="5477256"/>
            <a:ext cx="2036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Battery that lasts years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经久耐用的电池</a:t>
            </a:r>
            <a:endParaRPr lang="en-US" sz="1100" dirty="0"/>
          </a:p>
        </p:txBody>
      </p:sp>
      <p:sp>
        <p:nvSpPr>
          <p:cNvPr id="37" name="Ask 2"/>
          <p:cNvSpPr txBox="1"/>
          <p:nvPr/>
        </p:nvSpPr>
        <p:spPr>
          <a:xfrm>
            <a:off x="7157618" y="5477256"/>
            <a:ext cx="2036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More power, closer shave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更强动力，剃得更干净</a:t>
            </a:r>
            <a:endParaRPr lang="en-US" sz="1100" dirty="0"/>
          </a:p>
        </p:txBody>
      </p:sp>
      <p:sp>
        <p:nvSpPr>
          <p:cNvPr id="38" name="Ask 3"/>
          <p:cNvSpPr txBox="1"/>
          <p:nvPr/>
        </p:nvSpPr>
        <p:spPr>
          <a:xfrm>
            <a:off x="9377477" y="5477256"/>
            <a:ext cx="2036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Fixed-cable adapter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线缆固定的一体式适配器</a:t>
            </a:r>
            <a:endParaRPr lang="en-US" sz="1100" dirty="0"/>
          </a:p>
        </p:txBody>
      </p:sp>
      <p:sp>
        <p:nvSpPr>
          <p:cNvPr id="39" name="Review source"/>
          <p:cNvSpPr txBox="1"/>
          <p:nvPr/>
        </p:nvSpPr>
        <p:spPr>
          <a:xfrm>
            <a:off x="548640" y="6016752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Sources: bol.com sales, returns and 1 to 3 star reviews; Wellshave customer service defect log. All 1 January to 15 October 2026. Quotes translated from Dutch.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数据来源：bol.com 销量、退货及 1 至 3 星评价；Wellshave 售后故障记录。时间均为 2026 年 1 月 1 日至 10 月 15 日。引文译自荷兰语。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Product focus: nose trimmers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产品聚焦：鼻毛修剪器</a:t>
            </a:r>
            <a:endParaRPr lang="en-US" sz="2000" dirty="0"/>
          </a:p>
        </p:txBody>
      </p:sp>
      <p:sp>
        <p:nvSpPr>
          <p:cNvPr id="4" name="Product photo card"/>
          <p:cNvSpPr/>
          <p:nvPr/>
        </p:nvSpPr>
        <p:spPr>
          <a:xfrm>
            <a:off x="548640" y="1600200"/>
            <a:ext cx="3886200" cy="43434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/>
        </p:spPr>
      </p:sp>
      <p:pic>
        <p:nvPicPr>
          <p:cNvPr id="5" name="Product photo" descr="Nose trimmers (7 model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1368"/>
            <a:ext cx="2926080" cy="2926080"/>
          </a:xfrm>
          <a:prstGeom prst="rect">
            <a:avLst/>
          </a:prstGeom>
        </p:spPr>
      </p:pic>
      <p:sp>
        <p:nvSpPr>
          <p:cNvPr id="6" name="Model"/>
          <p:cNvSpPr txBox="1"/>
          <p:nvPr/>
        </p:nvSpPr>
        <p:spPr>
          <a:xfrm>
            <a:off x="731520" y="48188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Model  </a:t>
            </a:r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7 models · WS-NT1 / WS-NT2</a:t>
            </a:r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型号</a:t>
            </a:r>
            <a:endParaRPr lang="en-US" sz="1050" dirty="0"/>
          </a:p>
        </p:txBody>
      </p:sp>
      <p:sp>
        <p:nvSpPr>
          <p:cNvPr id="7" name="Product stat 1"/>
          <p:cNvSpPr txBox="1"/>
          <p:nvPr/>
        </p:nvSpPr>
        <p:spPr>
          <a:xfrm>
            <a:off x="685800" y="5148072"/>
            <a:ext cx="1203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25,627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sold in 2026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年销量</a:t>
            </a:r>
            <a:endParaRPr lang="en-US" sz="1900" dirty="0"/>
          </a:p>
        </p:txBody>
      </p:sp>
      <p:sp>
        <p:nvSpPr>
          <p:cNvPr id="8" name="Product stat 2"/>
          <p:cNvSpPr txBox="1"/>
          <p:nvPr/>
        </p:nvSpPr>
        <p:spPr>
          <a:xfrm>
            <a:off x="1889760" y="5148072"/>
            <a:ext cx="1203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2.1%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return rate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</a:t>
            </a:r>
            <a:endParaRPr lang="en-US" sz="1900" dirty="0"/>
          </a:p>
        </p:txBody>
      </p:sp>
      <p:sp>
        <p:nvSpPr>
          <p:cNvPr id="9" name="Product stat 3"/>
          <p:cNvSpPr txBox="1"/>
          <p:nvPr/>
        </p:nvSpPr>
        <p:spPr>
          <a:xfrm>
            <a:off x="3093720" y="5148072"/>
            <a:ext cx="1203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31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defect reports</a:t>
            </a:r>
            <a:endParaRPr lang="en-US" sz="1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故障报告</a:t>
            </a:r>
            <a:endParaRPr lang="en-US" sz="1900" dirty="0"/>
          </a:p>
        </p:txBody>
      </p:sp>
      <p:sp>
        <p:nvSpPr>
          <p:cNvPr id="10" name="Focus neus"/>
          <p:cNvSpPr/>
          <p:nvPr/>
        </p:nvSpPr>
        <p:spPr>
          <a:xfrm>
            <a:off x="4709160" y="1600200"/>
            <a:ext cx="6933895" cy="2057400"/>
          </a:xfrm>
          <a:prstGeom prst="roundRect">
            <a:avLst>
              <a:gd name="adj" fmla="val 7111"/>
            </a:avLst>
          </a:prstGeom>
          <a:solidFill>
            <a:srgbClr val="EDE6DA"/>
          </a:solidFill>
          <a:ln/>
        </p:spPr>
      </p:sp>
      <p:sp>
        <p:nvSpPr>
          <p:cNvPr id="11" name="Focus badge neus"/>
          <p:cNvSpPr/>
          <p:nvPr/>
        </p:nvSpPr>
        <p:spPr>
          <a:xfrm>
            <a:off x="493776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ocus icon neu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146" y="1942186"/>
            <a:ext cx="340157" cy="340157"/>
          </a:xfrm>
          <a:prstGeom prst="rect">
            <a:avLst/>
          </a:prstGeom>
        </p:spPr>
      </p:pic>
      <p:sp>
        <p:nvSpPr>
          <p:cNvPr id="13" name="Focus head neus"/>
          <p:cNvSpPr txBox="1"/>
          <p:nvPr/>
        </p:nvSpPr>
        <p:spPr>
          <a:xfrm>
            <a:off x="5733288" y="1801368"/>
            <a:ext cx="56811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MAIN ISSUE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主要问题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Weak cutting: many hairs are not caught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修剪力度不足：很多毛发剪不到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6"/>
                </a:solidFill>
              </a:rPr>
              <a:t>22 of 55 critical reviews on bol.com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bol.com 55 条差评中有 22 条</a:t>
            </a:r>
            <a:endParaRPr lang="en-US" sz="1000" dirty="0"/>
          </a:p>
        </p:txBody>
      </p:sp>
      <p:sp>
        <p:nvSpPr>
          <p:cNvPr id="14" name="Focus quote rule neus 1"/>
          <p:cNvSpPr/>
          <p:nvPr/>
        </p:nvSpPr>
        <p:spPr>
          <a:xfrm>
            <a:off x="4937760" y="2843784"/>
            <a:ext cx="0" cy="63093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5" name="Focus quote neus 1"/>
          <p:cNvSpPr txBox="1"/>
          <p:nvPr/>
        </p:nvSpPr>
        <p:spPr>
          <a:xfrm>
            <a:off x="5056632" y="2807208"/>
            <a:ext cx="188762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“After 10 minutes in my nose, just as many hairs as before.”</a:t>
            </a:r>
            <a:br/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在鼻子里用了10分钟，鼻毛还是和之前一样多。</a:t>
            </a:r>
            <a:endParaRPr lang="en-US" sz="1000" dirty="0"/>
          </a:p>
        </p:txBody>
      </p:sp>
      <p:sp>
        <p:nvSpPr>
          <p:cNvPr id="16" name="Focus quote rule neus 2"/>
          <p:cNvSpPr/>
          <p:nvPr/>
        </p:nvSpPr>
        <p:spPr>
          <a:xfrm>
            <a:off x="7172858" y="2843784"/>
            <a:ext cx="0" cy="63093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7" name="Focus quote neus 2"/>
          <p:cNvSpPr txBox="1"/>
          <p:nvPr/>
        </p:nvSpPr>
        <p:spPr>
          <a:xfrm>
            <a:off x="7291730" y="2807208"/>
            <a:ext cx="188762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“The blade sits too deep to catch short hairs.”</a:t>
            </a:r>
            <a:br/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刀片藏得太深，剪不到短毛。</a:t>
            </a:r>
            <a:endParaRPr lang="en-US" sz="1000" dirty="0"/>
          </a:p>
        </p:txBody>
      </p:sp>
      <p:sp>
        <p:nvSpPr>
          <p:cNvPr id="18" name="Focus quote rule neus 3"/>
          <p:cNvSpPr/>
          <p:nvPr/>
        </p:nvSpPr>
        <p:spPr>
          <a:xfrm>
            <a:off x="9407957" y="2843784"/>
            <a:ext cx="0" cy="63093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9" name="Focus quote neus 3"/>
          <p:cNvSpPr txBox="1"/>
          <p:nvPr/>
        </p:nvSpPr>
        <p:spPr>
          <a:xfrm>
            <a:off x="9526829" y="2807208"/>
            <a:ext cx="188762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“Used it twice and the head was broken.”</a:t>
            </a:r>
            <a:br/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只用了两次，刀头就坏了。</a:t>
            </a:r>
            <a:endParaRPr lang="en-US" sz="1000" dirty="0"/>
          </a:p>
        </p:txBody>
      </p:sp>
      <p:sp>
        <p:nvSpPr>
          <p:cNvPr id="20" name="List head neus 1"/>
          <p:cNvSpPr txBox="1"/>
          <p:nvPr/>
        </p:nvSpPr>
        <p:spPr>
          <a:xfrm>
            <a:off x="4709160" y="3785616"/>
            <a:ext cx="332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6"/>
                </a:solidFill>
              </a:rPr>
              <a:t>DEFECT REPORTS</a:t>
            </a:r>
            <a:pPr indent="0" marL="0">
              <a:buNone/>
            </a:pPr>
            <a:r>
              <a:rPr lang="en-US" sz="9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售后故障</a:t>
            </a:r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   31</a:t>
            </a:r>
            <a:endParaRPr lang="en-US" sz="950" dirty="0"/>
          </a:p>
        </p:txBody>
      </p:sp>
      <p:sp>
        <p:nvSpPr>
          <p:cNvPr id="21" name="List count neus 1 1"/>
          <p:cNvSpPr txBox="1"/>
          <p:nvPr/>
        </p:nvSpPr>
        <p:spPr>
          <a:xfrm>
            <a:off x="4709160" y="40142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16</a:t>
            </a:r>
            <a:endParaRPr lang="en-US" sz="1600" dirty="0"/>
          </a:p>
        </p:txBody>
      </p:sp>
      <p:sp>
        <p:nvSpPr>
          <p:cNvPr id="22" name="List item neus 1 1"/>
          <p:cNvSpPr txBox="1"/>
          <p:nvPr/>
        </p:nvSpPr>
        <p:spPr>
          <a:xfrm>
            <a:off x="5212080" y="4014216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Battery or charging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1100" dirty="0"/>
          </a:p>
        </p:txBody>
      </p:sp>
      <p:sp>
        <p:nvSpPr>
          <p:cNvPr id="23" name="List count neus 1 2"/>
          <p:cNvSpPr txBox="1"/>
          <p:nvPr/>
        </p:nvSpPr>
        <p:spPr>
          <a:xfrm>
            <a:off x="4709160" y="4361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List item neus 1 2"/>
          <p:cNvSpPr txBox="1"/>
          <p:nvPr/>
        </p:nvSpPr>
        <p:spPr>
          <a:xfrm>
            <a:off x="5212080" y="4361688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Head or parts break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刀头或部件损坏</a:t>
            </a:r>
            <a:endParaRPr lang="en-US" sz="1100" dirty="0"/>
          </a:p>
        </p:txBody>
      </p:sp>
      <p:sp>
        <p:nvSpPr>
          <p:cNvPr id="25" name="List count neus 1 3"/>
          <p:cNvSpPr txBox="1"/>
          <p:nvPr/>
        </p:nvSpPr>
        <p:spPr>
          <a:xfrm>
            <a:off x="4709160" y="47091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6" name="List item neus 1 3"/>
          <p:cNvSpPr txBox="1"/>
          <p:nvPr/>
        </p:nvSpPr>
        <p:spPr>
          <a:xfrm>
            <a:off x="5212080" y="4709160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Won't start, cuts out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无法启动或断电</a:t>
            </a:r>
            <a:endParaRPr lang="en-US" sz="1100" dirty="0"/>
          </a:p>
        </p:txBody>
      </p:sp>
      <p:sp>
        <p:nvSpPr>
          <p:cNvPr id="27" name="List head neus 2"/>
          <p:cNvSpPr txBox="1"/>
          <p:nvPr/>
        </p:nvSpPr>
        <p:spPr>
          <a:xfrm>
            <a:off x="8313268" y="3785616"/>
            <a:ext cx="332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6"/>
                </a:solidFill>
              </a:rPr>
              <a:t>BOL.COM REVIEWS</a:t>
            </a:r>
            <a:pPr indent="0" marL="0">
              <a:buNone/>
            </a:pPr>
            <a:r>
              <a:rPr lang="en-US" sz="9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差评</a:t>
            </a:r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   55</a:t>
            </a:r>
            <a:endParaRPr lang="en-US" sz="950" dirty="0"/>
          </a:p>
        </p:txBody>
      </p:sp>
      <p:sp>
        <p:nvSpPr>
          <p:cNvPr id="28" name="List count neus 2 1"/>
          <p:cNvSpPr txBox="1"/>
          <p:nvPr/>
        </p:nvSpPr>
        <p:spPr>
          <a:xfrm>
            <a:off x="8313268" y="40142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22</a:t>
            </a:r>
            <a:endParaRPr lang="en-US" sz="1600" dirty="0"/>
          </a:p>
        </p:txBody>
      </p:sp>
      <p:sp>
        <p:nvSpPr>
          <p:cNvPr id="29" name="List item neus 2 1"/>
          <p:cNvSpPr txBox="1"/>
          <p:nvPr/>
        </p:nvSpPr>
        <p:spPr>
          <a:xfrm>
            <a:off x="8816188" y="4014216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Weak cutting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修剪力度不足</a:t>
            </a:r>
            <a:endParaRPr lang="en-US" sz="1100" dirty="0"/>
          </a:p>
        </p:txBody>
      </p:sp>
      <p:sp>
        <p:nvSpPr>
          <p:cNvPr id="30" name="List count neus 2 2"/>
          <p:cNvSpPr txBox="1"/>
          <p:nvPr/>
        </p:nvSpPr>
        <p:spPr>
          <a:xfrm>
            <a:off x="8313268" y="4361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</a:t>
            </a:r>
            <a:endParaRPr lang="en-US" sz="1600" dirty="0"/>
          </a:p>
        </p:txBody>
      </p:sp>
      <p:sp>
        <p:nvSpPr>
          <p:cNvPr id="31" name="List item neus 2 2"/>
          <p:cNvSpPr txBox="1"/>
          <p:nvPr/>
        </p:nvSpPr>
        <p:spPr>
          <a:xfrm>
            <a:off x="8816188" y="4361688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Broken within months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数月内损坏</a:t>
            </a:r>
            <a:endParaRPr lang="en-US" sz="1100" dirty="0"/>
          </a:p>
        </p:txBody>
      </p:sp>
      <p:sp>
        <p:nvSpPr>
          <p:cNvPr id="32" name="List count neus 2 3"/>
          <p:cNvSpPr txBox="1"/>
          <p:nvPr/>
        </p:nvSpPr>
        <p:spPr>
          <a:xfrm>
            <a:off x="8313268" y="47091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en-US" sz="1600" dirty="0"/>
          </a:p>
        </p:txBody>
      </p:sp>
      <p:sp>
        <p:nvSpPr>
          <p:cNvPr id="33" name="List item neus 2 3"/>
          <p:cNvSpPr txBox="1"/>
          <p:nvPr/>
        </p:nvSpPr>
        <p:spPr>
          <a:xfrm>
            <a:off x="8816188" y="4709160"/>
            <a:ext cx="2826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Caps and parts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保护盖与配件</a:t>
            </a:r>
            <a:endParaRPr lang="en-US" sz="1100" dirty="0"/>
          </a:p>
        </p:txBody>
      </p:sp>
      <p:sp>
        <p:nvSpPr>
          <p:cNvPr id="34" name="Ask card"/>
          <p:cNvSpPr/>
          <p:nvPr/>
        </p:nvSpPr>
        <p:spPr>
          <a:xfrm>
            <a:off x="4709160" y="5166360"/>
            <a:ext cx="6933895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/>
        </p:spPr>
      </p:sp>
      <p:sp>
        <p:nvSpPr>
          <p:cNvPr id="35" name="Ask head"/>
          <p:cNvSpPr txBox="1"/>
          <p:nvPr/>
        </p:nvSpPr>
        <p:spPr>
          <a:xfrm>
            <a:off x="4937760" y="5276088"/>
            <a:ext cx="6476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OUR ASK</a:t>
            </a:r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我们的期望</a:t>
            </a:r>
            <a:endParaRPr lang="en-US" sz="950" dirty="0"/>
          </a:p>
        </p:txBody>
      </p:sp>
      <p:sp>
        <p:nvSpPr>
          <p:cNvPr id="36" name="Ask 1"/>
          <p:cNvSpPr txBox="1"/>
          <p:nvPr/>
        </p:nvSpPr>
        <p:spPr>
          <a:xfrm>
            <a:off x="4937760" y="5477256"/>
            <a:ext cx="2036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Sharper blades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更锋利的刀片，不漏剪</a:t>
            </a:r>
            <a:endParaRPr lang="en-US" sz="1100" dirty="0"/>
          </a:p>
        </p:txBody>
      </p:sp>
      <p:sp>
        <p:nvSpPr>
          <p:cNvPr id="37" name="Ask 2"/>
          <p:cNvSpPr txBox="1"/>
          <p:nvPr/>
        </p:nvSpPr>
        <p:spPr>
          <a:xfrm>
            <a:off x="7157618" y="5477256"/>
            <a:ext cx="2036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 head that does not break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更牢固、不易损坏的刀头</a:t>
            </a:r>
            <a:endParaRPr lang="en-US" sz="1100" dirty="0"/>
          </a:p>
        </p:txBody>
      </p:sp>
      <p:sp>
        <p:nvSpPr>
          <p:cNvPr id="38" name="Ask 3"/>
          <p:cNvSpPr txBox="1"/>
          <p:nvPr/>
        </p:nvSpPr>
        <p:spPr>
          <a:xfrm>
            <a:off x="9377477" y="5477256"/>
            <a:ext cx="2036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Easy caps, complete box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保护盖易取下，配件齐全</a:t>
            </a:r>
            <a:endParaRPr lang="en-US" sz="1100" dirty="0"/>
          </a:p>
        </p:txBody>
      </p:sp>
      <p:sp>
        <p:nvSpPr>
          <p:cNvPr id="39" name="Review source"/>
          <p:cNvSpPr txBox="1"/>
          <p:nvPr/>
        </p:nvSpPr>
        <p:spPr>
          <a:xfrm>
            <a:off x="548640" y="6016752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Sources: bol.com sales, returns and 1 to 3 star reviews; Wellshave customer service defect log. All 1 January to 15 October 2026. Quotes translated from Dutch.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数据来源：bol.com 销量、退货及 1 至 3 星评价；Wellshave 售后故障记录。时间均为 2026 年 1 月 1 日至 10 月 15 日。引文译自荷兰语。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Product focus: beard trimmers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产品聚焦：胡须修剪器</a:t>
            </a:r>
            <a:endParaRPr lang="en-US" sz="2000" dirty="0"/>
          </a:p>
        </p:txBody>
      </p:sp>
      <p:sp>
        <p:nvSpPr>
          <p:cNvPr id="4" name="Product card pro"/>
          <p:cNvSpPr/>
          <p:nvPr/>
        </p:nvSpPr>
        <p:spPr>
          <a:xfrm>
            <a:off x="548640" y="1600200"/>
            <a:ext cx="5410048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</p:spPr>
      </p:sp>
      <p:pic>
        <p:nvPicPr>
          <p:cNvPr id="5" name="Product photo pro" descr="Beard Trimmer Pro 5-i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46504"/>
            <a:ext cx="1188720" cy="1188720"/>
          </a:xfrm>
          <a:prstGeom prst="rect">
            <a:avLst/>
          </a:prstGeom>
        </p:spPr>
      </p:pic>
      <p:sp>
        <p:nvSpPr>
          <p:cNvPr id="6" name="Product name pro"/>
          <p:cNvSpPr txBox="1"/>
          <p:nvPr/>
        </p:nvSpPr>
        <p:spPr>
          <a:xfrm>
            <a:off x="2103120" y="1709928"/>
            <a:ext cx="3690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Beard Trimmer Pro 5-in-1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五合一胡须修剪器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Model 8188 / WS-BTG1</a:t>
            </a:r>
            <a:endParaRPr lang="en-US" sz="1450" dirty="0"/>
          </a:p>
        </p:txBody>
      </p:sp>
      <p:sp>
        <p:nvSpPr>
          <p:cNvPr id="7" name="Product stat pro 1"/>
          <p:cNvSpPr txBox="1"/>
          <p:nvPr/>
        </p:nvSpPr>
        <p:spPr>
          <a:xfrm>
            <a:off x="2103120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2,179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sold in 2026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年销量</a:t>
            </a:r>
            <a:endParaRPr lang="en-US" sz="1500" dirty="0"/>
          </a:p>
        </p:txBody>
      </p:sp>
      <p:sp>
        <p:nvSpPr>
          <p:cNvPr id="8" name="Product stat pro 2"/>
          <p:cNvSpPr txBox="1"/>
          <p:nvPr/>
        </p:nvSpPr>
        <p:spPr>
          <a:xfrm>
            <a:off x="3333445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4.3%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return rate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</a:t>
            </a:r>
            <a:endParaRPr lang="en-US" sz="1500" dirty="0"/>
          </a:p>
        </p:txBody>
      </p:sp>
      <p:sp>
        <p:nvSpPr>
          <p:cNvPr id="9" name="Product stat pro 3"/>
          <p:cNvSpPr txBox="1"/>
          <p:nvPr/>
        </p:nvSpPr>
        <p:spPr>
          <a:xfrm>
            <a:off x="4563770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15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defect reports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故障报告</a:t>
            </a:r>
            <a:endParaRPr lang="en-US" sz="1500" dirty="0"/>
          </a:p>
        </p:txBody>
      </p:sp>
      <p:sp>
        <p:nvSpPr>
          <p:cNvPr id="10" name="Focus pro"/>
          <p:cNvSpPr/>
          <p:nvPr/>
        </p:nvSpPr>
        <p:spPr>
          <a:xfrm>
            <a:off x="731520" y="3063240"/>
            <a:ext cx="5044288" cy="1097280"/>
          </a:xfrm>
          <a:prstGeom prst="roundRect">
            <a:avLst>
              <a:gd name="adj" fmla="val 13333"/>
            </a:avLst>
          </a:prstGeom>
          <a:solidFill>
            <a:srgbClr val="191816"/>
          </a:solidFill>
          <a:ln/>
        </p:spPr>
      </p:sp>
      <p:sp>
        <p:nvSpPr>
          <p:cNvPr id="11" name="Focus badge pro"/>
          <p:cNvSpPr/>
          <p:nvPr/>
        </p:nvSpPr>
        <p:spPr>
          <a:xfrm>
            <a:off x="896112" y="322783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Focus icon pr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7" y="3311957"/>
            <a:ext cx="252374" cy="252374"/>
          </a:xfrm>
          <a:prstGeom prst="rect">
            <a:avLst/>
          </a:prstGeom>
        </p:spPr>
      </p:pic>
      <p:sp>
        <p:nvSpPr>
          <p:cNvPr id="13" name="Focus text pro"/>
          <p:cNvSpPr txBox="1"/>
          <p:nvPr/>
        </p:nvSpPr>
        <p:spPr>
          <a:xfrm>
            <a:off x="1481328" y="3191256"/>
            <a:ext cx="412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BATTERY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电池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10 of 15 defect reports: battery or charging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起故障报告中有 10 起与电池或充电有关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chemeClr val="bg1"/>
                </a:solidFill>
              </a:rPr>
              <a:t>“Fully charged, but it does nothing anymore.”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已经充满电，但完全不能用了。</a:t>
            </a:r>
            <a:endParaRPr lang="en-US" sz="900" dirty="0"/>
          </a:p>
        </p:txBody>
      </p:sp>
      <p:sp>
        <p:nvSpPr>
          <p:cNvPr id="14" name="List head pro 1"/>
          <p:cNvSpPr txBox="1"/>
          <p:nvPr/>
        </p:nvSpPr>
        <p:spPr>
          <a:xfrm>
            <a:off x="731520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DEFECT REPORTS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售后故障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15</a:t>
            </a:r>
            <a:endParaRPr lang="en-US" sz="850" dirty="0"/>
          </a:p>
        </p:txBody>
      </p:sp>
      <p:sp>
        <p:nvSpPr>
          <p:cNvPr id="15" name="List count pro 1 1"/>
          <p:cNvSpPr txBox="1"/>
          <p:nvPr/>
        </p:nvSpPr>
        <p:spPr>
          <a:xfrm>
            <a:off x="731520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10</a:t>
            </a:r>
            <a:endParaRPr lang="en-US" sz="1250" dirty="0"/>
          </a:p>
        </p:txBody>
      </p:sp>
      <p:sp>
        <p:nvSpPr>
          <p:cNvPr id="16" name="List item pro 1 1"/>
          <p:cNvSpPr txBox="1"/>
          <p:nvPr/>
        </p:nvSpPr>
        <p:spPr>
          <a:xfrm>
            <a:off x="1106424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Battery or charging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950" dirty="0"/>
          </a:p>
        </p:txBody>
      </p:sp>
      <p:sp>
        <p:nvSpPr>
          <p:cNvPr id="17" name="List count pro 1 2"/>
          <p:cNvSpPr txBox="1"/>
          <p:nvPr/>
        </p:nvSpPr>
        <p:spPr>
          <a:xfrm>
            <a:off x="731520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18" name="List item pro 1 2"/>
          <p:cNvSpPr txBox="1"/>
          <p:nvPr/>
        </p:nvSpPr>
        <p:spPr>
          <a:xfrm>
            <a:off x="1106424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Won't start, cuts out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无法启动或断电</a:t>
            </a:r>
            <a:endParaRPr lang="en-US" sz="950" dirty="0"/>
          </a:p>
        </p:txBody>
      </p:sp>
      <p:sp>
        <p:nvSpPr>
          <p:cNvPr id="19" name="List count pro 1 3"/>
          <p:cNvSpPr txBox="1"/>
          <p:nvPr/>
        </p:nvSpPr>
        <p:spPr>
          <a:xfrm>
            <a:off x="731520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20" name="List item pro 1 3"/>
          <p:cNvSpPr txBox="1"/>
          <p:nvPr/>
        </p:nvSpPr>
        <p:spPr>
          <a:xfrm>
            <a:off x="1106424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On/off switch faults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开关故障</a:t>
            </a:r>
            <a:endParaRPr lang="en-US" sz="950" dirty="0"/>
          </a:p>
        </p:txBody>
      </p:sp>
      <p:sp>
        <p:nvSpPr>
          <p:cNvPr id="21" name="List head pro 2"/>
          <p:cNvSpPr txBox="1"/>
          <p:nvPr/>
        </p:nvSpPr>
        <p:spPr>
          <a:xfrm>
            <a:off x="3390824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BOL.COM REVIEWS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差评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11</a:t>
            </a:r>
            <a:endParaRPr lang="en-US" sz="850" dirty="0"/>
          </a:p>
        </p:txBody>
      </p:sp>
      <p:sp>
        <p:nvSpPr>
          <p:cNvPr id="22" name="List count pro 2 1"/>
          <p:cNvSpPr txBox="1"/>
          <p:nvPr/>
        </p:nvSpPr>
        <p:spPr>
          <a:xfrm>
            <a:off x="3390824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4</a:t>
            </a:r>
            <a:endParaRPr lang="en-US" sz="1250" dirty="0"/>
          </a:p>
        </p:txBody>
      </p:sp>
      <p:sp>
        <p:nvSpPr>
          <p:cNvPr id="23" name="List item pro 2 1"/>
          <p:cNvSpPr txBox="1"/>
          <p:nvPr/>
        </p:nvSpPr>
        <p:spPr>
          <a:xfrm>
            <a:off x="3765728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Battery or charging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950" dirty="0"/>
          </a:p>
        </p:txBody>
      </p:sp>
      <p:sp>
        <p:nvSpPr>
          <p:cNvPr id="24" name="List count pro 2 2"/>
          <p:cNvSpPr txBox="1"/>
          <p:nvPr/>
        </p:nvSpPr>
        <p:spPr>
          <a:xfrm>
            <a:off x="3390824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4</a:t>
            </a:r>
            <a:endParaRPr lang="en-US" sz="1250" dirty="0"/>
          </a:p>
        </p:txBody>
      </p:sp>
      <p:sp>
        <p:nvSpPr>
          <p:cNvPr id="25" name="List item pro 2 2"/>
          <p:cNvSpPr txBox="1"/>
          <p:nvPr/>
        </p:nvSpPr>
        <p:spPr>
          <a:xfrm>
            <a:off x="3765728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Stops within months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数月内停止工作</a:t>
            </a:r>
            <a:endParaRPr lang="en-US" sz="950" dirty="0"/>
          </a:p>
        </p:txBody>
      </p:sp>
      <p:sp>
        <p:nvSpPr>
          <p:cNvPr id="26" name="List count pro 2 3"/>
          <p:cNvSpPr txBox="1"/>
          <p:nvPr/>
        </p:nvSpPr>
        <p:spPr>
          <a:xfrm>
            <a:off x="3390824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27" name="List item pro 2 3"/>
          <p:cNvSpPr txBox="1"/>
          <p:nvPr/>
        </p:nvSpPr>
        <p:spPr>
          <a:xfrm>
            <a:off x="3765728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Cable or part missing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缺少充电线或配件</a:t>
            </a:r>
            <a:endParaRPr lang="en-US" sz="950" dirty="0"/>
          </a:p>
        </p:txBody>
      </p:sp>
      <p:sp>
        <p:nvSpPr>
          <p:cNvPr id="28" name="Ask card pro"/>
          <p:cNvSpPr/>
          <p:nvPr/>
        </p:nvSpPr>
        <p:spPr>
          <a:xfrm>
            <a:off x="731520" y="5340096"/>
            <a:ext cx="5044288" cy="502920"/>
          </a:xfrm>
          <a:prstGeom prst="roundRect">
            <a:avLst>
              <a:gd name="adj" fmla="val 29091"/>
            </a:avLst>
          </a:prstGeom>
          <a:solidFill>
            <a:srgbClr val="F5F1EA"/>
          </a:solidFill>
          <a:ln/>
        </p:spPr>
      </p:sp>
      <p:sp>
        <p:nvSpPr>
          <p:cNvPr id="29" name="Ask pro"/>
          <p:cNvSpPr txBox="1"/>
          <p:nvPr/>
        </p:nvSpPr>
        <p:spPr>
          <a:xfrm>
            <a:off x="868680" y="5394960"/>
            <a:ext cx="476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OUR ASK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我们的期望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Battery and charging that last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持久耐用的电池与充电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Cable and all attachments in the box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包装内充电线与配件齐全</a:t>
            </a:r>
            <a:endParaRPr lang="en-US" sz="1000" dirty="0"/>
          </a:p>
        </p:txBody>
      </p:sp>
      <p:sp>
        <p:nvSpPr>
          <p:cNvPr id="30" name="Product card supreme"/>
          <p:cNvSpPr/>
          <p:nvPr/>
        </p:nvSpPr>
        <p:spPr>
          <a:xfrm>
            <a:off x="6233008" y="1600200"/>
            <a:ext cx="5410048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</p:spPr>
      </p:sp>
      <p:pic>
        <p:nvPicPr>
          <p:cNvPr id="31" name="Product photo supreme" descr="Beard Trimmer Supreme 6-in-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1746504"/>
            <a:ext cx="1188720" cy="1188720"/>
          </a:xfrm>
          <a:prstGeom prst="rect">
            <a:avLst/>
          </a:prstGeom>
        </p:spPr>
      </p:pic>
      <p:sp>
        <p:nvSpPr>
          <p:cNvPr id="32" name="Product name supreme"/>
          <p:cNvSpPr txBox="1"/>
          <p:nvPr/>
        </p:nvSpPr>
        <p:spPr>
          <a:xfrm>
            <a:off x="7787488" y="1709928"/>
            <a:ext cx="3690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Beard Trimmer Supreme 6-in-1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Supreme 六合一胡须修剪器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Model 8988 / WS-BTG2</a:t>
            </a:r>
            <a:endParaRPr lang="en-US" sz="1450" dirty="0"/>
          </a:p>
        </p:txBody>
      </p:sp>
      <p:sp>
        <p:nvSpPr>
          <p:cNvPr id="33" name="Product stat supreme 1"/>
          <p:cNvSpPr txBox="1"/>
          <p:nvPr/>
        </p:nvSpPr>
        <p:spPr>
          <a:xfrm>
            <a:off x="7787488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3,143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sold in 2026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年销量</a:t>
            </a:r>
            <a:endParaRPr lang="en-US" sz="1500" dirty="0"/>
          </a:p>
        </p:txBody>
      </p:sp>
      <p:sp>
        <p:nvSpPr>
          <p:cNvPr id="34" name="Product stat supreme 2"/>
          <p:cNvSpPr txBox="1"/>
          <p:nvPr/>
        </p:nvSpPr>
        <p:spPr>
          <a:xfrm>
            <a:off x="9017813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3.5%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return rate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</a:t>
            </a:r>
            <a:endParaRPr lang="en-US" sz="1500" dirty="0"/>
          </a:p>
        </p:txBody>
      </p:sp>
      <p:sp>
        <p:nvSpPr>
          <p:cNvPr id="35" name="Product stat supreme 3"/>
          <p:cNvSpPr txBox="1"/>
          <p:nvPr/>
        </p:nvSpPr>
        <p:spPr>
          <a:xfrm>
            <a:off x="10248138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36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defect reports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故障报告</a:t>
            </a:r>
            <a:endParaRPr lang="en-US" sz="1500" dirty="0"/>
          </a:p>
        </p:txBody>
      </p:sp>
      <p:sp>
        <p:nvSpPr>
          <p:cNvPr id="36" name="Focus supreme"/>
          <p:cNvSpPr/>
          <p:nvPr/>
        </p:nvSpPr>
        <p:spPr>
          <a:xfrm>
            <a:off x="6415888" y="3063240"/>
            <a:ext cx="5044288" cy="1097280"/>
          </a:xfrm>
          <a:prstGeom prst="roundRect">
            <a:avLst>
              <a:gd name="adj" fmla="val 13333"/>
            </a:avLst>
          </a:prstGeom>
          <a:solidFill>
            <a:srgbClr val="191816"/>
          </a:solidFill>
          <a:ln/>
        </p:spPr>
      </p:sp>
      <p:sp>
        <p:nvSpPr>
          <p:cNvPr id="37" name="Focus badge supreme"/>
          <p:cNvSpPr/>
          <p:nvPr/>
        </p:nvSpPr>
        <p:spPr>
          <a:xfrm>
            <a:off x="6580480" y="322783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8" name="Focus icon suprem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604" y="3311957"/>
            <a:ext cx="252374" cy="252374"/>
          </a:xfrm>
          <a:prstGeom prst="rect">
            <a:avLst/>
          </a:prstGeom>
        </p:spPr>
      </p:pic>
      <p:sp>
        <p:nvSpPr>
          <p:cNvPr id="39" name="Focus text supreme"/>
          <p:cNvSpPr txBox="1"/>
          <p:nvPr/>
        </p:nvSpPr>
        <p:spPr>
          <a:xfrm>
            <a:off x="7165696" y="3191256"/>
            <a:ext cx="412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BATTERY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电池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26 of 36 defect reports: battery or charging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起故障报告中有 26 起与电池或充电有关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chemeClr val="bg1"/>
                </a:solidFill>
              </a:rPr>
              <a:t>“Won't charge, stays at 0%. Tried several chargers and cables.”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无法充电，电量一直是 0%。已试过多个充电器和数据线。</a:t>
            </a:r>
            <a:endParaRPr lang="en-US" sz="900" dirty="0"/>
          </a:p>
        </p:txBody>
      </p:sp>
      <p:sp>
        <p:nvSpPr>
          <p:cNvPr id="40" name="List head supreme 1"/>
          <p:cNvSpPr txBox="1"/>
          <p:nvPr/>
        </p:nvSpPr>
        <p:spPr>
          <a:xfrm>
            <a:off x="6415888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DEFECT REPORTS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售后故障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36</a:t>
            </a:r>
            <a:endParaRPr lang="en-US" sz="850" dirty="0"/>
          </a:p>
        </p:txBody>
      </p:sp>
      <p:sp>
        <p:nvSpPr>
          <p:cNvPr id="41" name="List count supreme 1 1"/>
          <p:cNvSpPr txBox="1"/>
          <p:nvPr/>
        </p:nvSpPr>
        <p:spPr>
          <a:xfrm>
            <a:off x="6415888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26</a:t>
            </a:r>
            <a:endParaRPr lang="en-US" sz="1250" dirty="0"/>
          </a:p>
        </p:txBody>
      </p:sp>
      <p:sp>
        <p:nvSpPr>
          <p:cNvPr id="42" name="List item supreme 1 1"/>
          <p:cNvSpPr txBox="1"/>
          <p:nvPr/>
        </p:nvSpPr>
        <p:spPr>
          <a:xfrm>
            <a:off x="6790792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Battery or charging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950" dirty="0"/>
          </a:p>
        </p:txBody>
      </p:sp>
      <p:sp>
        <p:nvSpPr>
          <p:cNvPr id="43" name="List count supreme 1 2"/>
          <p:cNvSpPr txBox="1"/>
          <p:nvPr/>
        </p:nvSpPr>
        <p:spPr>
          <a:xfrm>
            <a:off x="6415888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5</a:t>
            </a:r>
            <a:endParaRPr lang="en-US" sz="1250" dirty="0"/>
          </a:p>
        </p:txBody>
      </p:sp>
      <p:sp>
        <p:nvSpPr>
          <p:cNvPr id="44" name="List item supreme 1 2"/>
          <p:cNvSpPr txBox="1"/>
          <p:nvPr/>
        </p:nvSpPr>
        <p:spPr>
          <a:xfrm>
            <a:off x="6790792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Won't start, cuts out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无法启动或断电</a:t>
            </a:r>
            <a:endParaRPr lang="en-US" sz="950" dirty="0"/>
          </a:p>
        </p:txBody>
      </p:sp>
      <p:sp>
        <p:nvSpPr>
          <p:cNvPr id="45" name="List count supreme 1 3"/>
          <p:cNvSpPr txBox="1"/>
          <p:nvPr/>
        </p:nvSpPr>
        <p:spPr>
          <a:xfrm>
            <a:off x="6415888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3</a:t>
            </a:r>
            <a:endParaRPr lang="en-US" sz="1250" dirty="0"/>
          </a:p>
        </p:txBody>
      </p:sp>
      <p:sp>
        <p:nvSpPr>
          <p:cNvPr id="46" name="List item supreme 1 3"/>
          <p:cNvSpPr txBox="1"/>
          <p:nvPr/>
        </p:nvSpPr>
        <p:spPr>
          <a:xfrm>
            <a:off x="6790792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On/off switch faults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开关故障</a:t>
            </a:r>
            <a:endParaRPr lang="en-US" sz="950" dirty="0"/>
          </a:p>
        </p:txBody>
      </p:sp>
      <p:sp>
        <p:nvSpPr>
          <p:cNvPr id="47" name="List head supreme 2"/>
          <p:cNvSpPr txBox="1"/>
          <p:nvPr/>
        </p:nvSpPr>
        <p:spPr>
          <a:xfrm>
            <a:off x="9075191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BOL.COM REVIEWS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差评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5</a:t>
            </a:r>
            <a:endParaRPr lang="en-US" sz="850" dirty="0"/>
          </a:p>
        </p:txBody>
      </p:sp>
      <p:sp>
        <p:nvSpPr>
          <p:cNvPr id="48" name="List count supreme 2 1"/>
          <p:cNvSpPr txBox="1"/>
          <p:nvPr/>
        </p:nvSpPr>
        <p:spPr>
          <a:xfrm>
            <a:off x="9075191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3</a:t>
            </a:r>
            <a:endParaRPr lang="en-US" sz="1250" dirty="0"/>
          </a:p>
        </p:txBody>
      </p:sp>
      <p:sp>
        <p:nvSpPr>
          <p:cNvPr id="49" name="List item supreme 2 1"/>
          <p:cNvSpPr txBox="1"/>
          <p:nvPr/>
        </p:nvSpPr>
        <p:spPr>
          <a:xfrm>
            <a:off x="9450095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Uneven trimming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修剪不均匀</a:t>
            </a:r>
            <a:endParaRPr lang="en-US" sz="950" dirty="0"/>
          </a:p>
        </p:txBody>
      </p:sp>
      <p:sp>
        <p:nvSpPr>
          <p:cNvPr id="50" name="List count supreme 2 2"/>
          <p:cNvSpPr txBox="1"/>
          <p:nvPr/>
        </p:nvSpPr>
        <p:spPr>
          <a:xfrm>
            <a:off x="9075191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51" name="List item supreme 2 2"/>
          <p:cNvSpPr txBox="1"/>
          <p:nvPr/>
        </p:nvSpPr>
        <p:spPr>
          <a:xfrm>
            <a:off x="9450095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Does not charge well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充电不正常</a:t>
            </a:r>
            <a:endParaRPr lang="en-US" sz="950" dirty="0"/>
          </a:p>
        </p:txBody>
      </p:sp>
      <p:sp>
        <p:nvSpPr>
          <p:cNvPr id="52" name="List count supreme 2 3"/>
          <p:cNvSpPr txBox="1"/>
          <p:nvPr/>
        </p:nvSpPr>
        <p:spPr>
          <a:xfrm>
            <a:off x="9075191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53" name="List item supreme 2 3"/>
          <p:cNvSpPr txBox="1"/>
          <p:nvPr/>
        </p:nvSpPr>
        <p:spPr>
          <a:xfrm>
            <a:off x="9450095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Fragile attachments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配件易碎</a:t>
            </a:r>
            <a:endParaRPr lang="en-US" sz="950" dirty="0"/>
          </a:p>
        </p:txBody>
      </p:sp>
      <p:sp>
        <p:nvSpPr>
          <p:cNvPr id="54" name="Ask card supreme"/>
          <p:cNvSpPr/>
          <p:nvPr/>
        </p:nvSpPr>
        <p:spPr>
          <a:xfrm>
            <a:off x="6415888" y="5340096"/>
            <a:ext cx="5044288" cy="502920"/>
          </a:xfrm>
          <a:prstGeom prst="roundRect">
            <a:avLst>
              <a:gd name="adj" fmla="val 29091"/>
            </a:avLst>
          </a:prstGeom>
          <a:solidFill>
            <a:srgbClr val="F5F1EA"/>
          </a:solidFill>
          <a:ln/>
        </p:spPr>
      </p:sp>
      <p:sp>
        <p:nvSpPr>
          <p:cNvPr id="55" name="Ask supreme"/>
          <p:cNvSpPr txBox="1"/>
          <p:nvPr/>
        </p:nvSpPr>
        <p:spPr>
          <a:xfrm>
            <a:off x="6553048" y="5394960"/>
            <a:ext cx="476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OUR ASK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我们的期望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Battery and charging that last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持久耐用的电池与充电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Even trimming, also on short stubble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修剪均匀，短胡茬也能修好</a:t>
            </a:r>
            <a:endParaRPr lang="en-US" sz="1000" dirty="0"/>
          </a:p>
        </p:txBody>
      </p:sp>
      <p:sp>
        <p:nvSpPr>
          <p:cNvPr id="56" name="Review source"/>
          <p:cNvSpPr txBox="1"/>
          <p:nvPr/>
        </p:nvSpPr>
        <p:spPr>
          <a:xfrm>
            <a:off x="548640" y="6016752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Sources: bol.com sales, returns and 1 to 3 star reviews; Wellshave customer service defect log. All 1 January to 15 October 2026. Quotes translated from Dutch.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数据来源：bol.com 销量、退货及 1 至 3 星评价；Wellshave 售后故障记录。时间均为 2026 年 1 月 1 日至 10 月 15 日。引文译自荷兰语。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Product focus: shavers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产品聚焦：剃须刀</a:t>
            </a:r>
            <a:endParaRPr lang="en-US" sz="2000" dirty="0"/>
          </a:p>
        </p:txBody>
      </p:sp>
      <p:sp>
        <p:nvSpPr>
          <p:cNvPr id="4" name="Product card deluxe"/>
          <p:cNvSpPr/>
          <p:nvPr/>
        </p:nvSpPr>
        <p:spPr>
          <a:xfrm>
            <a:off x="548640" y="1600200"/>
            <a:ext cx="5410048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</p:spPr>
      </p:sp>
      <p:pic>
        <p:nvPicPr>
          <p:cNvPr id="5" name="Product photo deluxe" descr="Head Shaver Delux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46504"/>
            <a:ext cx="1188720" cy="1188720"/>
          </a:xfrm>
          <a:prstGeom prst="rect">
            <a:avLst/>
          </a:prstGeom>
        </p:spPr>
      </p:pic>
      <p:sp>
        <p:nvSpPr>
          <p:cNvPr id="6" name="Product name deluxe"/>
          <p:cNvSpPr txBox="1"/>
          <p:nvPr/>
        </p:nvSpPr>
        <p:spPr>
          <a:xfrm>
            <a:off x="2103120" y="1709928"/>
            <a:ext cx="3690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Head Shaver Deluxe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Deluxe 光头剃须刀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Model WS-SA1 / JK-8588A</a:t>
            </a:r>
            <a:endParaRPr lang="en-US" sz="1450" dirty="0"/>
          </a:p>
        </p:txBody>
      </p:sp>
      <p:sp>
        <p:nvSpPr>
          <p:cNvPr id="7" name="Product stat deluxe 1"/>
          <p:cNvSpPr txBox="1"/>
          <p:nvPr/>
        </p:nvSpPr>
        <p:spPr>
          <a:xfrm>
            <a:off x="2103120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1,581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sold in 2026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年销量</a:t>
            </a:r>
            <a:endParaRPr lang="en-US" sz="1500" dirty="0"/>
          </a:p>
        </p:txBody>
      </p:sp>
      <p:sp>
        <p:nvSpPr>
          <p:cNvPr id="8" name="Product stat deluxe 2"/>
          <p:cNvSpPr txBox="1"/>
          <p:nvPr/>
        </p:nvSpPr>
        <p:spPr>
          <a:xfrm>
            <a:off x="3333445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4.6%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return rate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</a:t>
            </a:r>
            <a:endParaRPr lang="en-US" sz="1500" dirty="0"/>
          </a:p>
        </p:txBody>
      </p:sp>
      <p:sp>
        <p:nvSpPr>
          <p:cNvPr id="9" name="Product stat deluxe 3"/>
          <p:cNvSpPr txBox="1"/>
          <p:nvPr/>
        </p:nvSpPr>
        <p:spPr>
          <a:xfrm>
            <a:off x="4563770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39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defect reports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故障报告</a:t>
            </a:r>
            <a:endParaRPr lang="en-US" sz="1500" dirty="0"/>
          </a:p>
        </p:txBody>
      </p:sp>
      <p:sp>
        <p:nvSpPr>
          <p:cNvPr id="10" name="Focus deluxe"/>
          <p:cNvSpPr/>
          <p:nvPr/>
        </p:nvSpPr>
        <p:spPr>
          <a:xfrm>
            <a:off x="731520" y="3063240"/>
            <a:ext cx="5044288" cy="1097280"/>
          </a:xfrm>
          <a:prstGeom prst="roundRect">
            <a:avLst>
              <a:gd name="adj" fmla="val 13333"/>
            </a:avLst>
          </a:prstGeom>
          <a:solidFill>
            <a:srgbClr val="191816"/>
          </a:solidFill>
          <a:ln/>
        </p:spPr>
      </p:sp>
      <p:sp>
        <p:nvSpPr>
          <p:cNvPr id="11" name="Focus badge deluxe"/>
          <p:cNvSpPr/>
          <p:nvPr/>
        </p:nvSpPr>
        <p:spPr>
          <a:xfrm>
            <a:off x="896112" y="322783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Focus icon delux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7" y="3311957"/>
            <a:ext cx="252374" cy="252374"/>
          </a:xfrm>
          <a:prstGeom prst="rect">
            <a:avLst/>
          </a:prstGeom>
        </p:spPr>
      </p:pic>
      <p:sp>
        <p:nvSpPr>
          <p:cNvPr id="13" name="Focus text deluxe"/>
          <p:cNvSpPr txBox="1"/>
          <p:nvPr/>
        </p:nvSpPr>
        <p:spPr>
          <a:xfrm>
            <a:off x="1481328" y="3191256"/>
            <a:ext cx="412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BATTERY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电池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28 of 39 defect reports: battery or charging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起故障报告中有 28 起与电池或充电有关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chemeClr val="bg1"/>
                </a:solidFill>
              </a:rPr>
              <a:t>“The battery suddenly jumps from about 65% to 0%.”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电量会突然从 65% 左右跳到 0%。</a:t>
            </a:r>
            <a:endParaRPr lang="en-US" sz="900" dirty="0"/>
          </a:p>
        </p:txBody>
      </p:sp>
      <p:sp>
        <p:nvSpPr>
          <p:cNvPr id="14" name="List head deluxe 1"/>
          <p:cNvSpPr txBox="1"/>
          <p:nvPr/>
        </p:nvSpPr>
        <p:spPr>
          <a:xfrm>
            <a:off x="731520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DEFECT REPORTS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售后故障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39</a:t>
            </a:r>
            <a:endParaRPr lang="en-US" sz="850" dirty="0"/>
          </a:p>
        </p:txBody>
      </p:sp>
      <p:sp>
        <p:nvSpPr>
          <p:cNvPr id="15" name="List count deluxe 1 1"/>
          <p:cNvSpPr txBox="1"/>
          <p:nvPr/>
        </p:nvSpPr>
        <p:spPr>
          <a:xfrm>
            <a:off x="731520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28</a:t>
            </a:r>
            <a:endParaRPr lang="en-US" sz="1250" dirty="0"/>
          </a:p>
        </p:txBody>
      </p:sp>
      <p:sp>
        <p:nvSpPr>
          <p:cNvPr id="16" name="List item deluxe 1 1"/>
          <p:cNvSpPr txBox="1"/>
          <p:nvPr/>
        </p:nvSpPr>
        <p:spPr>
          <a:xfrm>
            <a:off x="1106424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Battery or charging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950" dirty="0"/>
          </a:p>
        </p:txBody>
      </p:sp>
      <p:sp>
        <p:nvSpPr>
          <p:cNvPr id="17" name="List count deluxe 1 2"/>
          <p:cNvSpPr txBox="1"/>
          <p:nvPr/>
        </p:nvSpPr>
        <p:spPr>
          <a:xfrm>
            <a:off x="731520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4</a:t>
            </a:r>
            <a:endParaRPr lang="en-US" sz="1250" dirty="0"/>
          </a:p>
        </p:txBody>
      </p:sp>
      <p:sp>
        <p:nvSpPr>
          <p:cNvPr id="18" name="List item deluxe 1 2"/>
          <p:cNvSpPr txBox="1"/>
          <p:nvPr/>
        </p:nvSpPr>
        <p:spPr>
          <a:xfrm>
            <a:off x="1106424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Won't start, cuts out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无法启动或断电</a:t>
            </a:r>
            <a:endParaRPr lang="en-US" sz="950" dirty="0"/>
          </a:p>
        </p:txBody>
      </p:sp>
      <p:sp>
        <p:nvSpPr>
          <p:cNvPr id="19" name="List count deluxe 1 3"/>
          <p:cNvSpPr txBox="1"/>
          <p:nvPr/>
        </p:nvSpPr>
        <p:spPr>
          <a:xfrm>
            <a:off x="731520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3</a:t>
            </a:r>
            <a:endParaRPr lang="en-US" sz="1250" dirty="0"/>
          </a:p>
        </p:txBody>
      </p:sp>
      <p:sp>
        <p:nvSpPr>
          <p:cNvPr id="20" name="List item deluxe 1 3"/>
          <p:cNvSpPr txBox="1"/>
          <p:nvPr/>
        </p:nvSpPr>
        <p:spPr>
          <a:xfrm>
            <a:off x="1106424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On/off switch faults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开关故障</a:t>
            </a:r>
            <a:endParaRPr lang="en-US" sz="950" dirty="0"/>
          </a:p>
        </p:txBody>
      </p:sp>
      <p:sp>
        <p:nvSpPr>
          <p:cNvPr id="21" name="List head deluxe 2"/>
          <p:cNvSpPr txBox="1"/>
          <p:nvPr/>
        </p:nvSpPr>
        <p:spPr>
          <a:xfrm>
            <a:off x="3390824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BOL.COM REVIEWS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差评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9</a:t>
            </a:r>
            <a:endParaRPr lang="en-US" sz="850" dirty="0"/>
          </a:p>
        </p:txBody>
      </p:sp>
      <p:sp>
        <p:nvSpPr>
          <p:cNvPr id="22" name="List count deluxe 2 1"/>
          <p:cNvSpPr txBox="1"/>
          <p:nvPr/>
        </p:nvSpPr>
        <p:spPr>
          <a:xfrm>
            <a:off x="3390824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23" name="List item deluxe 2 1"/>
          <p:cNvSpPr txBox="1"/>
          <p:nvPr/>
        </p:nvSpPr>
        <p:spPr>
          <a:xfrm>
            <a:off x="3765728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Battery or charging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950" dirty="0"/>
          </a:p>
        </p:txBody>
      </p:sp>
      <p:sp>
        <p:nvSpPr>
          <p:cNvPr id="24" name="List count deluxe 2 2"/>
          <p:cNvSpPr txBox="1"/>
          <p:nvPr/>
        </p:nvSpPr>
        <p:spPr>
          <a:xfrm>
            <a:off x="3390824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25" name="List item deluxe 2 2"/>
          <p:cNvSpPr txBox="1"/>
          <p:nvPr/>
        </p:nvSpPr>
        <p:spPr>
          <a:xfrm>
            <a:off x="3765728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Skin irritation, cuts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皮肤刺激或划伤</a:t>
            </a:r>
            <a:endParaRPr lang="en-US" sz="950" dirty="0"/>
          </a:p>
        </p:txBody>
      </p:sp>
      <p:sp>
        <p:nvSpPr>
          <p:cNvPr id="26" name="List count deluxe 2 3"/>
          <p:cNvSpPr txBox="1"/>
          <p:nvPr/>
        </p:nvSpPr>
        <p:spPr>
          <a:xfrm>
            <a:off x="3390824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27" name="List item deluxe 2 3"/>
          <p:cNvSpPr txBox="1"/>
          <p:nvPr/>
        </p:nvSpPr>
        <p:spPr>
          <a:xfrm>
            <a:off x="3765728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Not a smooth result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剃得不够干净</a:t>
            </a:r>
            <a:endParaRPr lang="en-US" sz="950" dirty="0"/>
          </a:p>
        </p:txBody>
      </p:sp>
      <p:sp>
        <p:nvSpPr>
          <p:cNvPr id="28" name="Ask card deluxe"/>
          <p:cNvSpPr/>
          <p:nvPr/>
        </p:nvSpPr>
        <p:spPr>
          <a:xfrm>
            <a:off x="731520" y="5340096"/>
            <a:ext cx="5044288" cy="502920"/>
          </a:xfrm>
          <a:prstGeom prst="roundRect">
            <a:avLst>
              <a:gd name="adj" fmla="val 29091"/>
            </a:avLst>
          </a:prstGeom>
          <a:solidFill>
            <a:srgbClr val="F5F1EA"/>
          </a:solidFill>
          <a:ln/>
        </p:spPr>
      </p:sp>
      <p:sp>
        <p:nvSpPr>
          <p:cNvPr id="29" name="Ask deluxe"/>
          <p:cNvSpPr txBox="1"/>
          <p:nvPr/>
        </p:nvSpPr>
        <p:spPr>
          <a:xfrm>
            <a:off x="868680" y="5394960"/>
            <a:ext cx="476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OUR ASK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我们的期望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Battery and charging port that last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耐用的电池与充电接口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Smoother on the skin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对皮肤更顺滑温和</a:t>
            </a:r>
            <a:endParaRPr lang="en-US" sz="1000" dirty="0"/>
          </a:p>
        </p:txBody>
      </p:sp>
      <p:sp>
        <p:nvSpPr>
          <p:cNvPr id="30" name="Product card baron"/>
          <p:cNvSpPr/>
          <p:nvPr/>
        </p:nvSpPr>
        <p:spPr>
          <a:xfrm>
            <a:off x="6233008" y="1600200"/>
            <a:ext cx="5410048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</p:spPr>
      </p:sp>
      <p:pic>
        <p:nvPicPr>
          <p:cNvPr id="31" name="Product photo baron" descr="Foil Shaver Blade Bar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1746504"/>
            <a:ext cx="1188720" cy="1188720"/>
          </a:xfrm>
          <a:prstGeom prst="rect">
            <a:avLst/>
          </a:prstGeom>
        </p:spPr>
      </p:pic>
      <p:sp>
        <p:nvSpPr>
          <p:cNvPr id="32" name="Product name baron"/>
          <p:cNvSpPr txBox="1"/>
          <p:nvPr/>
        </p:nvSpPr>
        <p:spPr>
          <a:xfrm>
            <a:off x="7787488" y="1709928"/>
            <a:ext cx="3690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Foil Shaver Blade Baron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Blade Baron 往复式剃须刀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Model FK-706</a:t>
            </a:r>
            <a:endParaRPr lang="en-US" sz="1450" dirty="0"/>
          </a:p>
        </p:txBody>
      </p:sp>
      <p:sp>
        <p:nvSpPr>
          <p:cNvPr id="33" name="Product stat baron 1"/>
          <p:cNvSpPr txBox="1"/>
          <p:nvPr/>
        </p:nvSpPr>
        <p:spPr>
          <a:xfrm>
            <a:off x="7787488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1,307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sold in 2026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年销量</a:t>
            </a:r>
            <a:endParaRPr lang="en-US" sz="1500" dirty="0"/>
          </a:p>
        </p:txBody>
      </p:sp>
      <p:sp>
        <p:nvSpPr>
          <p:cNvPr id="34" name="Product stat baron 2"/>
          <p:cNvSpPr txBox="1"/>
          <p:nvPr/>
        </p:nvSpPr>
        <p:spPr>
          <a:xfrm>
            <a:off x="9017813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5.6%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return rate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</a:t>
            </a:r>
            <a:endParaRPr lang="en-US" sz="1500" dirty="0"/>
          </a:p>
        </p:txBody>
      </p:sp>
      <p:sp>
        <p:nvSpPr>
          <p:cNvPr id="35" name="Product stat baron 3"/>
          <p:cNvSpPr txBox="1"/>
          <p:nvPr/>
        </p:nvSpPr>
        <p:spPr>
          <a:xfrm>
            <a:off x="10248138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defect reports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故障报告</a:t>
            </a:r>
            <a:endParaRPr lang="en-US" sz="1500" dirty="0"/>
          </a:p>
        </p:txBody>
      </p:sp>
      <p:sp>
        <p:nvSpPr>
          <p:cNvPr id="36" name="Focus baron"/>
          <p:cNvSpPr/>
          <p:nvPr/>
        </p:nvSpPr>
        <p:spPr>
          <a:xfrm>
            <a:off x="6415888" y="3063240"/>
            <a:ext cx="5044288" cy="1097280"/>
          </a:xfrm>
          <a:prstGeom prst="roundRect">
            <a:avLst>
              <a:gd name="adj" fmla="val 13333"/>
            </a:avLst>
          </a:prstGeom>
          <a:solidFill>
            <a:srgbClr val="EDE6DA"/>
          </a:solidFill>
          <a:ln/>
        </p:spPr>
      </p:sp>
      <p:sp>
        <p:nvSpPr>
          <p:cNvPr id="37" name="Focus badge baron"/>
          <p:cNvSpPr/>
          <p:nvPr/>
        </p:nvSpPr>
        <p:spPr>
          <a:xfrm>
            <a:off x="6580480" y="32278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Focus icon bar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604" y="3311957"/>
            <a:ext cx="252374" cy="252374"/>
          </a:xfrm>
          <a:prstGeom prst="rect">
            <a:avLst/>
          </a:prstGeom>
        </p:spPr>
      </p:pic>
      <p:sp>
        <p:nvSpPr>
          <p:cNvPr id="39" name="Focus text baron"/>
          <p:cNvSpPr txBox="1"/>
          <p:nvPr/>
        </p:nvSpPr>
        <p:spPr>
          <a:xfrm>
            <a:off x="7165696" y="3191256"/>
            <a:ext cx="412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RETURNS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退货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5.6% returns, the highest of these products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 5.6%，为这些产品中最高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chemeClr val="tx1"/>
                </a:solidFill>
              </a:rPr>
              <a:t>“It shaves, but not completely smooth as described.”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能剃，但没有描述的那么干净。</a:t>
            </a:r>
            <a:endParaRPr lang="en-US" sz="900" dirty="0"/>
          </a:p>
        </p:txBody>
      </p:sp>
      <p:sp>
        <p:nvSpPr>
          <p:cNvPr id="40" name="List head baron 1"/>
          <p:cNvSpPr txBox="1"/>
          <p:nvPr/>
        </p:nvSpPr>
        <p:spPr>
          <a:xfrm>
            <a:off x="6415888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DEFECT REPORTS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售后故障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1</a:t>
            </a:r>
            <a:endParaRPr lang="en-US" sz="850" dirty="0"/>
          </a:p>
        </p:txBody>
      </p:sp>
      <p:sp>
        <p:nvSpPr>
          <p:cNvPr id="41" name="List count baron 1 1"/>
          <p:cNvSpPr txBox="1"/>
          <p:nvPr/>
        </p:nvSpPr>
        <p:spPr>
          <a:xfrm>
            <a:off x="6415888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42" name="List item baron 1 1"/>
          <p:cNvSpPr txBox="1"/>
          <p:nvPr/>
        </p:nvSpPr>
        <p:spPr>
          <a:xfrm>
            <a:off x="6790792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Weak motor, pulls hairs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动力不足，拉扯毛发</a:t>
            </a:r>
            <a:endParaRPr lang="en-US" sz="950" dirty="0"/>
          </a:p>
        </p:txBody>
      </p:sp>
      <p:sp>
        <p:nvSpPr>
          <p:cNvPr id="43" name="List head baron 2"/>
          <p:cNvSpPr txBox="1"/>
          <p:nvPr/>
        </p:nvSpPr>
        <p:spPr>
          <a:xfrm>
            <a:off x="9075191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BOL.COM REVIEWS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差评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2</a:t>
            </a:r>
            <a:endParaRPr lang="en-US" sz="850" dirty="0"/>
          </a:p>
        </p:txBody>
      </p:sp>
      <p:sp>
        <p:nvSpPr>
          <p:cNvPr id="44" name="List count baron 2 1"/>
          <p:cNvSpPr txBox="1"/>
          <p:nvPr/>
        </p:nvSpPr>
        <p:spPr>
          <a:xfrm>
            <a:off x="9075191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45" name="List item baron 2 1"/>
          <p:cNvSpPr txBox="1"/>
          <p:nvPr/>
        </p:nvSpPr>
        <p:spPr>
          <a:xfrm>
            <a:off x="9450095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Not completely smooth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剃得不够干净</a:t>
            </a:r>
            <a:endParaRPr lang="en-US" sz="950" dirty="0"/>
          </a:p>
        </p:txBody>
      </p:sp>
      <p:sp>
        <p:nvSpPr>
          <p:cNvPr id="46" name="Ask card baron"/>
          <p:cNvSpPr/>
          <p:nvPr/>
        </p:nvSpPr>
        <p:spPr>
          <a:xfrm>
            <a:off x="6415888" y="5340096"/>
            <a:ext cx="5044288" cy="502920"/>
          </a:xfrm>
          <a:prstGeom prst="roundRect">
            <a:avLst>
              <a:gd name="adj" fmla="val 29091"/>
            </a:avLst>
          </a:prstGeom>
          <a:solidFill>
            <a:srgbClr val="F5F1EA"/>
          </a:solidFill>
          <a:ln/>
        </p:spPr>
      </p:sp>
      <p:sp>
        <p:nvSpPr>
          <p:cNvPr id="47" name="Ask baron"/>
          <p:cNvSpPr txBox="1"/>
          <p:nvPr/>
        </p:nvSpPr>
        <p:spPr>
          <a:xfrm>
            <a:off x="6553048" y="5394960"/>
            <a:ext cx="476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OUR ASK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我们的期望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A closer shave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剃得更干净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Find the return reasons together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共同分析退货原因</a:t>
            </a:r>
            <a:endParaRPr lang="en-US" sz="1000" dirty="0"/>
          </a:p>
        </p:txBody>
      </p:sp>
      <p:sp>
        <p:nvSpPr>
          <p:cNvPr id="48" name="Review source"/>
          <p:cNvSpPr txBox="1"/>
          <p:nvPr/>
        </p:nvSpPr>
        <p:spPr>
          <a:xfrm>
            <a:off x="548640" y="6016752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Sources: bol.com sales, returns and 1 to 3 star reviews; Wellshave customer service defect log. All 1 January to 15 October 2026. Quotes translated from Dutch.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数据来源：bol.com 销量、退货及 1 至 3 星评价；Wellshave 售后故障记录。时间均为 2026 年 1 月 1 日至 10 月 15 日。引文译自荷兰语。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Product focus: body groomers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产品聚焦：身体修剪器</a:t>
            </a:r>
            <a:endParaRPr lang="en-US" sz="2000" dirty="0"/>
          </a:p>
        </p:txBody>
      </p:sp>
      <p:sp>
        <p:nvSpPr>
          <p:cNvPr id="4" name="Product card groomguard"/>
          <p:cNvSpPr/>
          <p:nvPr/>
        </p:nvSpPr>
        <p:spPr>
          <a:xfrm>
            <a:off x="548640" y="1600200"/>
            <a:ext cx="5410048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</p:spPr>
      </p:sp>
      <p:pic>
        <p:nvPicPr>
          <p:cNvPr id="5" name="Product photo groomguard" descr="Body Groomer Groom Gu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46504"/>
            <a:ext cx="1188720" cy="1188720"/>
          </a:xfrm>
          <a:prstGeom prst="rect">
            <a:avLst/>
          </a:prstGeom>
        </p:spPr>
      </p:pic>
      <p:sp>
        <p:nvSpPr>
          <p:cNvPr id="6" name="Product name groomguard"/>
          <p:cNvSpPr txBox="1"/>
          <p:nvPr/>
        </p:nvSpPr>
        <p:spPr>
          <a:xfrm>
            <a:off x="2103120" y="1709928"/>
            <a:ext cx="3690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Body Groomer Groom Guard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Groom Guard 身体修剪器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Model WS-BG1 / HT-6006</a:t>
            </a:r>
            <a:endParaRPr lang="en-US" sz="1450" dirty="0"/>
          </a:p>
        </p:txBody>
      </p:sp>
      <p:sp>
        <p:nvSpPr>
          <p:cNvPr id="7" name="Product stat groomguard 1"/>
          <p:cNvSpPr txBox="1"/>
          <p:nvPr/>
        </p:nvSpPr>
        <p:spPr>
          <a:xfrm>
            <a:off x="2103120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2,116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sold in 2026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年销量</a:t>
            </a:r>
            <a:endParaRPr lang="en-US" sz="1500" dirty="0"/>
          </a:p>
        </p:txBody>
      </p:sp>
      <p:sp>
        <p:nvSpPr>
          <p:cNvPr id="8" name="Product stat groomguard 2"/>
          <p:cNvSpPr txBox="1"/>
          <p:nvPr/>
        </p:nvSpPr>
        <p:spPr>
          <a:xfrm>
            <a:off x="3333445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2.3%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return rate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</a:t>
            </a:r>
            <a:endParaRPr lang="en-US" sz="1500" dirty="0"/>
          </a:p>
        </p:txBody>
      </p:sp>
      <p:sp>
        <p:nvSpPr>
          <p:cNvPr id="9" name="Product stat groomguard 3"/>
          <p:cNvSpPr txBox="1"/>
          <p:nvPr/>
        </p:nvSpPr>
        <p:spPr>
          <a:xfrm>
            <a:off x="4563770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35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defect reports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故障报告</a:t>
            </a:r>
            <a:endParaRPr lang="en-US" sz="1500" dirty="0"/>
          </a:p>
        </p:txBody>
      </p:sp>
      <p:sp>
        <p:nvSpPr>
          <p:cNvPr id="10" name="Focus groomguard"/>
          <p:cNvSpPr/>
          <p:nvPr/>
        </p:nvSpPr>
        <p:spPr>
          <a:xfrm>
            <a:off x="731520" y="3063240"/>
            <a:ext cx="5044288" cy="1097280"/>
          </a:xfrm>
          <a:prstGeom prst="roundRect">
            <a:avLst>
              <a:gd name="adj" fmla="val 13333"/>
            </a:avLst>
          </a:prstGeom>
          <a:solidFill>
            <a:srgbClr val="191816"/>
          </a:solidFill>
          <a:ln/>
        </p:spPr>
      </p:sp>
      <p:sp>
        <p:nvSpPr>
          <p:cNvPr id="11" name="Focus badge groomguard"/>
          <p:cNvSpPr/>
          <p:nvPr/>
        </p:nvSpPr>
        <p:spPr>
          <a:xfrm>
            <a:off x="896112" y="322783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Focus icon groomguar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7" y="3311957"/>
            <a:ext cx="252374" cy="252374"/>
          </a:xfrm>
          <a:prstGeom prst="rect">
            <a:avLst/>
          </a:prstGeom>
        </p:spPr>
      </p:pic>
      <p:sp>
        <p:nvSpPr>
          <p:cNvPr id="13" name="Focus text groomguard"/>
          <p:cNvSpPr txBox="1"/>
          <p:nvPr/>
        </p:nvSpPr>
        <p:spPr>
          <a:xfrm>
            <a:off x="1481328" y="3191256"/>
            <a:ext cx="412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BATTERY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电池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27 of 35 defect reports: battery or charging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起故障报告中有 27 起与电池或充电有关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chemeClr val="bg1"/>
                </a:solidFill>
              </a:rPr>
              <a:t>“No longer charges. Tried other charging cables.”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无法充电，已经换过其他充电线。</a:t>
            </a:r>
            <a:endParaRPr lang="en-US" sz="900" dirty="0"/>
          </a:p>
        </p:txBody>
      </p:sp>
      <p:sp>
        <p:nvSpPr>
          <p:cNvPr id="14" name="List head groomguard 1"/>
          <p:cNvSpPr txBox="1"/>
          <p:nvPr/>
        </p:nvSpPr>
        <p:spPr>
          <a:xfrm>
            <a:off x="731520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DEFECT REPORTS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售后故障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35</a:t>
            </a:r>
            <a:endParaRPr lang="en-US" sz="850" dirty="0"/>
          </a:p>
        </p:txBody>
      </p:sp>
      <p:sp>
        <p:nvSpPr>
          <p:cNvPr id="15" name="List count groomguard 1 1"/>
          <p:cNvSpPr txBox="1"/>
          <p:nvPr/>
        </p:nvSpPr>
        <p:spPr>
          <a:xfrm>
            <a:off x="731520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27</a:t>
            </a:r>
            <a:endParaRPr lang="en-US" sz="1250" dirty="0"/>
          </a:p>
        </p:txBody>
      </p:sp>
      <p:sp>
        <p:nvSpPr>
          <p:cNvPr id="16" name="List item groomguard 1 1"/>
          <p:cNvSpPr txBox="1"/>
          <p:nvPr/>
        </p:nvSpPr>
        <p:spPr>
          <a:xfrm>
            <a:off x="1106424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Battery or charging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950" dirty="0"/>
          </a:p>
        </p:txBody>
      </p:sp>
      <p:sp>
        <p:nvSpPr>
          <p:cNvPr id="17" name="List count groomguard 1 2"/>
          <p:cNvSpPr txBox="1"/>
          <p:nvPr/>
        </p:nvSpPr>
        <p:spPr>
          <a:xfrm>
            <a:off x="731520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6</a:t>
            </a:r>
            <a:endParaRPr lang="en-US" sz="1250" dirty="0"/>
          </a:p>
        </p:txBody>
      </p:sp>
      <p:sp>
        <p:nvSpPr>
          <p:cNvPr id="18" name="List item groomguard 1 2"/>
          <p:cNvSpPr txBox="1"/>
          <p:nvPr/>
        </p:nvSpPr>
        <p:spPr>
          <a:xfrm>
            <a:off x="1106424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Won't start, cuts out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无法启动或断电</a:t>
            </a:r>
            <a:endParaRPr lang="en-US" sz="950" dirty="0"/>
          </a:p>
        </p:txBody>
      </p:sp>
      <p:sp>
        <p:nvSpPr>
          <p:cNvPr id="19" name="List count groomguard 1 3"/>
          <p:cNvSpPr txBox="1"/>
          <p:nvPr/>
        </p:nvSpPr>
        <p:spPr>
          <a:xfrm>
            <a:off x="731520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20" name="List item groomguard 1 3"/>
          <p:cNvSpPr txBox="1"/>
          <p:nvPr/>
        </p:nvSpPr>
        <p:spPr>
          <a:xfrm>
            <a:off x="1106424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Weak motor, pulls hairs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动力不足，拉扯毛发</a:t>
            </a:r>
            <a:endParaRPr lang="en-US" sz="950" dirty="0"/>
          </a:p>
        </p:txBody>
      </p:sp>
      <p:sp>
        <p:nvSpPr>
          <p:cNvPr id="21" name="List head groomguard 2"/>
          <p:cNvSpPr txBox="1"/>
          <p:nvPr/>
        </p:nvSpPr>
        <p:spPr>
          <a:xfrm>
            <a:off x="3390824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BOL.COM REVIEWS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差评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7</a:t>
            </a:r>
            <a:endParaRPr lang="en-US" sz="850" dirty="0"/>
          </a:p>
        </p:txBody>
      </p:sp>
      <p:sp>
        <p:nvSpPr>
          <p:cNvPr id="22" name="List count groomguard 2 1"/>
          <p:cNvSpPr txBox="1"/>
          <p:nvPr/>
        </p:nvSpPr>
        <p:spPr>
          <a:xfrm>
            <a:off x="3390824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23" name="List item groomguard 2 1"/>
          <p:cNvSpPr txBox="1"/>
          <p:nvPr/>
        </p:nvSpPr>
        <p:spPr>
          <a:xfrm>
            <a:off x="3765728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Too sharp, irritation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过于锋利，刺激皮肤</a:t>
            </a:r>
            <a:endParaRPr lang="en-US" sz="950" dirty="0"/>
          </a:p>
        </p:txBody>
      </p:sp>
      <p:sp>
        <p:nvSpPr>
          <p:cNvPr id="24" name="List count groomguard 2 2"/>
          <p:cNvSpPr txBox="1"/>
          <p:nvPr/>
        </p:nvSpPr>
        <p:spPr>
          <a:xfrm>
            <a:off x="3390824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25" name="List item groomguard 2 2"/>
          <p:cNvSpPr txBox="1"/>
          <p:nvPr/>
        </p:nvSpPr>
        <p:spPr>
          <a:xfrm>
            <a:off x="3765728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Misses or pulls hairs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漏剪或拉扯毛发</a:t>
            </a:r>
            <a:endParaRPr lang="en-US" sz="950" dirty="0"/>
          </a:p>
        </p:txBody>
      </p:sp>
      <p:sp>
        <p:nvSpPr>
          <p:cNvPr id="26" name="List count groomguard 2 3"/>
          <p:cNvSpPr txBox="1"/>
          <p:nvPr/>
        </p:nvSpPr>
        <p:spPr>
          <a:xfrm>
            <a:off x="3390824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27" name="List item groomguard 2 3"/>
          <p:cNvSpPr txBox="1"/>
          <p:nvPr/>
        </p:nvSpPr>
        <p:spPr>
          <a:xfrm>
            <a:off x="3765728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Unstable stand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底座不稳</a:t>
            </a:r>
            <a:endParaRPr lang="en-US" sz="950" dirty="0"/>
          </a:p>
        </p:txBody>
      </p:sp>
      <p:sp>
        <p:nvSpPr>
          <p:cNvPr id="28" name="Ask card groomguard"/>
          <p:cNvSpPr/>
          <p:nvPr/>
        </p:nvSpPr>
        <p:spPr>
          <a:xfrm>
            <a:off x="731520" y="5340096"/>
            <a:ext cx="5044288" cy="502920"/>
          </a:xfrm>
          <a:prstGeom prst="roundRect">
            <a:avLst>
              <a:gd name="adj" fmla="val 29091"/>
            </a:avLst>
          </a:prstGeom>
          <a:solidFill>
            <a:srgbClr val="F5F1EA"/>
          </a:solidFill>
          <a:ln/>
        </p:spPr>
      </p:sp>
      <p:sp>
        <p:nvSpPr>
          <p:cNvPr id="29" name="Ask groomguard"/>
          <p:cNvSpPr txBox="1"/>
          <p:nvPr/>
        </p:nvSpPr>
        <p:spPr>
          <a:xfrm>
            <a:off x="868680" y="5394960"/>
            <a:ext cx="476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OUR ASK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我们的期望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Battery and charging that last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持久耐用的电池与充电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A stable charging stand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更稳固的充电底座</a:t>
            </a:r>
            <a:endParaRPr lang="en-US" sz="1000" dirty="0"/>
          </a:p>
        </p:txBody>
      </p:sp>
      <p:sp>
        <p:nvSpPr>
          <p:cNvPr id="30" name="Product card flexguard"/>
          <p:cNvSpPr/>
          <p:nvPr/>
        </p:nvSpPr>
        <p:spPr>
          <a:xfrm>
            <a:off x="6233008" y="1600200"/>
            <a:ext cx="5410048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</p:spPr>
      </p:sp>
      <p:pic>
        <p:nvPicPr>
          <p:cNvPr id="31" name="Product photo flexguard" descr="Body Groomer Flex Gu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1746504"/>
            <a:ext cx="1188720" cy="1188720"/>
          </a:xfrm>
          <a:prstGeom prst="rect">
            <a:avLst/>
          </a:prstGeom>
        </p:spPr>
      </p:pic>
      <p:sp>
        <p:nvSpPr>
          <p:cNvPr id="32" name="Product name flexguard"/>
          <p:cNvSpPr txBox="1"/>
          <p:nvPr/>
        </p:nvSpPr>
        <p:spPr>
          <a:xfrm>
            <a:off x="7787488" y="1709928"/>
            <a:ext cx="3690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Body Groomer Flex Guard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 Guard 身体修剪器</a:t>
            </a:r>
            <a:endParaRPr lang="en-US" sz="14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Model WS-BG3</a:t>
            </a:r>
            <a:endParaRPr lang="en-US" sz="1450" dirty="0"/>
          </a:p>
        </p:txBody>
      </p:sp>
      <p:sp>
        <p:nvSpPr>
          <p:cNvPr id="33" name="Product stat flexguard 1"/>
          <p:cNvSpPr txBox="1"/>
          <p:nvPr/>
        </p:nvSpPr>
        <p:spPr>
          <a:xfrm>
            <a:off x="7787488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1,135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sold in 2026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年销量</a:t>
            </a:r>
            <a:endParaRPr lang="en-US" sz="1500" dirty="0"/>
          </a:p>
        </p:txBody>
      </p:sp>
      <p:sp>
        <p:nvSpPr>
          <p:cNvPr id="34" name="Product stat flexguard 2"/>
          <p:cNvSpPr txBox="1"/>
          <p:nvPr/>
        </p:nvSpPr>
        <p:spPr>
          <a:xfrm>
            <a:off x="9017813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5.2%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return rate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退货率</a:t>
            </a:r>
            <a:endParaRPr lang="en-US" sz="1500" dirty="0"/>
          </a:p>
        </p:txBody>
      </p:sp>
      <p:sp>
        <p:nvSpPr>
          <p:cNvPr id="35" name="Product stat flexguard 3"/>
          <p:cNvSpPr txBox="1"/>
          <p:nvPr/>
        </p:nvSpPr>
        <p:spPr>
          <a:xfrm>
            <a:off x="10248138" y="2441448"/>
            <a:ext cx="1230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defect reports</a:t>
            </a:r>
            <a:endParaRPr lang="en-US" sz="15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故障报告</a:t>
            </a:r>
            <a:endParaRPr lang="en-US" sz="1500" dirty="0"/>
          </a:p>
        </p:txBody>
      </p:sp>
      <p:sp>
        <p:nvSpPr>
          <p:cNvPr id="36" name="Focus flexguard"/>
          <p:cNvSpPr/>
          <p:nvPr/>
        </p:nvSpPr>
        <p:spPr>
          <a:xfrm>
            <a:off x="6415888" y="3063240"/>
            <a:ext cx="5044288" cy="1097280"/>
          </a:xfrm>
          <a:prstGeom prst="roundRect">
            <a:avLst>
              <a:gd name="adj" fmla="val 13333"/>
            </a:avLst>
          </a:prstGeom>
          <a:solidFill>
            <a:srgbClr val="EDE6DA"/>
          </a:solidFill>
          <a:ln/>
        </p:spPr>
      </p:sp>
      <p:sp>
        <p:nvSpPr>
          <p:cNvPr id="37" name="Focus badge flexguard"/>
          <p:cNvSpPr/>
          <p:nvPr/>
        </p:nvSpPr>
        <p:spPr>
          <a:xfrm>
            <a:off x="6580480" y="32278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Focus icon flexguar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604" y="3311957"/>
            <a:ext cx="252374" cy="252374"/>
          </a:xfrm>
          <a:prstGeom prst="rect">
            <a:avLst/>
          </a:prstGeom>
        </p:spPr>
      </p:pic>
      <p:sp>
        <p:nvSpPr>
          <p:cNvPr id="39" name="Focus text flexguard"/>
          <p:cNvSpPr txBox="1"/>
          <p:nvPr/>
        </p:nvSpPr>
        <p:spPr>
          <a:xfrm>
            <a:off x="7165696" y="3191256"/>
            <a:ext cx="412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MAIN ISSUE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主要问题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Misses or pulls hairs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漏剪或拉扯毛发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chemeClr val="tx1"/>
                </a:solidFill>
              </a:rPr>
              <a:t>“The head pulls out more hairs than it shaves.”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刀头拔掉的毛比剃掉的还多。</a:t>
            </a:r>
            <a:endParaRPr lang="en-US" sz="900" dirty="0"/>
          </a:p>
        </p:txBody>
      </p:sp>
      <p:sp>
        <p:nvSpPr>
          <p:cNvPr id="40" name="List head flexguard 1"/>
          <p:cNvSpPr txBox="1"/>
          <p:nvPr/>
        </p:nvSpPr>
        <p:spPr>
          <a:xfrm>
            <a:off x="6415888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DEFECT REPORTS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售后故障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4</a:t>
            </a:r>
            <a:endParaRPr lang="en-US" sz="850" dirty="0"/>
          </a:p>
        </p:txBody>
      </p:sp>
      <p:sp>
        <p:nvSpPr>
          <p:cNvPr id="41" name="List count flexguard 1 1"/>
          <p:cNvSpPr txBox="1"/>
          <p:nvPr/>
        </p:nvSpPr>
        <p:spPr>
          <a:xfrm>
            <a:off x="6415888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2</a:t>
            </a:r>
            <a:endParaRPr lang="en-US" sz="1250" dirty="0"/>
          </a:p>
        </p:txBody>
      </p:sp>
      <p:sp>
        <p:nvSpPr>
          <p:cNvPr id="42" name="List item flexguard 1 1"/>
          <p:cNvSpPr txBox="1"/>
          <p:nvPr/>
        </p:nvSpPr>
        <p:spPr>
          <a:xfrm>
            <a:off x="6790792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Battery or charging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电池或充电</a:t>
            </a:r>
            <a:endParaRPr lang="en-US" sz="950" dirty="0"/>
          </a:p>
        </p:txBody>
      </p:sp>
      <p:sp>
        <p:nvSpPr>
          <p:cNvPr id="43" name="List count flexguard 1 2"/>
          <p:cNvSpPr txBox="1"/>
          <p:nvPr/>
        </p:nvSpPr>
        <p:spPr>
          <a:xfrm>
            <a:off x="6415888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44" name="List item flexguard 1 2"/>
          <p:cNvSpPr txBox="1"/>
          <p:nvPr/>
        </p:nvSpPr>
        <p:spPr>
          <a:xfrm>
            <a:off x="6790792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Won't start, cuts out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无法启动或断电</a:t>
            </a:r>
            <a:endParaRPr lang="en-US" sz="950" dirty="0"/>
          </a:p>
        </p:txBody>
      </p:sp>
      <p:sp>
        <p:nvSpPr>
          <p:cNvPr id="45" name="List count flexguard 1 3"/>
          <p:cNvSpPr txBox="1"/>
          <p:nvPr/>
        </p:nvSpPr>
        <p:spPr>
          <a:xfrm>
            <a:off x="6415888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46" name="List item flexguard 1 3"/>
          <p:cNvSpPr txBox="1"/>
          <p:nvPr/>
        </p:nvSpPr>
        <p:spPr>
          <a:xfrm>
            <a:off x="6790792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Weak motor, pulls hairs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动力不足，拉扯毛发</a:t>
            </a:r>
            <a:endParaRPr lang="en-US" sz="950" dirty="0"/>
          </a:p>
        </p:txBody>
      </p:sp>
      <p:sp>
        <p:nvSpPr>
          <p:cNvPr id="47" name="List head flexguard 2"/>
          <p:cNvSpPr txBox="1"/>
          <p:nvPr/>
        </p:nvSpPr>
        <p:spPr>
          <a:xfrm>
            <a:off x="9075191" y="4224528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chemeClr val="accent6"/>
                </a:solidFill>
              </a:rPr>
              <a:t>BOL.COM REVIEWS</a:t>
            </a:r>
            <a:pPr indent="0" marL="0">
              <a:buNone/>
            </a:pPr>
            <a:r>
              <a:rPr lang="en-US" sz="85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差评</a:t>
            </a:r>
            <a:pPr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   4</a:t>
            </a:r>
            <a:endParaRPr lang="en-US" sz="850" dirty="0"/>
          </a:p>
        </p:txBody>
      </p:sp>
      <p:sp>
        <p:nvSpPr>
          <p:cNvPr id="48" name="List count flexguard 2 1"/>
          <p:cNvSpPr txBox="1"/>
          <p:nvPr/>
        </p:nvSpPr>
        <p:spPr>
          <a:xfrm>
            <a:off x="9075191" y="44531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49" name="List item flexguard 2 1"/>
          <p:cNvSpPr txBox="1"/>
          <p:nvPr/>
        </p:nvSpPr>
        <p:spPr>
          <a:xfrm>
            <a:off x="9450095" y="4453128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Misses or pulls hairs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漏剪或拉扯毛发</a:t>
            </a:r>
            <a:endParaRPr lang="en-US" sz="950" dirty="0"/>
          </a:p>
        </p:txBody>
      </p:sp>
      <p:sp>
        <p:nvSpPr>
          <p:cNvPr id="50" name="List count flexguard 2 2"/>
          <p:cNvSpPr txBox="1"/>
          <p:nvPr/>
        </p:nvSpPr>
        <p:spPr>
          <a:xfrm>
            <a:off x="9075191" y="4718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</a:t>
            </a:r>
            <a:endParaRPr lang="en-US" sz="1250" dirty="0"/>
          </a:p>
        </p:txBody>
      </p:sp>
      <p:sp>
        <p:nvSpPr>
          <p:cNvPr id="51" name="List item flexguard 2 2"/>
          <p:cNvSpPr txBox="1"/>
          <p:nvPr/>
        </p:nvSpPr>
        <p:spPr>
          <a:xfrm>
            <a:off x="9450095" y="4718304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Parts do not match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配件与描述不符</a:t>
            </a:r>
            <a:endParaRPr lang="en-US" sz="950" dirty="0"/>
          </a:p>
        </p:txBody>
      </p:sp>
      <p:sp>
        <p:nvSpPr>
          <p:cNvPr id="52" name="List count flexguard 2 3"/>
          <p:cNvSpPr txBox="1"/>
          <p:nvPr/>
        </p:nvSpPr>
        <p:spPr>
          <a:xfrm>
            <a:off x="9075191" y="49834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</a:t>
            </a:r>
            <a:endParaRPr lang="en-US" sz="1250" dirty="0"/>
          </a:p>
        </p:txBody>
      </p:sp>
      <p:sp>
        <p:nvSpPr>
          <p:cNvPr id="53" name="List item flexguard 2 3"/>
          <p:cNvSpPr txBox="1"/>
          <p:nvPr/>
        </p:nvSpPr>
        <p:spPr>
          <a:xfrm>
            <a:off x="9450095" y="4983480"/>
            <a:ext cx="201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Cuts and irritation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划伤与刺激</a:t>
            </a:r>
            <a:endParaRPr lang="en-US" sz="950" dirty="0"/>
          </a:p>
        </p:txBody>
      </p:sp>
      <p:sp>
        <p:nvSpPr>
          <p:cNvPr id="54" name="Ask card flexguard"/>
          <p:cNvSpPr/>
          <p:nvPr/>
        </p:nvSpPr>
        <p:spPr>
          <a:xfrm>
            <a:off x="6415888" y="5340096"/>
            <a:ext cx="5044288" cy="502920"/>
          </a:xfrm>
          <a:prstGeom prst="roundRect">
            <a:avLst>
              <a:gd name="adj" fmla="val 29091"/>
            </a:avLst>
          </a:prstGeom>
          <a:solidFill>
            <a:srgbClr val="F5F1EA"/>
          </a:solidFill>
          <a:ln/>
        </p:spPr>
      </p:sp>
      <p:sp>
        <p:nvSpPr>
          <p:cNvPr id="55" name="Ask flexguard"/>
          <p:cNvSpPr txBox="1"/>
          <p:nvPr/>
        </p:nvSpPr>
        <p:spPr>
          <a:xfrm>
            <a:off x="6553048" y="5394960"/>
            <a:ext cx="476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OUR ASK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我们的期望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More power, catches every hair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动力更强，不漏毛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→  Combs and attachments as described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限位梳与配件与描述一致</a:t>
            </a:r>
            <a:endParaRPr lang="en-US" sz="1000" dirty="0"/>
          </a:p>
        </p:txBody>
      </p:sp>
      <p:sp>
        <p:nvSpPr>
          <p:cNvPr id="56" name="Review source"/>
          <p:cNvSpPr txBox="1"/>
          <p:nvPr/>
        </p:nvSpPr>
        <p:spPr>
          <a:xfrm>
            <a:off x="548640" y="6016752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Sources: bol.com sales, returns and 1 to 3 star reviews; Wellshave customer service defect log. All 1 January to 15 October 2026. Quotes translated from Dutch.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数据来源：bol.com 销量、退货及 1 至 3 星评价；Wellshave 售后故障记录。时间均为 2026 年 1 月 1 日至 10 月 15 日。引文译自荷兰语。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want to improve together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我们希望共同改进的方向</a:t>
            </a:r>
            <a:endParaRPr lang="en-US" sz="2000" dirty="0"/>
          </a:p>
        </p:txBody>
      </p:sp>
      <p:sp>
        <p:nvSpPr>
          <p:cNvPr id="4" name="Priority card 1"/>
          <p:cNvSpPr/>
          <p:nvPr/>
        </p:nvSpPr>
        <p:spPr>
          <a:xfrm>
            <a:off x="548640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5" name="Priority badge 1"/>
          <p:cNvSpPr/>
          <p:nvPr/>
        </p:nvSpPr>
        <p:spPr>
          <a:xfrm>
            <a:off x="822960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riority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76272"/>
            <a:ext cx="365760" cy="365760"/>
          </a:xfrm>
          <a:prstGeom prst="rect">
            <a:avLst/>
          </a:prstGeom>
        </p:spPr>
      </p:pic>
      <p:sp>
        <p:nvSpPr>
          <p:cNvPr id="7" name="Priority title 1"/>
          <p:cNvSpPr txBox="1"/>
          <p:nvPr/>
        </p:nvSpPr>
        <p:spPr>
          <a:xfrm>
            <a:off x="1645920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Better quality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更好的品质</a:t>
            </a:r>
            <a:endParaRPr lang="en-US" sz="2000" dirty="0"/>
          </a:p>
        </p:txBody>
      </p:sp>
      <p:sp>
        <p:nvSpPr>
          <p:cNvPr id="8" name="Priority focus 1"/>
          <p:cNvSpPr txBox="1"/>
          <p:nvPr/>
        </p:nvSpPr>
        <p:spPr>
          <a:xfrm>
            <a:off x="822960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BATTERIES &amp; CHARGING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重点：电池与充电</a:t>
            </a:r>
            <a:endParaRPr lang="en-US" sz="1000" dirty="0"/>
          </a:p>
        </p:txBody>
      </p:sp>
      <p:sp>
        <p:nvSpPr>
          <p:cNvPr id="9" name="Priority points 1"/>
          <p:cNvSpPr txBox="1"/>
          <p:nvPr/>
        </p:nvSpPr>
        <p:spPr>
          <a:xfrm>
            <a:off x="822960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Longer battery life and lifespan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续航更长，电池寿命更长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Fixed-cable adapter as standard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今后标配线缆固定的一体式适配器</a:t>
            </a:r>
            <a:br/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2"/>
                </a:solidFill>
              </a:rPr>
              <a:t>So the right adapter is always used</a:t>
            </a:r>
            <a:br/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确保客户始终使用与设备匹配的适配器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Fewer defects and returns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减少故障和退货</a:t>
            </a:r>
            <a:endParaRPr lang="en-US" sz="1400" dirty="0"/>
          </a:p>
        </p:txBody>
      </p:sp>
      <p:sp>
        <p:nvSpPr>
          <p:cNvPr id="10" name="Priority card 2"/>
          <p:cNvSpPr/>
          <p:nvPr/>
        </p:nvSpPr>
        <p:spPr>
          <a:xfrm>
            <a:off x="4338218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11" name="Priority badge 2"/>
          <p:cNvSpPr/>
          <p:nvPr/>
        </p:nvSpPr>
        <p:spPr>
          <a:xfrm>
            <a:off x="4612538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Priority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42" y="2176272"/>
            <a:ext cx="365760" cy="365760"/>
          </a:xfrm>
          <a:prstGeom prst="rect">
            <a:avLst/>
          </a:prstGeom>
        </p:spPr>
      </p:pic>
      <p:sp>
        <p:nvSpPr>
          <p:cNvPr id="13" name="Priority title 2"/>
          <p:cNvSpPr txBox="1"/>
          <p:nvPr/>
        </p:nvSpPr>
        <p:spPr>
          <a:xfrm>
            <a:off x="5435498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Better prices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更优的价格</a:t>
            </a:r>
            <a:endParaRPr lang="en-US" sz="2000" dirty="0"/>
          </a:p>
        </p:txBody>
      </p:sp>
      <p:sp>
        <p:nvSpPr>
          <p:cNvPr id="14" name="Priority focus 2"/>
          <p:cNvSpPr txBox="1"/>
          <p:nvPr/>
        </p:nvSpPr>
        <p:spPr>
          <a:xfrm>
            <a:off x="4612538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CURRENT RANGE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重点：现有产品</a:t>
            </a:r>
            <a:endParaRPr lang="en-US" sz="1000" dirty="0"/>
          </a:p>
        </p:txBody>
      </p:sp>
      <p:sp>
        <p:nvSpPr>
          <p:cNvPr id="15" name="Priority points 2"/>
          <p:cNvSpPr txBox="1"/>
          <p:nvPr/>
        </p:nvSpPr>
        <p:spPr>
          <a:xfrm>
            <a:off x="4612538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Lower purchase prices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降低现有产品的采购价格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Cost ideas that keep the quality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在保证品质前提下的降本方案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Prices based on 2027 volumes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2027 年采购量报价</a:t>
            </a:r>
            <a:endParaRPr lang="en-US" sz="1400" dirty="0"/>
          </a:p>
        </p:txBody>
      </p:sp>
      <p:sp>
        <p:nvSpPr>
          <p:cNvPr id="16" name="Priority card 3"/>
          <p:cNvSpPr/>
          <p:nvPr/>
        </p:nvSpPr>
        <p:spPr>
          <a:xfrm>
            <a:off x="8127797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17" name="Priority badge 3"/>
          <p:cNvSpPr/>
          <p:nvPr/>
        </p:nvSpPr>
        <p:spPr>
          <a:xfrm>
            <a:off x="8402117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Priority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2176272"/>
            <a:ext cx="365760" cy="365760"/>
          </a:xfrm>
          <a:prstGeom prst="rect">
            <a:avLst/>
          </a:prstGeom>
        </p:spPr>
      </p:pic>
      <p:sp>
        <p:nvSpPr>
          <p:cNvPr id="19" name="Priority title 3"/>
          <p:cNvSpPr txBox="1"/>
          <p:nvPr/>
        </p:nvSpPr>
        <p:spPr>
          <a:xfrm>
            <a:off x="9225077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New models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新款产品</a:t>
            </a:r>
            <a:endParaRPr lang="en-US" sz="2000" dirty="0"/>
          </a:p>
        </p:txBody>
      </p:sp>
      <p:sp>
        <p:nvSpPr>
          <p:cNvPr id="20" name="Priority focus 3"/>
          <p:cNvSpPr txBox="1"/>
          <p:nvPr/>
        </p:nvSpPr>
        <p:spPr>
          <a:xfrm>
            <a:off x="8402117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CO-DEVELOPMENT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重点：共同开发</a:t>
            </a:r>
            <a:endParaRPr lang="en-US" sz="1000" dirty="0"/>
          </a:p>
        </p:txBody>
      </p:sp>
      <p:sp>
        <p:nvSpPr>
          <p:cNvPr id="21" name="Priority points 3"/>
          <p:cNvSpPr txBox="1"/>
          <p:nvPr/>
        </p:nvSpPr>
        <p:spPr>
          <a:xfrm>
            <a:off x="8402117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Develop new models together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共同开发新款产品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Upgrades of our best-sellers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升级我们的畅销款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Your newest technology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贵司的最新技术</a:t>
            </a:r>
            <a:endParaRPr lang="en-US" sz="1400" dirty="0"/>
          </a:p>
        </p:txBody>
      </p:sp>
      <p:sp>
        <p:nvSpPr>
          <p:cNvPr id="22" name="Why it matters"/>
          <p:cNvSpPr txBox="1"/>
          <p:nvPr/>
        </p:nvSpPr>
        <p:spPr>
          <a:xfrm>
            <a:off x="548640" y="5559552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Why this matters: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in 2026, 146 of the 215 defect reports on your products were about the battery or charging. Each one costs a new device and a disappointed customer.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年，贵司产品的 215 起故障报告中有 146 起与电池或充电有关。每一起都意味着一台新机和一位失望的客户。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would love to see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我们最期待看到的</a:t>
            </a:r>
            <a:endParaRPr lang="en-US" sz="2000" dirty="0"/>
          </a:p>
        </p:txBody>
      </p:sp>
      <p:sp>
        <p:nvSpPr>
          <p:cNvPr id="4" name="Ask card 1"/>
          <p:cNvSpPr/>
          <p:nvPr/>
        </p:nvSpPr>
        <p:spPr>
          <a:xfrm>
            <a:off x="548640" y="1783080"/>
            <a:ext cx="6675120" cy="1691640"/>
          </a:xfrm>
          <a:prstGeom prst="roundRect">
            <a:avLst>
              <a:gd name="adj" fmla="val 8649"/>
            </a:avLst>
          </a:prstGeom>
          <a:solidFill>
            <a:srgbClr val="24221F"/>
          </a:solidFill>
          <a:ln/>
        </p:spPr>
      </p:sp>
      <p:sp>
        <p:nvSpPr>
          <p:cNvPr id="5" name="Ask badge 1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Ask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03704"/>
            <a:ext cx="365760" cy="365760"/>
          </a:xfrm>
          <a:prstGeom prst="rect">
            <a:avLst/>
          </a:prstGeom>
        </p:spPr>
      </p:pic>
      <p:sp>
        <p:nvSpPr>
          <p:cNvPr id="7" name="Ask text 1"/>
          <p:cNvSpPr txBox="1"/>
          <p:nvPr/>
        </p:nvSpPr>
        <p:spPr>
          <a:xfrm>
            <a:off x="1691640" y="20574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Samples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样品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New models and improved batteries. We like to hold and test them ourselves.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新款产品和改进后的电池。我们希望亲手体验和测试。</a:t>
            </a:r>
            <a:endParaRPr lang="en-US" sz="1800" dirty="0"/>
          </a:p>
        </p:txBody>
      </p:sp>
      <p:sp>
        <p:nvSpPr>
          <p:cNvPr id="8" name="Ask card 2"/>
          <p:cNvSpPr/>
          <p:nvPr/>
        </p:nvSpPr>
        <p:spPr>
          <a:xfrm>
            <a:off x="548640" y="3703320"/>
            <a:ext cx="6675120" cy="1691640"/>
          </a:xfrm>
          <a:prstGeom prst="roundRect">
            <a:avLst>
              <a:gd name="adj" fmla="val 8649"/>
            </a:avLst>
          </a:prstGeom>
          <a:solidFill>
            <a:srgbClr val="24221F"/>
          </a:solidFill>
          <a:ln/>
        </p:spPr>
      </p:sp>
      <p:sp>
        <p:nvSpPr>
          <p:cNvPr id="9" name="Ask badge 2"/>
          <p:cNvSpPr/>
          <p:nvPr/>
        </p:nvSpPr>
        <p:spPr>
          <a:xfrm>
            <a:off x="822960" y="397764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sk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123944"/>
            <a:ext cx="365760" cy="365760"/>
          </a:xfrm>
          <a:prstGeom prst="rect">
            <a:avLst/>
          </a:prstGeom>
        </p:spPr>
      </p:pic>
      <p:sp>
        <p:nvSpPr>
          <p:cNvPr id="11" name="Ask text 2"/>
          <p:cNvSpPr txBox="1"/>
          <p:nvPr/>
        </p:nvSpPr>
        <p:spPr>
          <a:xfrm>
            <a:off x="1691640" y="39776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Your recommendations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您的推荐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What sells well in other markets? What would you change in our products?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哪些产品在其他市场卖得好？您会如何改进我们的产品？</a:t>
            </a:r>
            <a:endParaRPr lang="en-US" sz="1800" dirty="0"/>
          </a:p>
        </p:txBody>
      </p:sp>
      <p:sp>
        <p:nvSpPr>
          <p:cNvPr id="12" name="No prep"/>
          <p:cNvSpPr txBox="1"/>
          <p:nvPr/>
        </p:nvSpPr>
        <p:spPr>
          <a:xfrm>
            <a:off x="548640" y="5760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 preparation needed: we mainly come to listen.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无需特别准备：我们主要是来倾听的。</a:t>
            </a:r>
            <a:endParaRPr lang="en-US" sz="1200" dirty="0"/>
          </a:p>
        </p:txBody>
      </p:sp>
      <p:sp>
        <p:nvSpPr>
          <p:cNvPr id="13" name="Thanks panel"/>
          <p:cNvSpPr/>
          <p:nvPr/>
        </p:nvSpPr>
        <p:spPr>
          <a:xfrm>
            <a:off x="7589520" y="1783080"/>
            <a:ext cx="4053535" cy="4297680"/>
          </a:xfrm>
          <a:prstGeom prst="roundRect">
            <a:avLst>
              <a:gd name="adj" fmla="val 3609"/>
            </a:avLst>
          </a:prstGeom>
          <a:solidFill>
            <a:srgbClr val="F5F1EA"/>
          </a:solidFill>
          <a:ln/>
        </p:spPr>
      </p:sp>
      <p:sp>
        <p:nvSpPr>
          <p:cNvPr id="14" name="Thanks"/>
          <p:cNvSpPr txBox="1"/>
          <p:nvPr/>
        </p:nvSpPr>
        <p:spPr>
          <a:xfrm>
            <a:off x="7955280" y="2103120"/>
            <a:ext cx="3322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Thank you</a:t>
            </a:r>
            <a:endParaRPr lang="en-US" sz="3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3600" dirty="0"/>
          </a:p>
        </p:txBody>
      </p:sp>
      <p:sp>
        <p:nvSpPr>
          <p:cNvPr id="15" name="Looking forward"/>
          <p:cNvSpPr txBox="1"/>
          <p:nvPr/>
        </p:nvSpPr>
        <p:spPr>
          <a:xfrm>
            <a:off x="7955280" y="3611880"/>
            <a:ext cx="3322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 look forward to growing together.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期待与贵司共同成长。</a:t>
            </a:r>
            <a:endParaRPr lang="en-US" sz="1400" dirty="0"/>
          </a:p>
        </p:txBody>
      </p:sp>
      <p:sp>
        <p:nvSpPr>
          <p:cNvPr id="16" name="Contact divider"/>
          <p:cNvSpPr/>
          <p:nvPr/>
        </p:nvSpPr>
        <p:spPr>
          <a:xfrm>
            <a:off x="7955280" y="4526280"/>
            <a:ext cx="332201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Contact"/>
          <p:cNvSpPr txBox="1"/>
          <p:nvPr/>
        </p:nvSpPr>
        <p:spPr>
          <a:xfrm>
            <a:off x="7955280" y="4681728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Dustin Gibson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  ·  Founder &amp; CEO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dustin@wellshave.com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</a:rPr>
              <a:t>wellshave.com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llshave">
  <a:themeElements>
    <a:clrScheme name="Wellshave">
      <a:dk1>
        <a:srgbClr val="111111"/>
      </a:dk1>
      <a:lt1>
        <a:srgbClr val="FFFFFF"/>
      </a:lt1>
      <a:dk2>
        <a:srgbClr val="191816"/>
      </a:dk2>
      <a:lt2>
        <a:srgbClr val="F5F1EA"/>
      </a:lt2>
      <a:accent1>
        <a:srgbClr val="B0742A"/>
      </a:accent1>
      <a:accent2>
        <a:srgbClr val="F5D18A"/>
      </a:accent2>
      <a:accent3>
        <a:srgbClr val="EDE6DA"/>
      </a:accent3>
      <a:accent4>
        <a:srgbClr val="8C5A1A"/>
      </a:accent4>
      <a:accent5>
        <a:srgbClr val="24221F"/>
      </a:accent5>
      <a:accent6>
        <a:srgbClr val="6B655D"/>
      </a:accent6>
      <a:hlink>
        <a:srgbClr val="B0742A"/>
      </a:hlink>
      <a:folHlink>
        <a:srgbClr val="8C5A1A"/>
      </a:folHlink>
    </a:clrScheme>
    <a:fontScheme name="Wellshav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Wellshave BV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Wellshave · Factory visit · Global Best Way &amp; Fanke</dc:title>
  <dc:subject>PptxGenJS Presentation</dc:subject>
  <dc:creator>Wellshave</dc:creator>
  <cp:lastModifiedBy>Wellshave</cp:lastModifiedBy>
  <cp:revision>1</cp:revision>
  <dcterms:created xsi:type="dcterms:W3CDTF">2026-10-17T02:53:11Z</dcterms:created>
  <dcterms:modified xsi:type="dcterms:W3CDTF">2026-10-17T02:53:11Z</dcterms:modified>
</cp:coreProperties>
</file>