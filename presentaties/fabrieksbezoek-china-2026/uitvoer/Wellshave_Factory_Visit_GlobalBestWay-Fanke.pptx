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23f7245-99a2-83ec-5edf-50d1b1794bac}">
          <p14:sldIdLst>
            <p14:sldId id="256"/>
          </p14:sldIdLst>
        </p14:section>
        <p14:section name="About Wellshave" id="{30b007bb-fef3-c370-bb46-62c9c99ce892}">
          <p14:sldIdLst>
            <p14:sldId id="257"/>
          </p14:sldIdLst>
        </p14:section>
        <p14:section name="The visit" id="{2d302859-3f85-9918-b267-88b67a7cb9e6}">
          <p14:sldIdLst>
            <p14:sldId id="258"/>
            <p14:sldId id="259"/>
          </p14:sldIdLst>
        </p14:section>
        <p14:section name="Your products" id="{890e4127-9232-c25b-bbf2-686fb3bbb348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Working together" id="{cbd48a21-ae22-d94f-d220-3e3a1f89271e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Jenny Huang and He Ting 何婷 (Global Best Way &amp; Fanke)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products we buy from you. Sales are bol.com units (about 80% of our revenue). Next slides go product by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product we buy from you has the same main defect: the battery or charging. 146 of 215 defect reports this year. Most fail well within the 2-year warranty, and nearly every report means we send a new device at our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battery. Our customer service logged 54 defect reports on the Elite this year; 37 were about the battery or charging, typically 5 months after purchase, and every one got a new device. The quotes are from those reports. In bol.com reviews the most common topic is the shave itself: it pulls hairs instead of cutting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biggest volume: 25,627 units. Few defects for that volume, but half of them are battery or charging. In reviews the blade does not catch the hairs.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trimmers: battery and charging is the top defect. Supreme 8988: 26 of 36 reports. Pro 8188: 10 of 15. In reviews the Supreme is mostly about an uneven trim.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 Shaver Deluxe: 28 of 39 defect reports are battery or charging, the battery percentage drops suddenly. Blade Baron: hardly any defects, but the highest return rate of these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Groom Guard: 27 of 35 defect reports are battery or charging. Reviews also mention the charging stand tipping over. Flex Guard: few reports, pulls hairs, attachments do not match the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Blades first: as skin-safe as possible, no skin between the blades. Foil shavers (Blade Baron, Head Shaver Deluxe, Shaver Elite): cut, never pull, also on a 3-day beard. New models: a smart LCD display and a new PCB like the Manscaped Lawn Mower Ultra Gen 6 (colour display with live battery status, tutorials and blade replacement reminders, constant power until the battery is empty), an alloy body for a premium feel, and USB-C everywhere with a silicone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USB-C: the port must charge with any USB-C charger and a C-to-C cable (correct CC resistors), otherwise customers think the device is broken. The adapter: every box gets a certified adapter with the cable fixed to it, matched to the device, so customers never charge with a wrong or fast charger. Today the manuals say 'only use the included charger' while there is none in the box. Battery: the Elite cell is 600 mAh with 60 minutes official runtime, while we advertise 90. EU Battery Regulation: check the final rules for washable devices with our compliance contact.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Shavers: the Shaver Elite and Head Shaver Deluxe have rotary heads, the Blade Baron a foil. For all three: the head must cut, never pull, also on a 3-day beard. Shaver Elite: USB-C with an adapter matched to the device.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blade is the most important part. Show the sketch: rounded R-shaped tips that curve down, moving blade set back, so skin can never get between the blades. Ask for samples for the Groom Guard and Flex Guard.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Shaver Elite rinsed under the t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Wellshav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18288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474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2062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Prepared for"/>
          <p:cNvSpPr txBox="1"/>
          <p:nvPr/>
        </p:nvSpPr>
        <p:spPr>
          <a:xfrm>
            <a:off x="685800" y="493776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spc="300" kern="0" dirty="0">
                <a:solidFill>
                  <a:schemeClr val="accent2"/>
                </a:solidFill>
              </a:rPr>
              <a:t>PREPARED FOR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拜访对象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Global Best Way Co., Ltd.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温州市贝威贸易有限公司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Jenny Huang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Wenzhou Fanke Electric Appliance Co., Ltd.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温州凡科电器有限公司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He Ting 何婷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October 2026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 in Helmond (NL)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成立于荷兰海尔蒙德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Dustin Gibson</a:t>
            </a:r>
            <a:endParaRPr lang="en-US" sz="20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WG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Willem de Groot</a:t>
            </a:r>
            <a:endParaRPr lang="en-US" sz="20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Leo</a:t>
            </a:r>
            <a:endParaRPr lang="en-US" sz="20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we are visiting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本次拜访目的</a:t>
            </a:r>
            <a:endParaRPr lang="en-US" sz="2000" dirty="0"/>
          </a:p>
        </p:txBody>
      </p:sp>
      <p:sp>
        <p:nvSpPr>
          <p:cNvPr id="4" name="Step card 1"/>
          <p:cNvSpPr/>
          <p:nvPr/>
        </p:nvSpPr>
        <p:spPr>
          <a:xfrm>
            <a:off x="548640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5" name="Step number 1"/>
          <p:cNvSpPr txBox="1"/>
          <p:nvPr/>
        </p:nvSpPr>
        <p:spPr>
          <a:xfrm>
            <a:off x="804672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6" name="Step title 1"/>
          <p:cNvSpPr txBox="1"/>
          <p:nvPr/>
        </p:nvSpPr>
        <p:spPr>
          <a:xfrm>
            <a:off x="804672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Get to know each other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相互了解</a:t>
            </a:r>
            <a:endParaRPr lang="en-US" sz="1600" dirty="0"/>
          </a:p>
        </p:txBody>
      </p:sp>
      <p:sp>
        <p:nvSpPr>
          <p:cNvPr id="7" name="Step text 1"/>
          <p:cNvSpPr txBox="1"/>
          <p:nvPr/>
        </p:nvSpPr>
        <p:spPr>
          <a:xfrm>
            <a:off x="804672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introduce Wellshave, our customers and how we work.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 Wellshave、我们的客户和工作方式。</a:t>
            </a:r>
            <a:endParaRPr lang="en-US" sz="1300" dirty="0"/>
          </a:p>
        </p:txBody>
      </p:sp>
      <p:sp>
        <p:nvSpPr>
          <p:cNvPr id="8" name="Step card 2"/>
          <p:cNvSpPr/>
          <p:nvPr/>
        </p:nvSpPr>
        <p:spPr>
          <a:xfrm>
            <a:off x="3377108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9" name="Step number 2"/>
          <p:cNvSpPr txBox="1"/>
          <p:nvPr/>
        </p:nvSpPr>
        <p:spPr>
          <a:xfrm>
            <a:off x="3633140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33140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 current data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回顾当前数据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33140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reviews and returns of the products we buy from you.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回顾我们向贵司采购产品的销量、评价和退货情况。</a:t>
            </a:r>
            <a:endParaRPr lang="en-US" sz="1300" dirty="0"/>
          </a:p>
        </p:txBody>
      </p:sp>
      <p:sp>
        <p:nvSpPr>
          <p:cNvPr id="12" name="Step card 3"/>
          <p:cNvSpPr/>
          <p:nvPr/>
        </p:nvSpPr>
        <p:spPr>
          <a:xfrm>
            <a:off x="6205576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3" name="Step number 3"/>
          <p:cNvSpPr txBox="1"/>
          <p:nvPr/>
        </p:nvSpPr>
        <p:spPr>
          <a:xfrm>
            <a:off x="6461608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4" name="Step title 3"/>
          <p:cNvSpPr txBox="1"/>
          <p:nvPr/>
        </p:nvSpPr>
        <p:spPr>
          <a:xfrm>
            <a:off x="6461608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Share our 2027 plans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分享 2027 年计划</a:t>
            </a:r>
            <a:endParaRPr lang="en-US" sz="1600" dirty="0"/>
          </a:p>
        </p:txBody>
      </p:sp>
      <p:sp>
        <p:nvSpPr>
          <p:cNvPr id="15" name="Step text 3"/>
          <p:cNvSpPr txBox="1"/>
          <p:nvPr/>
        </p:nvSpPr>
        <p:spPr>
          <a:xfrm>
            <a:off x="6461608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Our growth plans and what they mean for your factory.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我们的增长计划及其对贵厂的意义。</a:t>
            </a:r>
            <a:endParaRPr lang="en-US" sz="1300" dirty="0"/>
          </a:p>
        </p:txBody>
      </p:sp>
      <p:sp>
        <p:nvSpPr>
          <p:cNvPr id="16" name="Step card 4"/>
          <p:cNvSpPr/>
          <p:nvPr/>
        </p:nvSpPr>
        <p:spPr>
          <a:xfrm>
            <a:off x="9034043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7" name="Step number 4"/>
          <p:cNvSpPr txBox="1"/>
          <p:nvPr/>
        </p:nvSpPr>
        <p:spPr>
          <a:xfrm>
            <a:off x="9290075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8" name="Step title 4"/>
          <p:cNvSpPr txBox="1"/>
          <p:nvPr/>
        </p:nvSpPr>
        <p:spPr>
          <a:xfrm>
            <a:off x="9290075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the range together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共同优化产品</a:t>
            </a:r>
            <a:endParaRPr lang="en-US" sz="1600" dirty="0"/>
          </a:p>
        </p:txBody>
      </p:sp>
      <p:sp>
        <p:nvSpPr>
          <p:cNvPr id="19" name="Step text 4"/>
          <p:cNvSpPr txBox="1"/>
          <p:nvPr/>
        </p:nvSpPr>
        <p:spPr>
          <a:xfrm>
            <a:off x="9290075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Better quality, better prices and new models.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更好的品质、更优的价格和新款产品。</a:t>
            </a:r>
            <a:endParaRPr lang="en-US" sz="1300" dirty="0"/>
          </a:p>
        </p:txBody>
      </p:sp>
      <p:sp>
        <p:nvSpPr>
          <p:cNvPr id="20" name="Outcome box"/>
          <p:cNvSpPr/>
          <p:nvPr/>
        </p:nvSpPr>
        <p:spPr>
          <a:xfrm>
            <a:off x="548640" y="5212080"/>
            <a:ext cx="11094415" cy="749808"/>
          </a:xfrm>
          <a:prstGeom prst="roundRect">
            <a:avLst>
              <a:gd name="adj" fmla="val 19512"/>
            </a:avLst>
          </a:prstGeom>
          <a:solidFill>
            <a:srgbClr val="EDE6DA"/>
          </a:solidFill>
          <a:ln/>
        </p:spPr>
      </p:sp>
      <p:pic>
        <p:nvPicPr>
          <p:cNvPr id="21" name="Outc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413248"/>
            <a:ext cx="347472" cy="347472"/>
          </a:xfrm>
          <a:prstGeom prst="rect">
            <a:avLst/>
          </a:prstGeom>
        </p:spPr>
      </p:pic>
      <p:sp>
        <p:nvSpPr>
          <p:cNvPr id="22" name="Outcome"/>
          <p:cNvSpPr txBox="1"/>
          <p:nvPr/>
        </p:nvSpPr>
        <p:spPr>
          <a:xfrm>
            <a:off x="1325880" y="5321808"/>
            <a:ext cx="10088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A good visit: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leave with samples, your recommendations and clear next steps for 2027.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成功的拜访：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我们带着样品、您的建议和清晰的 2027 年下一步计划回去。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Your products at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贵司产品在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的表现</a:t>
            </a:r>
            <a:endParaRPr lang="en-US" sz="2000" dirty="0"/>
          </a:p>
        </p:txBody>
      </p:sp>
      <p:sp>
        <p:nvSpPr>
          <p:cNvPr id="4" name="Product card 1"/>
          <p:cNvSpPr/>
          <p:nvPr/>
        </p:nvSpPr>
        <p:spPr>
          <a:xfrm>
            <a:off x="548640" y="1600200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5" name="Product photo 1" descr="Nose trimmers (7 model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728216"/>
            <a:ext cx="1082040" cy="1082040"/>
          </a:xfrm>
          <a:prstGeom prst="rect">
            <a:avLst/>
          </a:prstGeom>
        </p:spPr>
      </p:pic>
      <p:sp>
        <p:nvSpPr>
          <p:cNvPr id="6" name="Product text 1"/>
          <p:cNvSpPr txBox="1"/>
          <p:nvPr/>
        </p:nvSpPr>
        <p:spPr>
          <a:xfrm>
            <a:off x="1923288" y="1691640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Nose trimmers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鼻毛修剪器（7 款）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7 models · WS-NT1 / WS-NT2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25,627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2.1%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25,627  ·  退货率 2.1%</a:t>
            </a:r>
            <a:endParaRPr lang="en-US" sz="1250" dirty="0"/>
          </a:p>
        </p:txBody>
      </p:sp>
      <p:sp>
        <p:nvSpPr>
          <p:cNvPr id="7" name="Product card 2"/>
          <p:cNvSpPr/>
          <p:nvPr/>
        </p:nvSpPr>
        <p:spPr>
          <a:xfrm>
            <a:off x="4313834" y="1600200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8" name="Product photo 2" descr="Shaver Elite 4-in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850" y="1728216"/>
            <a:ext cx="1082040" cy="1082040"/>
          </a:xfrm>
          <a:prstGeom prst="rect">
            <a:avLst/>
          </a:prstGeom>
        </p:spPr>
      </p:pic>
      <p:sp>
        <p:nvSpPr>
          <p:cNvPr id="9" name="Product text 2"/>
          <p:cNvSpPr txBox="1"/>
          <p:nvPr/>
        </p:nvSpPr>
        <p:spPr>
          <a:xfrm>
            <a:off x="5688482" y="1691640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Shaver Elite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Elite 四合一剃须刀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8600 / WS-SA3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4,567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5.2%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4,567  ·  退货率 5.2%</a:t>
            </a:r>
            <a:endParaRPr lang="en-US" sz="1250" dirty="0"/>
          </a:p>
        </p:txBody>
      </p:sp>
      <p:sp>
        <p:nvSpPr>
          <p:cNvPr id="10" name="Product card 3"/>
          <p:cNvSpPr/>
          <p:nvPr/>
        </p:nvSpPr>
        <p:spPr>
          <a:xfrm>
            <a:off x="8079029" y="1600200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11" name="Product photo 3" descr="Beard Trimmer Supreme 6-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7045" y="1728216"/>
            <a:ext cx="1082040" cy="1082040"/>
          </a:xfrm>
          <a:prstGeom prst="rect">
            <a:avLst/>
          </a:prstGeom>
        </p:spPr>
      </p:pic>
      <p:sp>
        <p:nvSpPr>
          <p:cNvPr id="12" name="Product text 3"/>
          <p:cNvSpPr txBox="1"/>
          <p:nvPr/>
        </p:nvSpPr>
        <p:spPr>
          <a:xfrm>
            <a:off x="9453677" y="1691640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Beard Trimmer Supreme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8988 / WS-BTG2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3,143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3.5%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3,143  ·  退货率 3.5%</a:t>
            </a:r>
            <a:endParaRPr lang="en-US" sz="1250" dirty="0"/>
          </a:p>
        </p:txBody>
      </p:sp>
      <p:sp>
        <p:nvSpPr>
          <p:cNvPr id="13" name="Product card 4"/>
          <p:cNvSpPr/>
          <p:nvPr/>
        </p:nvSpPr>
        <p:spPr>
          <a:xfrm>
            <a:off x="548640" y="3102864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14" name="Product photo 4" descr="Beard Trimmer Pro 5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230880"/>
            <a:ext cx="1082040" cy="1082040"/>
          </a:xfrm>
          <a:prstGeom prst="rect">
            <a:avLst/>
          </a:prstGeom>
        </p:spPr>
      </p:pic>
      <p:sp>
        <p:nvSpPr>
          <p:cNvPr id="15" name="Product text 4"/>
          <p:cNvSpPr txBox="1"/>
          <p:nvPr/>
        </p:nvSpPr>
        <p:spPr>
          <a:xfrm>
            <a:off x="1923288" y="3194304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Beard Trimmer Pro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8188 / WS-BTG1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2,179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4.3%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2,179  ·  退货率 4.3%</a:t>
            </a:r>
            <a:endParaRPr lang="en-US" sz="1250" dirty="0"/>
          </a:p>
        </p:txBody>
      </p:sp>
      <p:sp>
        <p:nvSpPr>
          <p:cNvPr id="16" name="Product card 5"/>
          <p:cNvSpPr/>
          <p:nvPr/>
        </p:nvSpPr>
        <p:spPr>
          <a:xfrm>
            <a:off x="4313834" y="3102864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17" name="Product photo 5" descr="Body Groomer Groom Gu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1850" y="3230880"/>
            <a:ext cx="1082040" cy="1082040"/>
          </a:xfrm>
          <a:prstGeom prst="rect">
            <a:avLst/>
          </a:prstGeom>
        </p:spPr>
      </p:pic>
      <p:sp>
        <p:nvSpPr>
          <p:cNvPr id="18" name="Product text 5"/>
          <p:cNvSpPr txBox="1"/>
          <p:nvPr/>
        </p:nvSpPr>
        <p:spPr>
          <a:xfrm>
            <a:off x="5688482" y="3194304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Groom Guard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WS-BG1 / HT-6006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2,116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2.3%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2,116  ·  退货率 2.3%</a:t>
            </a:r>
            <a:endParaRPr lang="en-US" sz="1250" dirty="0"/>
          </a:p>
        </p:txBody>
      </p:sp>
      <p:sp>
        <p:nvSpPr>
          <p:cNvPr id="19" name="Product card 6"/>
          <p:cNvSpPr/>
          <p:nvPr/>
        </p:nvSpPr>
        <p:spPr>
          <a:xfrm>
            <a:off x="8079029" y="3102864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0" name="Product photo 6" descr="Head Shaver Delux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7045" y="3230880"/>
            <a:ext cx="1082040" cy="1082040"/>
          </a:xfrm>
          <a:prstGeom prst="rect">
            <a:avLst/>
          </a:prstGeom>
        </p:spPr>
      </p:pic>
      <p:sp>
        <p:nvSpPr>
          <p:cNvPr id="21" name="Product text 6"/>
          <p:cNvSpPr txBox="1"/>
          <p:nvPr/>
        </p:nvSpPr>
        <p:spPr>
          <a:xfrm>
            <a:off x="9453677" y="3194304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Head Shaver Deluxe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WS-SA1 / JK-8588A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1,581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4.6%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1,581  ·  退货率 4.6%</a:t>
            </a:r>
            <a:endParaRPr lang="en-US" sz="1250" dirty="0"/>
          </a:p>
        </p:txBody>
      </p:sp>
      <p:sp>
        <p:nvSpPr>
          <p:cNvPr id="22" name="Product card 7"/>
          <p:cNvSpPr/>
          <p:nvPr/>
        </p:nvSpPr>
        <p:spPr>
          <a:xfrm>
            <a:off x="548640" y="4605528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3" name="Product photo 7" descr="Foil Shaver Blade Bar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4733544"/>
            <a:ext cx="1082040" cy="1082040"/>
          </a:xfrm>
          <a:prstGeom prst="rect">
            <a:avLst/>
          </a:prstGeom>
        </p:spPr>
      </p:pic>
      <p:sp>
        <p:nvSpPr>
          <p:cNvPr id="24" name="Product text 7"/>
          <p:cNvSpPr txBox="1"/>
          <p:nvPr/>
        </p:nvSpPr>
        <p:spPr>
          <a:xfrm>
            <a:off x="1923288" y="4696968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Blade Baron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FK-706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1,307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5.6%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1,307  ·  退货率 5.6%</a:t>
            </a:r>
            <a:endParaRPr lang="en-US" sz="1250" dirty="0"/>
          </a:p>
        </p:txBody>
      </p:sp>
      <p:sp>
        <p:nvSpPr>
          <p:cNvPr id="25" name="Product card 8"/>
          <p:cNvSpPr/>
          <p:nvPr/>
        </p:nvSpPr>
        <p:spPr>
          <a:xfrm>
            <a:off x="4313834" y="4605528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6" name="Product photo 8" descr="Body Groomer Flex Gu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1850" y="4733544"/>
            <a:ext cx="1082040" cy="1082040"/>
          </a:xfrm>
          <a:prstGeom prst="rect">
            <a:avLst/>
          </a:prstGeom>
        </p:spPr>
      </p:pic>
      <p:sp>
        <p:nvSpPr>
          <p:cNvPr id="27" name="Product text 8"/>
          <p:cNvSpPr txBox="1"/>
          <p:nvPr/>
        </p:nvSpPr>
        <p:spPr>
          <a:xfrm>
            <a:off x="5688482" y="4696968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Flex Guard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WS-BG3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1,135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5.2%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1,135  ·  退货率 5.2%</a:t>
            </a:r>
            <a:endParaRPr lang="en-US" sz="1250" dirty="0"/>
          </a:p>
        </p:txBody>
      </p:sp>
      <p:sp>
        <p:nvSpPr>
          <p:cNvPr id="28" name="Product card 9"/>
          <p:cNvSpPr/>
          <p:nvPr/>
        </p:nvSpPr>
        <p:spPr>
          <a:xfrm>
            <a:off x="8079029" y="4605528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9" name="Product photo 9" descr="G-Series clipper, Shave Package, spare head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7045" y="4733544"/>
            <a:ext cx="1082040" cy="1082040"/>
          </a:xfrm>
          <a:prstGeom prst="rect">
            <a:avLst/>
          </a:prstGeom>
        </p:spPr>
      </p:pic>
      <p:sp>
        <p:nvSpPr>
          <p:cNvPr id="30" name="Product text 9"/>
          <p:cNvSpPr txBox="1"/>
          <p:nvPr/>
        </p:nvSpPr>
        <p:spPr>
          <a:xfrm>
            <a:off x="9453677" y="4696968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G-Series and more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G-Series 理发器及其他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Clipper, Shave Package, spare heads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1,786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4.1%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1,786  ·  退货率 4.1%</a:t>
            </a:r>
            <a:endParaRPr lang="en-US" sz="1250" dirty="0"/>
          </a:p>
        </p:txBody>
      </p:sp>
      <p:sp>
        <p:nvSpPr>
          <p:cNvPr id="31" name="Data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Total 43,441 units sold on bol.com, 1 January to 15 October 2026. Return rate counts all return reasons. Webshop sales not included. We share our 2027 forecast in the meeting.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43,441 件。数据来源：bol.com，2026年1月1日至10月15日。退货率包含所有退货原因，不含官网销量。2027年预测将在会议中分享。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Customer service: the battery is the #1 defect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售后数据：电池是头号故障</a:t>
            </a:r>
            <a:endParaRPr lang="en-US" sz="2000" dirty="0"/>
          </a:p>
        </p:txBody>
      </p:sp>
      <p:sp>
        <p:nvSpPr>
          <p:cNvPr id="4" name="Defect chart card"/>
          <p:cNvSpPr/>
          <p:nvPr/>
        </p:nvSpPr>
        <p:spPr>
          <a:xfrm>
            <a:off x="548640" y="1691640"/>
            <a:ext cx="7086600" cy="4251960"/>
          </a:xfrm>
          <a:prstGeom prst="roundRect">
            <a:avLst>
              <a:gd name="adj" fmla="val 3441"/>
            </a:avLst>
          </a:prstGeom>
          <a:solidFill>
            <a:srgbClr val="FFFFFF"/>
          </a:solidFill>
          <a:ln/>
        </p:spPr>
      </p:sp>
      <p:sp>
        <p:nvSpPr>
          <p:cNvPr id="5" name="Legend swatch 1"/>
          <p:cNvSpPr/>
          <p:nvPr/>
        </p:nvSpPr>
        <p:spPr>
          <a:xfrm>
            <a:off x="822960" y="1938528"/>
            <a:ext cx="201168" cy="128016"/>
          </a:xfrm>
          <a:prstGeom prst="roundRect">
            <a:avLst>
              <a:gd name="adj" fmla="val 28571"/>
            </a:avLst>
          </a:prstGeom>
          <a:solidFill>
            <a:srgbClr val="B0742A"/>
          </a:solidFill>
          <a:ln/>
        </p:spPr>
      </p:sp>
      <p:sp>
        <p:nvSpPr>
          <p:cNvPr id="6" name="Legend 1"/>
          <p:cNvSpPr txBox="1"/>
          <p:nvPr/>
        </p:nvSpPr>
        <p:spPr>
          <a:xfrm>
            <a:off x="1097280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Battery or charging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电池或充电</a:t>
            </a:r>
            <a:endParaRPr lang="en-US" sz="1000" dirty="0"/>
          </a:p>
        </p:txBody>
      </p:sp>
      <p:sp>
        <p:nvSpPr>
          <p:cNvPr id="7" name="Legend swatch 2"/>
          <p:cNvSpPr/>
          <p:nvPr/>
        </p:nvSpPr>
        <p:spPr>
          <a:xfrm>
            <a:off x="3474720" y="1938528"/>
            <a:ext cx="201168" cy="128016"/>
          </a:xfrm>
          <a:prstGeom prst="roundRect">
            <a:avLst>
              <a:gd name="adj" fmla="val 28571"/>
            </a:avLst>
          </a:prstGeom>
          <a:solidFill>
            <a:srgbClr val="EDE6DA"/>
          </a:solidFill>
          <a:ln/>
        </p:spPr>
      </p:sp>
      <p:sp>
        <p:nvSpPr>
          <p:cNvPr id="8" name="Legend 2"/>
          <p:cNvSpPr txBox="1"/>
          <p:nvPr/>
        </p:nvSpPr>
        <p:spPr>
          <a:xfrm>
            <a:off x="3749040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Other defects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其他故障</a:t>
            </a:r>
            <a:endParaRPr lang="en-US" sz="1000" dirty="0"/>
          </a:p>
        </p:txBody>
      </p:sp>
      <p:sp>
        <p:nvSpPr>
          <p:cNvPr id="9" name="Defect label 1"/>
          <p:cNvSpPr txBox="1"/>
          <p:nvPr/>
        </p:nvSpPr>
        <p:spPr>
          <a:xfrm>
            <a:off x="822960" y="225856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Shaver Elite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Elite 四合一剃须刀</a:t>
            </a:r>
            <a:endParaRPr lang="en-US" sz="1050" dirty="0"/>
          </a:p>
        </p:txBody>
      </p:sp>
      <p:sp>
        <p:nvSpPr>
          <p:cNvPr id="10" name="Defect bar all 1"/>
          <p:cNvSpPr/>
          <p:nvPr/>
        </p:nvSpPr>
        <p:spPr>
          <a:xfrm>
            <a:off x="2971800" y="2371725"/>
            <a:ext cx="3520440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" name="Defect bar battery 1"/>
          <p:cNvSpPr/>
          <p:nvPr/>
        </p:nvSpPr>
        <p:spPr>
          <a:xfrm>
            <a:off x="2971800" y="2371725"/>
            <a:ext cx="2412153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Defect count 1"/>
          <p:cNvSpPr txBox="1"/>
          <p:nvPr/>
        </p:nvSpPr>
        <p:spPr>
          <a:xfrm>
            <a:off x="6583680" y="225856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37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54</a:t>
            </a:r>
            <a:endParaRPr lang="en-US" sz="1150" dirty="0"/>
          </a:p>
        </p:txBody>
      </p:sp>
      <p:sp>
        <p:nvSpPr>
          <p:cNvPr id="13" name="Defect label 2"/>
          <p:cNvSpPr txBox="1"/>
          <p:nvPr/>
        </p:nvSpPr>
        <p:spPr>
          <a:xfrm>
            <a:off x="822960" y="270433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Head Shaver Deluxe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050" dirty="0"/>
          </a:p>
        </p:txBody>
      </p:sp>
      <p:sp>
        <p:nvSpPr>
          <p:cNvPr id="14" name="Defect bar all 2"/>
          <p:cNvSpPr/>
          <p:nvPr/>
        </p:nvSpPr>
        <p:spPr>
          <a:xfrm>
            <a:off x="2971800" y="2817495"/>
            <a:ext cx="2542540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5" name="Defect bar battery 2"/>
          <p:cNvSpPr/>
          <p:nvPr/>
        </p:nvSpPr>
        <p:spPr>
          <a:xfrm>
            <a:off x="2971800" y="2817495"/>
            <a:ext cx="1825413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Defect count 2"/>
          <p:cNvSpPr txBox="1"/>
          <p:nvPr/>
        </p:nvSpPr>
        <p:spPr>
          <a:xfrm>
            <a:off x="5605780" y="270433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28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39</a:t>
            </a:r>
            <a:endParaRPr lang="en-US" sz="1150" dirty="0"/>
          </a:p>
        </p:txBody>
      </p:sp>
      <p:sp>
        <p:nvSpPr>
          <p:cNvPr id="17" name="Defect label 3"/>
          <p:cNvSpPr txBox="1"/>
          <p:nvPr/>
        </p:nvSpPr>
        <p:spPr>
          <a:xfrm>
            <a:off x="822960" y="315010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Groom Guard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050" dirty="0"/>
          </a:p>
        </p:txBody>
      </p:sp>
      <p:sp>
        <p:nvSpPr>
          <p:cNvPr id="18" name="Defect bar all 3"/>
          <p:cNvSpPr/>
          <p:nvPr/>
        </p:nvSpPr>
        <p:spPr>
          <a:xfrm>
            <a:off x="2971800" y="3263265"/>
            <a:ext cx="2281767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9" name="Defect bar battery 3"/>
          <p:cNvSpPr/>
          <p:nvPr/>
        </p:nvSpPr>
        <p:spPr>
          <a:xfrm>
            <a:off x="2971800" y="3263265"/>
            <a:ext cx="1760220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Defect count 3"/>
          <p:cNvSpPr txBox="1"/>
          <p:nvPr/>
        </p:nvSpPr>
        <p:spPr>
          <a:xfrm>
            <a:off x="5345007" y="315010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27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35</a:t>
            </a:r>
            <a:endParaRPr lang="en-US" sz="1150" dirty="0"/>
          </a:p>
        </p:txBody>
      </p:sp>
      <p:sp>
        <p:nvSpPr>
          <p:cNvPr id="21" name="Defect label 4"/>
          <p:cNvSpPr txBox="1"/>
          <p:nvPr/>
        </p:nvSpPr>
        <p:spPr>
          <a:xfrm>
            <a:off x="822960" y="359587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Beard Trimmer Supreme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050" dirty="0"/>
          </a:p>
        </p:txBody>
      </p:sp>
      <p:sp>
        <p:nvSpPr>
          <p:cNvPr id="22" name="Defect bar all 4"/>
          <p:cNvSpPr/>
          <p:nvPr/>
        </p:nvSpPr>
        <p:spPr>
          <a:xfrm>
            <a:off x="2971800" y="3709035"/>
            <a:ext cx="2346960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3" name="Defect bar battery 4"/>
          <p:cNvSpPr/>
          <p:nvPr/>
        </p:nvSpPr>
        <p:spPr>
          <a:xfrm>
            <a:off x="2971800" y="3709035"/>
            <a:ext cx="1695027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4" name="Defect count 4"/>
          <p:cNvSpPr txBox="1"/>
          <p:nvPr/>
        </p:nvSpPr>
        <p:spPr>
          <a:xfrm>
            <a:off x="5410200" y="359587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26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36</a:t>
            </a:r>
            <a:endParaRPr lang="en-US" sz="1150" dirty="0"/>
          </a:p>
        </p:txBody>
      </p:sp>
      <p:sp>
        <p:nvSpPr>
          <p:cNvPr id="25" name="Defect label 5"/>
          <p:cNvSpPr txBox="1"/>
          <p:nvPr/>
        </p:nvSpPr>
        <p:spPr>
          <a:xfrm>
            <a:off x="822960" y="404164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Nose trimmers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鼻毛修剪器（7 款）</a:t>
            </a:r>
            <a:endParaRPr lang="en-US" sz="1050" dirty="0"/>
          </a:p>
        </p:txBody>
      </p:sp>
      <p:sp>
        <p:nvSpPr>
          <p:cNvPr id="26" name="Defect bar all 5"/>
          <p:cNvSpPr/>
          <p:nvPr/>
        </p:nvSpPr>
        <p:spPr>
          <a:xfrm>
            <a:off x="2971800" y="4154805"/>
            <a:ext cx="2020993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7" name="Defect bar battery 5"/>
          <p:cNvSpPr/>
          <p:nvPr/>
        </p:nvSpPr>
        <p:spPr>
          <a:xfrm>
            <a:off x="2971800" y="4154805"/>
            <a:ext cx="1043093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Defect count 5"/>
          <p:cNvSpPr txBox="1"/>
          <p:nvPr/>
        </p:nvSpPr>
        <p:spPr>
          <a:xfrm>
            <a:off x="5084233" y="404164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16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31</a:t>
            </a:r>
            <a:endParaRPr lang="en-US" sz="1150" dirty="0"/>
          </a:p>
        </p:txBody>
      </p:sp>
      <p:sp>
        <p:nvSpPr>
          <p:cNvPr id="29" name="Defect label 6"/>
          <p:cNvSpPr txBox="1"/>
          <p:nvPr/>
        </p:nvSpPr>
        <p:spPr>
          <a:xfrm>
            <a:off x="822960" y="448741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Beard Trimmer Pro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050" dirty="0"/>
          </a:p>
        </p:txBody>
      </p:sp>
      <p:sp>
        <p:nvSpPr>
          <p:cNvPr id="30" name="Defect bar all 6"/>
          <p:cNvSpPr/>
          <p:nvPr/>
        </p:nvSpPr>
        <p:spPr>
          <a:xfrm>
            <a:off x="2971800" y="4600575"/>
            <a:ext cx="977900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1" name="Defect bar battery 6"/>
          <p:cNvSpPr/>
          <p:nvPr/>
        </p:nvSpPr>
        <p:spPr>
          <a:xfrm>
            <a:off x="2971800" y="4600575"/>
            <a:ext cx="651933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2" name="Defect count 6"/>
          <p:cNvSpPr txBox="1"/>
          <p:nvPr/>
        </p:nvSpPr>
        <p:spPr>
          <a:xfrm>
            <a:off x="4041140" y="448741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10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15</a:t>
            </a:r>
            <a:endParaRPr lang="en-US" sz="1150" dirty="0"/>
          </a:p>
        </p:txBody>
      </p:sp>
      <p:sp>
        <p:nvSpPr>
          <p:cNvPr id="33" name="Defect label 7"/>
          <p:cNvSpPr txBox="1"/>
          <p:nvPr/>
        </p:nvSpPr>
        <p:spPr>
          <a:xfrm>
            <a:off x="822960" y="493318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Flex Guard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050" dirty="0"/>
          </a:p>
        </p:txBody>
      </p:sp>
      <p:sp>
        <p:nvSpPr>
          <p:cNvPr id="34" name="Defect bar all 7"/>
          <p:cNvSpPr/>
          <p:nvPr/>
        </p:nvSpPr>
        <p:spPr>
          <a:xfrm>
            <a:off x="2971800" y="5046345"/>
            <a:ext cx="260773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5" name="Defect bar battery 7"/>
          <p:cNvSpPr/>
          <p:nvPr/>
        </p:nvSpPr>
        <p:spPr>
          <a:xfrm>
            <a:off x="2971800" y="5046345"/>
            <a:ext cx="130387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Defect count 7"/>
          <p:cNvSpPr txBox="1"/>
          <p:nvPr/>
        </p:nvSpPr>
        <p:spPr>
          <a:xfrm>
            <a:off x="3324013" y="493318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2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4</a:t>
            </a:r>
            <a:endParaRPr lang="en-US" sz="1150" dirty="0"/>
          </a:p>
        </p:txBody>
      </p:sp>
      <p:sp>
        <p:nvSpPr>
          <p:cNvPr id="37" name="Defect label 8"/>
          <p:cNvSpPr txBox="1"/>
          <p:nvPr/>
        </p:nvSpPr>
        <p:spPr>
          <a:xfrm>
            <a:off x="822960" y="537895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Blade Baron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050" dirty="0"/>
          </a:p>
        </p:txBody>
      </p:sp>
      <p:sp>
        <p:nvSpPr>
          <p:cNvPr id="38" name="Defect bar all 8"/>
          <p:cNvSpPr/>
          <p:nvPr/>
        </p:nvSpPr>
        <p:spPr>
          <a:xfrm>
            <a:off x="2971800" y="5492115"/>
            <a:ext cx="73152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9" name="Defect count 8"/>
          <p:cNvSpPr txBox="1"/>
          <p:nvPr/>
        </p:nvSpPr>
        <p:spPr>
          <a:xfrm>
            <a:off x="3136392" y="537895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1</a:t>
            </a:r>
            <a:endParaRPr lang="en-US" sz="1150" dirty="0"/>
          </a:p>
        </p:txBody>
      </p:sp>
      <p:sp>
        <p:nvSpPr>
          <p:cNvPr id="40" name="Defect stat 1"/>
          <p:cNvSpPr/>
          <p:nvPr/>
        </p:nvSpPr>
        <p:spPr>
          <a:xfrm>
            <a:off x="7909560" y="1691640"/>
            <a:ext cx="3733495" cy="1307592"/>
          </a:xfrm>
          <a:prstGeom prst="roundRect">
            <a:avLst>
              <a:gd name="adj" fmla="val 11189"/>
            </a:avLst>
          </a:prstGeom>
          <a:solidFill>
            <a:srgbClr val="191816"/>
          </a:solidFill>
          <a:ln/>
        </p:spPr>
      </p:sp>
      <p:sp>
        <p:nvSpPr>
          <p:cNvPr id="41" name="Defect stat text 1"/>
          <p:cNvSpPr txBox="1"/>
          <p:nvPr/>
        </p:nvSpPr>
        <p:spPr>
          <a:xfrm>
            <a:off x="8138160" y="1801368"/>
            <a:ext cx="332201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2"/>
                </a:solidFill>
              </a:rPr>
              <a:t>68%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bg1"/>
                </a:solidFill>
              </a:rPr>
              <a:t>146 of 215 defect reports are about the battery or charging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215 起故障报告中有 146 起与电池或充电有关</a:t>
            </a:r>
            <a:endParaRPr lang="en-US" sz="2600" dirty="0"/>
          </a:p>
        </p:txBody>
      </p:sp>
      <p:sp>
        <p:nvSpPr>
          <p:cNvPr id="42" name="Defect stat 2"/>
          <p:cNvSpPr/>
          <p:nvPr/>
        </p:nvSpPr>
        <p:spPr>
          <a:xfrm>
            <a:off x="7909560" y="3163824"/>
            <a:ext cx="3733495" cy="1307592"/>
          </a:xfrm>
          <a:prstGeom prst="roundRect">
            <a:avLst>
              <a:gd name="adj" fmla="val 11189"/>
            </a:avLst>
          </a:prstGeom>
          <a:solidFill>
            <a:srgbClr val="FFFFFF"/>
          </a:solidFill>
          <a:ln/>
        </p:spPr>
      </p:sp>
      <p:sp>
        <p:nvSpPr>
          <p:cNvPr id="43" name="Defect stat text 2"/>
          <p:cNvSpPr txBox="1"/>
          <p:nvPr/>
        </p:nvSpPr>
        <p:spPr>
          <a:xfrm>
            <a:off x="8138160" y="3273552"/>
            <a:ext cx="332201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5 to 13 months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median time from purchase to a battery report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从购买到电池故障的中位时间</a:t>
            </a:r>
            <a:endParaRPr lang="en-US" sz="2600" dirty="0"/>
          </a:p>
        </p:txBody>
      </p:sp>
      <p:sp>
        <p:nvSpPr>
          <p:cNvPr id="44" name="Defect stat 3"/>
          <p:cNvSpPr/>
          <p:nvPr/>
        </p:nvSpPr>
        <p:spPr>
          <a:xfrm>
            <a:off x="7909560" y="4636008"/>
            <a:ext cx="3733495" cy="1307592"/>
          </a:xfrm>
          <a:prstGeom prst="roundRect">
            <a:avLst>
              <a:gd name="adj" fmla="val 11189"/>
            </a:avLst>
          </a:prstGeom>
          <a:solidFill>
            <a:srgbClr val="FFFFFF"/>
          </a:solidFill>
          <a:ln/>
        </p:spPr>
      </p:sp>
      <p:sp>
        <p:nvSpPr>
          <p:cNvPr id="45" name="Defect stat text 3"/>
          <p:cNvSpPr txBox="1"/>
          <p:nvPr/>
        </p:nvSpPr>
        <p:spPr>
          <a:xfrm>
            <a:off x="8138160" y="4745736"/>
            <a:ext cx="332201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97%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of reports: we send the customer a new device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的报告需要为客户寄送新机</a:t>
            </a:r>
            <a:endParaRPr lang="en-US" sz="2600" dirty="0"/>
          </a:p>
        </p:txBody>
      </p:sp>
      <p:sp>
        <p:nvSpPr>
          <p:cNvPr id="46" name="Defect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Source: Wellshave customer service defect log, 1 January to 15 October 2026, webshop and bol.com customers. Category taken from the customer's complaint.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数据来源：Wellshave 售后故障记录，2026年1月1日至10月15日，含官网和 bol.com 客户。类别依据客户的投诉内容划分。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Shaver Elite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产品聚焦：Elite 剃须刀</a:t>
            </a:r>
            <a:endParaRPr lang="en-US" sz="2000" dirty="0"/>
          </a:p>
        </p:txBody>
      </p:sp>
      <p:sp>
        <p:nvSpPr>
          <p:cNvPr id="4" name="Product photo card"/>
          <p:cNvSpPr/>
          <p:nvPr/>
        </p:nvSpPr>
        <p:spPr>
          <a:xfrm>
            <a:off x="548640" y="1600200"/>
            <a:ext cx="3886200" cy="43434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/>
        </p:spPr>
      </p:sp>
      <p:pic>
        <p:nvPicPr>
          <p:cNvPr id="5" name="Product photo" descr="Shaver Elite 4-i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01368"/>
            <a:ext cx="2926080" cy="2926080"/>
          </a:xfrm>
          <a:prstGeom prst="rect">
            <a:avLst/>
          </a:prstGeom>
        </p:spPr>
      </p:pic>
      <p:sp>
        <p:nvSpPr>
          <p:cNvPr id="6" name="Model"/>
          <p:cNvSpPr txBox="1"/>
          <p:nvPr/>
        </p:nvSpPr>
        <p:spPr>
          <a:xfrm>
            <a:off x="731520" y="4818888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Model  </a:t>
            </a:r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8600 / WS-SA3</a:t>
            </a:r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型号</a:t>
            </a:r>
            <a:endParaRPr lang="en-US" sz="1050" dirty="0"/>
          </a:p>
        </p:txBody>
      </p:sp>
      <p:sp>
        <p:nvSpPr>
          <p:cNvPr id="7" name="Product stat 1"/>
          <p:cNvSpPr txBox="1"/>
          <p:nvPr/>
        </p:nvSpPr>
        <p:spPr>
          <a:xfrm>
            <a:off x="68580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4,567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sold in 2026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900" dirty="0"/>
          </a:p>
        </p:txBody>
      </p:sp>
      <p:sp>
        <p:nvSpPr>
          <p:cNvPr id="8" name="Product stat 2"/>
          <p:cNvSpPr txBox="1"/>
          <p:nvPr/>
        </p:nvSpPr>
        <p:spPr>
          <a:xfrm>
            <a:off x="188976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5.2%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return rate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900" dirty="0"/>
          </a:p>
        </p:txBody>
      </p:sp>
      <p:sp>
        <p:nvSpPr>
          <p:cNvPr id="9" name="Product stat 3"/>
          <p:cNvSpPr txBox="1"/>
          <p:nvPr/>
        </p:nvSpPr>
        <p:spPr>
          <a:xfrm>
            <a:off x="309372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54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defect reports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900" dirty="0"/>
          </a:p>
        </p:txBody>
      </p:sp>
      <p:sp>
        <p:nvSpPr>
          <p:cNvPr id="10" name="Focus elite"/>
          <p:cNvSpPr/>
          <p:nvPr/>
        </p:nvSpPr>
        <p:spPr>
          <a:xfrm>
            <a:off x="4709160" y="1600200"/>
            <a:ext cx="6933895" cy="2057400"/>
          </a:xfrm>
          <a:prstGeom prst="roundRect">
            <a:avLst>
              <a:gd name="adj" fmla="val 7111"/>
            </a:avLst>
          </a:prstGeom>
          <a:solidFill>
            <a:srgbClr val="191816"/>
          </a:solidFill>
          <a:ln/>
        </p:spPr>
      </p:sp>
      <p:sp>
        <p:nvSpPr>
          <p:cNvPr id="11" name="Focus badge elite"/>
          <p:cNvSpPr/>
          <p:nvPr/>
        </p:nvSpPr>
        <p:spPr>
          <a:xfrm>
            <a:off x="4937760" y="182880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eli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146" y="1942186"/>
            <a:ext cx="340157" cy="340157"/>
          </a:xfrm>
          <a:prstGeom prst="rect">
            <a:avLst/>
          </a:prstGeom>
        </p:spPr>
      </p:pic>
      <p:sp>
        <p:nvSpPr>
          <p:cNvPr id="13" name="Focus head elite"/>
          <p:cNvSpPr txBox="1"/>
          <p:nvPr/>
        </p:nvSpPr>
        <p:spPr>
          <a:xfrm>
            <a:off x="5733288" y="1801368"/>
            <a:ext cx="56811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Battery fails: 37 of 54 defect reports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电池故障：54 起故障报告中有 37 起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3"/>
                </a:solidFill>
              </a:rPr>
              <a:t>Typically 5 months after purchase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通常在购买后约 5 个月</a:t>
            </a:r>
            <a:endParaRPr lang="en-US" sz="1000" dirty="0"/>
          </a:p>
        </p:txBody>
      </p:sp>
      <p:sp>
        <p:nvSpPr>
          <p:cNvPr id="14" name="Focus quote rule elite 1"/>
          <p:cNvSpPr/>
          <p:nvPr/>
        </p:nvSpPr>
        <p:spPr>
          <a:xfrm>
            <a:off x="4937760" y="2843784"/>
            <a:ext cx="0" cy="63093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15" name="Focus quote elite 1"/>
          <p:cNvSpPr txBox="1"/>
          <p:nvPr/>
        </p:nvSpPr>
        <p:spPr>
          <a:xfrm>
            <a:off x="5056632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“Battery shows 99%, but the shaver does nothing.”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电量显示 99%，但剃须刀完全不工作。</a:t>
            </a:r>
            <a:endParaRPr lang="en-US" sz="1000" dirty="0"/>
          </a:p>
        </p:txBody>
      </p:sp>
      <p:sp>
        <p:nvSpPr>
          <p:cNvPr id="16" name="Focus quote rule elite 2"/>
          <p:cNvSpPr/>
          <p:nvPr/>
        </p:nvSpPr>
        <p:spPr>
          <a:xfrm>
            <a:off x="7172858" y="2843784"/>
            <a:ext cx="0" cy="63093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17" name="Focus quote elite 2"/>
          <p:cNvSpPr txBox="1"/>
          <p:nvPr/>
        </p:nvSpPr>
        <p:spPr>
          <a:xfrm>
            <a:off x="7291730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“After two hours of charging, the battery lasts two minutes.”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充电两个小时，只能用两分钟。</a:t>
            </a:r>
            <a:endParaRPr lang="en-US" sz="1000" dirty="0"/>
          </a:p>
        </p:txBody>
      </p:sp>
      <p:sp>
        <p:nvSpPr>
          <p:cNvPr id="18" name="Focus quote rule elite 3"/>
          <p:cNvSpPr/>
          <p:nvPr/>
        </p:nvSpPr>
        <p:spPr>
          <a:xfrm>
            <a:off x="9407957" y="2843784"/>
            <a:ext cx="0" cy="63093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19" name="Focus quote elite 3"/>
          <p:cNvSpPr txBox="1"/>
          <p:nvPr/>
        </p:nvSpPr>
        <p:spPr>
          <a:xfrm>
            <a:off x="9526829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“While charging I heard a pop and smelled burning. Now it does nothing.”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充电时听到“砰”的一声，闻到焦味，之后完全不能用了。</a:t>
            </a:r>
            <a:endParaRPr lang="en-US" sz="1000" dirty="0"/>
          </a:p>
        </p:txBody>
      </p:sp>
      <p:sp>
        <p:nvSpPr>
          <p:cNvPr id="20" name="List head elite 1"/>
          <p:cNvSpPr txBox="1"/>
          <p:nvPr/>
        </p:nvSpPr>
        <p:spPr>
          <a:xfrm>
            <a:off x="4709160" y="3785616"/>
            <a:ext cx="3329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   54</a:t>
            </a:r>
            <a:endParaRPr lang="en-US" sz="950" dirty="0"/>
          </a:p>
        </p:txBody>
      </p:sp>
      <p:sp>
        <p:nvSpPr>
          <p:cNvPr id="21" name="List count elite 1 1"/>
          <p:cNvSpPr txBox="1"/>
          <p:nvPr/>
        </p:nvSpPr>
        <p:spPr>
          <a:xfrm>
            <a:off x="4709160" y="40142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37</a:t>
            </a:r>
            <a:endParaRPr lang="en-US" sz="1600" dirty="0"/>
          </a:p>
        </p:txBody>
      </p:sp>
      <p:sp>
        <p:nvSpPr>
          <p:cNvPr id="22" name="List item elite 1 1"/>
          <p:cNvSpPr txBox="1"/>
          <p:nvPr/>
        </p:nvSpPr>
        <p:spPr>
          <a:xfrm>
            <a:off x="5212080" y="4014216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Battery or charging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1100" dirty="0"/>
          </a:p>
        </p:txBody>
      </p:sp>
      <p:sp>
        <p:nvSpPr>
          <p:cNvPr id="23" name="List count elite 1 2"/>
          <p:cNvSpPr txBox="1"/>
          <p:nvPr/>
        </p:nvSpPr>
        <p:spPr>
          <a:xfrm>
            <a:off x="4709160" y="43616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9</a:t>
            </a:r>
            <a:endParaRPr lang="en-US" sz="1600" dirty="0"/>
          </a:p>
        </p:txBody>
      </p:sp>
      <p:sp>
        <p:nvSpPr>
          <p:cNvPr id="24" name="List item elite 1 2"/>
          <p:cNvSpPr txBox="1"/>
          <p:nvPr/>
        </p:nvSpPr>
        <p:spPr>
          <a:xfrm>
            <a:off x="5212080" y="4361688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Won't start, cuts out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1100" dirty="0"/>
          </a:p>
        </p:txBody>
      </p:sp>
      <p:sp>
        <p:nvSpPr>
          <p:cNvPr id="25" name="List count elite 1 3"/>
          <p:cNvSpPr txBox="1"/>
          <p:nvPr/>
        </p:nvSpPr>
        <p:spPr>
          <a:xfrm>
            <a:off x="4709160" y="4709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endParaRPr lang="en-US" sz="1600" dirty="0"/>
          </a:p>
        </p:txBody>
      </p:sp>
      <p:sp>
        <p:nvSpPr>
          <p:cNvPr id="26" name="List item elite 1 3"/>
          <p:cNvSpPr txBox="1"/>
          <p:nvPr/>
        </p:nvSpPr>
        <p:spPr>
          <a:xfrm>
            <a:off x="5212080" y="4709160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Head or parts break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刀头或部件损坏</a:t>
            </a:r>
            <a:endParaRPr lang="en-US" sz="1100" dirty="0"/>
          </a:p>
        </p:txBody>
      </p:sp>
      <p:sp>
        <p:nvSpPr>
          <p:cNvPr id="27" name="List head elite 2"/>
          <p:cNvSpPr txBox="1"/>
          <p:nvPr/>
        </p:nvSpPr>
        <p:spPr>
          <a:xfrm>
            <a:off x="8313268" y="3785616"/>
            <a:ext cx="3329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   28</a:t>
            </a:r>
            <a:endParaRPr lang="en-US" sz="950" dirty="0"/>
          </a:p>
        </p:txBody>
      </p:sp>
      <p:sp>
        <p:nvSpPr>
          <p:cNvPr id="28" name="List count elite 2 1"/>
          <p:cNvSpPr txBox="1"/>
          <p:nvPr/>
        </p:nvSpPr>
        <p:spPr>
          <a:xfrm>
            <a:off x="8313268" y="40142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22</a:t>
            </a:r>
            <a:endParaRPr lang="en-US" sz="1600" dirty="0"/>
          </a:p>
        </p:txBody>
      </p:sp>
      <p:sp>
        <p:nvSpPr>
          <p:cNvPr id="29" name="List item elite 2 1"/>
          <p:cNvSpPr txBox="1"/>
          <p:nvPr/>
        </p:nvSpPr>
        <p:spPr>
          <a:xfrm>
            <a:off x="8816188" y="4014216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Pulls hairs, not close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剃不干净，拉扯胡须</a:t>
            </a:r>
            <a:endParaRPr lang="en-US" sz="1100" dirty="0"/>
          </a:p>
        </p:txBody>
      </p:sp>
      <p:sp>
        <p:nvSpPr>
          <p:cNvPr id="30" name="List count elite 2 2"/>
          <p:cNvSpPr txBox="1"/>
          <p:nvPr/>
        </p:nvSpPr>
        <p:spPr>
          <a:xfrm>
            <a:off x="8313268" y="43616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1" name="List item elite 2 2"/>
          <p:cNvSpPr txBox="1"/>
          <p:nvPr/>
        </p:nvSpPr>
        <p:spPr>
          <a:xfrm>
            <a:off x="8816188" y="4361688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Head loose or broken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刀头松动或损坏</a:t>
            </a:r>
            <a:endParaRPr lang="en-US" sz="1100" dirty="0"/>
          </a:p>
        </p:txBody>
      </p:sp>
      <p:sp>
        <p:nvSpPr>
          <p:cNvPr id="32" name="List count elite 2 3"/>
          <p:cNvSpPr txBox="1"/>
          <p:nvPr/>
        </p:nvSpPr>
        <p:spPr>
          <a:xfrm>
            <a:off x="8313268" y="4709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3" name="List item elite 2 3"/>
          <p:cNvSpPr txBox="1"/>
          <p:nvPr/>
        </p:nvSpPr>
        <p:spPr>
          <a:xfrm>
            <a:off x="8816188" y="4709160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Battery and charging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电池与充电</a:t>
            </a:r>
            <a:endParaRPr lang="en-US" sz="1100" dirty="0"/>
          </a:p>
        </p:txBody>
      </p:sp>
      <p:sp>
        <p:nvSpPr>
          <p:cNvPr id="34" name="Ask card"/>
          <p:cNvSpPr/>
          <p:nvPr/>
        </p:nvSpPr>
        <p:spPr>
          <a:xfrm>
            <a:off x="4709160" y="5166360"/>
            <a:ext cx="6933895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/>
        </p:spPr>
      </p:sp>
      <p:sp>
        <p:nvSpPr>
          <p:cNvPr id="35" name="Ask head"/>
          <p:cNvSpPr txBox="1"/>
          <p:nvPr/>
        </p:nvSpPr>
        <p:spPr>
          <a:xfrm>
            <a:off x="4937760" y="5276088"/>
            <a:ext cx="6476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950" dirty="0"/>
          </a:p>
        </p:txBody>
      </p:sp>
      <p:sp>
        <p:nvSpPr>
          <p:cNvPr id="36" name="Ask 1"/>
          <p:cNvSpPr txBox="1"/>
          <p:nvPr/>
        </p:nvSpPr>
        <p:spPr>
          <a:xfrm>
            <a:off x="4937760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Battery that lasts years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经久耐用的电池</a:t>
            </a:r>
            <a:endParaRPr lang="en-US" sz="1100" dirty="0"/>
          </a:p>
        </p:txBody>
      </p:sp>
      <p:sp>
        <p:nvSpPr>
          <p:cNvPr id="37" name="Ask 2"/>
          <p:cNvSpPr txBox="1"/>
          <p:nvPr/>
        </p:nvSpPr>
        <p:spPr>
          <a:xfrm>
            <a:off x="7157618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Stronger head clip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更牢固的刀头卡扣</a:t>
            </a:r>
            <a:endParaRPr lang="en-US" sz="1100" dirty="0"/>
          </a:p>
        </p:txBody>
      </p:sp>
      <p:sp>
        <p:nvSpPr>
          <p:cNvPr id="38" name="Ask 3"/>
          <p:cNvSpPr txBox="1"/>
          <p:nvPr/>
        </p:nvSpPr>
        <p:spPr>
          <a:xfrm>
            <a:off x="9377477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More power, closer shave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更强动力，剃得更干净</a:t>
            </a:r>
            <a:endParaRPr lang="en-US" sz="1100" dirty="0"/>
          </a:p>
        </p:txBody>
      </p:sp>
      <p:sp>
        <p:nvSpPr>
          <p:cNvPr id="39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nose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产品聚焦：鼻毛修剪器</a:t>
            </a:r>
            <a:endParaRPr lang="en-US" sz="2000" dirty="0"/>
          </a:p>
        </p:txBody>
      </p:sp>
      <p:sp>
        <p:nvSpPr>
          <p:cNvPr id="4" name="Product photo card"/>
          <p:cNvSpPr/>
          <p:nvPr/>
        </p:nvSpPr>
        <p:spPr>
          <a:xfrm>
            <a:off x="548640" y="1600200"/>
            <a:ext cx="3886200" cy="43434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/>
        </p:spPr>
      </p:sp>
      <p:pic>
        <p:nvPicPr>
          <p:cNvPr id="5" name="Product photo" descr="Nose trimmers (7 model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01368"/>
            <a:ext cx="2926080" cy="2926080"/>
          </a:xfrm>
          <a:prstGeom prst="rect">
            <a:avLst/>
          </a:prstGeom>
        </p:spPr>
      </p:pic>
      <p:sp>
        <p:nvSpPr>
          <p:cNvPr id="6" name="Model"/>
          <p:cNvSpPr txBox="1"/>
          <p:nvPr/>
        </p:nvSpPr>
        <p:spPr>
          <a:xfrm>
            <a:off x="731520" y="4818888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Model  </a:t>
            </a:r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7 models · WS-NT1 / WS-NT2</a:t>
            </a:r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型号</a:t>
            </a:r>
            <a:endParaRPr lang="en-US" sz="1050" dirty="0"/>
          </a:p>
        </p:txBody>
      </p:sp>
      <p:sp>
        <p:nvSpPr>
          <p:cNvPr id="7" name="Product stat 1"/>
          <p:cNvSpPr txBox="1"/>
          <p:nvPr/>
        </p:nvSpPr>
        <p:spPr>
          <a:xfrm>
            <a:off x="68580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25,627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sold in 2026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900" dirty="0"/>
          </a:p>
        </p:txBody>
      </p:sp>
      <p:sp>
        <p:nvSpPr>
          <p:cNvPr id="8" name="Product stat 2"/>
          <p:cNvSpPr txBox="1"/>
          <p:nvPr/>
        </p:nvSpPr>
        <p:spPr>
          <a:xfrm>
            <a:off x="188976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2.1%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return rate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900" dirty="0"/>
          </a:p>
        </p:txBody>
      </p:sp>
      <p:sp>
        <p:nvSpPr>
          <p:cNvPr id="9" name="Product stat 3"/>
          <p:cNvSpPr txBox="1"/>
          <p:nvPr/>
        </p:nvSpPr>
        <p:spPr>
          <a:xfrm>
            <a:off x="309372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31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defect reports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900" dirty="0"/>
          </a:p>
        </p:txBody>
      </p:sp>
      <p:sp>
        <p:nvSpPr>
          <p:cNvPr id="10" name="Focus neus"/>
          <p:cNvSpPr/>
          <p:nvPr/>
        </p:nvSpPr>
        <p:spPr>
          <a:xfrm>
            <a:off x="4709160" y="1600200"/>
            <a:ext cx="6933895" cy="2057400"/>
          </a:xfrm>
          <a:prstGeom prst="roundRect">
            <a:avLst>
              <a:gd name="adj" fmla="val 7111"/>
            </a:avLst>
          </a:prstGeom>
          <a:solidFill>
            <a:srgbClr val="EDE6DA"/>
          </a:solidFill>
          <a:ln/>
        </p:spPr>
      </p:sp>
      <p:sp>
        <p:nvSpPr>
          <p:cNvPr id="11" name="Focus badge neus"/>
          <p:cNvSpPr/>
          <p:nvPr/>
        </p:nvSpPr>
        <p:spPr>
          <a:xfrm>
            <a:off x="493776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Focus icon neu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146" y="1942186"/>
            <a:ext cx="340157" cy="340157"/>
          </a:xfrm>
          <a:prstGeom prst="rect">
            <a:avLst/>
          </a:prstGeom>
        </p:spPr>
      </p:pic>
      <p:sp>
        <p:nvSpPr>
          <p:cNvPr id="13" name="Focus head neus"/>
          <p:cNvSpPr txBox="1"/>
          <p:nvPr/>
        </p:nvSpPr>
        <p:spPr>
          <a:xfrm>
            <a:off x="5733288" y="1801368"/>
            <a:ext cx="56811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MAIN ISSUE</a:t>
            </a:r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主要问题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Weak cutting: many hairs are not caught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修剪力度不足：很多毛发剪不到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6"/>
                </a:solidFill>
              </a:rPr>
              <a:t>22 of 55 critical reviews on bol.com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bol.com 55 条差评中有 22 条</a:t>
            </a:r>
            <a:endParaRPr lang="en-US" sz="1000" dirty="0"/>
          </a:p>
        </p:txBody>
      </p:sp>
      <p:sp>
        <p:nvSpPr>
          <p:cNvPr id="14" name="Focus quote rule neus 1"/>
          <p:cNvSpPr/>
          <p:nvPr/>
        </p:nvSpPr>
        <p:spPr>
          <a:xfrm>
            <a:off x="4937760" y="2843784"/>
            <a:ext cx="0" cy="630936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5" name="Focus quote neus 1"/>
          <p:cNvSpPr txBox="1"/>
          <p:nvPr/>
        </p:nvSpPr>
        <p:spPr>
          <a:xfrm>
            <a:off x="5056632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“After 10 minutes in my nose, just as many hairs as before.”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在鼻子里用了10分钟，鼻毛还是和之前一样多。</a:t>
            </a:r>
            <a:endParaRPr lang="en-US" sz="1000" dirty="0"/>
          </a:p>
        </p:txBody>
      </p:sp>
      <p:sp>
        <p:nvSpPr>
          <p:cNvPr id="16" name="Focus quote rule neus 2"/>
          <p:cNvSpPr/>
          <p:nvPr/>
        </p:nvSpPr>
        <p:spPr>
          <a:xfrm>
            <a:off x="7172858" y="2843784"/>
            <a:ext cx="0" cy="630936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7" name="Focus quote neus 2"/>
          <p:cNvSpPr txBox="1"/>
          <p:nvPr/>
        </p:nvSpPr>
        <p:spPr>
          <a:xfrm>
            <a:off x="7291730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blade sits too deep to catch short hairs.”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刀片藏得太深，剪不到短毛。</a:t>
            </a:r>
            <a:endParaRPr lang="en-US" sz="1000" dirty="0"/>
          </a:p>
        </p:txBody>
      </p:sp>
      <p:sp>
        <p:nvSpPr>
          <p:cNvPr id="18" name="Focus quote rule neus 3"/>
          <p:cNvSpPr/>
          <p:nvPr/>
        </p:nvSpPr>
        <p:spPr>
          <a:xfrm>
            <a:off x="9407957" y="2843784"/>
            <a:ext cx="0" cy="630936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9" name="Focus quote neus 3"/>
          <p:cNvSpPr txBox="1"/>
          <p:nvPr/>
        </p:nvSpPr>
        <p:spPr>
          <a:xfrm>
            <a:off x="9526829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“Used it twice and the head was broken.”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只用了两次，刀头就坏了。</a:t>
            </a:r>
            <a:endParaRPr lang="en-US" sz="1000" dirty="0"/>
          </a:p>
        </p:txBody>
      </p:sp>
      <p:sp>
        <p:nvSpPr>
          <p:cNvPr id="20" name="List head neus 1"/>
          <p:cNvSpPr txBox="1"/>
          <p:nvPr/>
        </p:nvSpPr>
        <p:spPr>
          <a:xfrm>
            <a:off x="4709160" y="3785616"/>
            <a:ext cx="3329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   31</a:t>
            </a:r>
            <a:endParaRPr lang="en-US" sz="950" dirty="0"/>
          </a:p>
        </p:txBody>
      </p:sp>
      <p:sp>
        <p:nvSpPr>
          <p:cNvPr id="21" name="List count neus 1 1"/>
          <p:cNvSpPr txBox="1"/>
          <p:nvPr/>
        </p:nvSpPr>
        <p:spPr>
          <a:xfrm>
            <a:off x="4709160" y="40142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</a:t>
            </a:r>
            <a:endParaRPr lang="en-US" sz="1600" dirty="0"/>
          </a:p>
        </p:txBody>
      </p:sp>
      <p:sp>
        <p:nvSpPr>
          <p:cNvPr id="22" name="List item neus 1 1"/>
          <p:cNvSpPr txBox="1"/>
          <p:nvPr/>
        </p:nvSpPr>
        <p:spPr>
          <a:xfrm>
            <a:off x="5212080" y="4014216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Battery or charging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1100" dirty="0"/>
          </a:p>
        </p:txBody>
      </p:sp>
      <p:sp>
        <p:nvSpPr>
          <p:cNvPr id="23" name="List count neus 1 2"/>
          <p:cNvSpPr txBox="1"/>
          <p:nvPr/>
        </p:nvSpPr>
        <p:spPr>
          <a:xfrm>
            <a:off x="4709160" y="43616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List item neus 1 2"/>
          <p:cNvSpPr txBox="1"/>
          <p:nvPr/>
        </p:nvSpPr>
        <p:spPr>
          <a:xfrm>
            <a:off x="5212080" y="4361688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Head or parts break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刀头或部件损坏</a:t>
            </a:r>
            <a:endParaRPr lang="en-US" sz="1100" dirty="0"/>
          </a:p>
        </p:txBody>
      </p:sp>
      <p:sp>
        <p:nvSpPr>
          <p:cNvPr id="25" name="List count neus 1 3"/>
          <p:cNvSpPr txBox="1"/>
          <p:nvPr/>
        </p:nvSpPr>
        <p:spPr>
          <a:xfrm>
            <a:off x="4709160" y="4709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6" name="List item neus 1 3"/>
          <p:cNvSpPr txBox="1"/>
          <p:nvPr/>
        </p:nvSpPr>
        <p:spPr>
          <a:xfrm>
            <a:off x="5212080" y="4709160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Won't start, cuts out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1100" dirty="0"/>
          </a:p>
        </p:txBody>
      </p:sp>
      <p:sp>
        <p:nvSpPr>
          <p:cNvPr id="27" name="List head neus 2"/>
          <p:cNvSpPr txBox="1"/>
          <p:nvPr/>
        </p:nvSpPr>
        <p:spPr>
          <a:xfrm>
            <a:off x="8313268" y="3785616"/>
            <a:ext cx="3329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   55</a:t>
            </a:r>
            <a:endParaRPr lang="en-US" sz="950" dirty="0"/>
          </a:p>
        </p:txBody>
      </p:sp>
      <p:sp>
        <p:nvSpPr>
          <p:cNvPr id="28" name="List count neus 2 1"/>
          <p:cNvSpPr txBox="1"/>
          <p:nvPr/>
        </p:nvSpPr>
        <p:spPr>
          <a:xfrm>
            <a:off x="8313268" y="40142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22</a:t>
            </a:r>
            <a:endParaRPr lang="en-US" sz="1600" dirty="0"/>
          </a:p>
        </p:txBody>
      </p:sp>
      <p:sp>
        <p:nvSpPr>
          <p:cNvPr id="29" name="List item neus 2 1"/>
          <p:cNvSpPr txBox="1"/>
          <p:nvPr/>
        </p:nvSpPr>
        <p:spPr>
          <a:xfrm>
            <a:off x="8816188" y="4014216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Weak cutting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修剪力度不足</a:t>
            </a:r>
            <a:endParaRPr lang="en-US" sz="1100" dirty="0"/>
          </a:p>
        </p:txBody>
      </p:sp>
      <p:sp>
        <p:nvSpPr>
          <p:cNvPr id="30" name="List count neus 2 2"/>
          <p:cNvSpPr txBox="1"/>
          <p:nvPr/>
        </p:nvSpPr>
        <p:spPr>
          <a:xfrm>
            <a:off x="8313268" y="43616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15</a:t>
            </a:r>
            <a:endParaRPr lang="en-US" sz="1600" dirty="0"/>
          </a:p>
        </p:txBody>
      </p:sp>
      <p:sp>
        <p:nvSpPr>
          <p:cNvPr id="31" name="List item neus 2 2"/>
          <p:cNvSpPr txBox="1"/>
          <p:nvPr/>
        </p:nvSpPr>
        <p:spPr>
          <a:xfrm>
            <a:off x="8816188" y="4361688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Broken within months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数月内损坏</a:t>
            </a:r>
            <a:endParaRPr lang="en-US" sz="1100" dirty="0"/>
          </a:p>
        </p:txBody>
      </p:sp>
      <p:sp>
        <p:nvSpPr>
          <p:cNvPr id="32" name="List count neus 2 3"/>
          <p:cNvSpPr txBox="1"/>
          <p:nvPr/>
        </p:nvSpPr>
        <p:spPr>
          <a:xfrm>
            <a:off x="8313268" y="4709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9</a:t>
            </a:r>
            <a:endParaRPr lang="en-US" sz="1600" dirty="0"/>
          </a:p>
        </p:txBody>
      </p:sp>
      <p:sp>
        <p:nvSpPr>
          <p:cNvPr id="33" name="List item neus 2 3"/>
          <p:cNvSpPr txBox="1"/>
          <p:nvPr/>
        </p:nvSpPr>
        <p:spPr>
          <a:xfrm>
            <a:off x="8816188" y="4709160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Caps and parts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保护盖与配件</a:t>
            </a:r>
            <a:endParaRPr lang="en-US" sz="1100" dirty="0"/>
          </a:p>
        </p:txBody>
      </p:sp>
      <p:sp>
        <p:nvSpPr>
          <p:cNvPr id="34" name="Ask card"/>
          <p:cNvSpPr/>
          <p:nvPr/>
        </p:nvSpPr>
        <p:spPr>
          <a:xfrm>
            <a:off x="4709160" y="5166360"/>
            <a:ext cx="6933895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/>
        </p:spPr>
      </p:sp>
      <p:sp>
        <p:nvSpPr>
          <p:cNvPr id="35" name="Ask head"/>
          <p:cNvSpPr txBox="1"/>
          <p:nvPr/>
        </p:nvSpPr>
        <p:spPr>
          <a:xfrm>
            <a:off x="4937760" y="5276088"/>
            <a:ext cx="6476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950" dirty="0"/>
          </a:p>
        </p:txBody>
      </p:sp>
      <p:sp>
        <p:nvSpPr>
          <p:cNvPr id="36" name="Ask 1"/>
          <p:cNvSpPr txBox="1"/>
          <p:nvPr/>
        </p:nvSpPr>
        <p:spPr>
          <a:xfrm>
            <a:off x="4937760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Sharper blades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更锋利的刀片，不漏剪</a:t>
            </a:r>
            <a:endParaRPr lang="en-US" sz="1100" dirty="0"/>
          </a:p>
        </p:txBody>
      </p:sp>
      <p:sp>
        <p:nvSpPr>
          <p:cNvPr id="37" name="Ask 2"/>
          <p:cNvSpPr txBox="1"/>
          <p:nvPr/>
        </p:nvSpPr>
        <p:spPr>
          <a:xfrm>
            <a:off x="7157618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 head that does not break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更牢固、不易损坏的刀头</a:t>
            </a:r>
            <a:endParaRPr lang="en-US" sz="1100" dirty="0"/>
          </a:p>
        </p:txBody>
      </p:sp>
      <p:sp>
        <p:nvSpPr>
          <p:cNvPr id="38" name="Ask 3"/>
          <p:cNvSpPr txBox="1"/>
          <p:nvPr/>
        </p:nvSpPr>
        <p:spPr>
          <a:xfrm>
            <a:off x="9377477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Every part in the 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每台配件齐全</a:t>
            </a:r>
            <a:endParaRPr lang="en-US" sz="1100" dirty="0"/>
          </a:p>
        </p:txBody>
      </p:sp>
      <p:sp>
        <p:nvSpPr>
          <p:cNvPr id="39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beard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产品聚焦：胡须修剪器</a:t>
            </a:r>
            <a:endParaRPr lang="en-US" sz="2000" dirty="0"/>
          </a:p>
        </p:txBody>
      </p:sp>
      <p:sp>
        <p:nvSpPr>
          <p:cNvPr id="4" name="Product card pro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5" name="Product photo pro" descr="Beard Trimmer Pro 5-i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46504"/>
            <a:ext cx="1188720" cy="1188720"/>
          </a:xfrm>
          <a:prstGeom prst="rect">
            <a:avLst/>
          </a:prstGeom>
        </p:spPr>
      </p:pic>
      <p:sp>
        <p:nvSpPr>
          <p:cNvPr id="6" name="Product name pro"/>
          <p:cNvSpPr txBox="1"/>
          <p:nvPr/>
        </p:nvSpPr>
        <p:spPr>
          <a:xfrm>
            <a:off x="2103120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Beard Trimmer Pro 5-in-1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8188 / WS-BTG1</a:t>
            </a:r>
            <a:endParaRPr lang="en-US" sz="1450" dirty="0"/>
          </a:p>
        </p:txBody>
      </p:sp>
      <p:sp>
        <p:nvSpPr>
          <p:cNvPr id="7" name="Product stat pro 1"/>
          <p:cNvSpPr txBox="1"/>
          <p:nvPr/>
        </p:nvSpPr>
        <p:spPr>
          <a:xfrm>
            <a:off x="210312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2,179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8" name="Product stat pro 2"/>
          <p:cNvSpPr txBox="1"/>
          <p:nvPr/>
        </p:nvSpPr>
        <p:spPr>
          <a:xfrm>
            <a:off x="3333445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4.3%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9" name="Product stat pro 3"/>
          <p:cNvSpPr txBox="1"/>
          <p:nvPr/>
        </p:nvSpPr>
        <p:spPr>
          <a:xfrm>
            <a:off x="456377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15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10" name="Focus pro"/>
          <p:cNvSpPr/>
          <p:nvPr/>
        </p:nvSpPr>
        <p:spPr>
          <a:xfrm>
            <a:off x="731520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191816"/>
          </a:solidFill>
          <a:ln/>
        </p:spPr>
      </p:sp>
      <p:sp>
        <p:nvSpPr>
          <p:cNvPr id="11" name="Focus badge pro"/>
          <p:cNvSpPr/>
          <p:nvPr/>
        </p:nvSpPr>
        <p:spPr>
          <a:xfrm>
            <a:off x="896112" y="32278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pr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3311957"/>
            <a:ext cx="252374" cy="252374"/>
          </a:xfrm>
          <a:prstGeom prst="rect">
            <a:avLst/>
          </a:prstGeom>
        </p:spPr>
      </p:pic>
      <p:sp>
        <p:nvSpPr>
          <p:cNvPr id="13" name="Focus text pro"/>
          <p:cNvSpPr txBox="1"/>
          <p:nvPr/>
        </p:nvSpPr>
        <p:spPr>
          <a:xfrm>
            <a:off x="1481328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10 of 15 defect reports: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起故障报告中有 10 起与电池或充电有关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“Fully charged, but it does nothing anymore.”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已经充满电，但完全不能用了。</a:t>
            </a:r>
            <a:endParaRPr lang="en-US" sz="900" dirty="0"/>
          </a:p>
        </p:txBody>
      </p:sp>
      <p:sp>
        <p:nvSpPr>
          <p:cNvPr id="14" name="List head pro 1"/>
          <p:cNvSpPr txBox="1"/>
          <p:nvPr/>
        </p:nvSpPr>
        <p:spPr>
          <a:xfrm>
            <a:off x="731520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15</a:t>
            </a:r>
            <a:endParaRPr lang="en-US" sz="850" dirty="0"/>
          </a:p>
        </p:txBody>
      </p:sp>
      <p:sp>
        <p:nvSpPr>
          <p:cNvPr id="15" name="List count pro 1 1"/>
          <p:cNvSpPr txBox="1"/>
          <p:nvPr/>
        </p:nvSpPr>
        <p:spPr>
          <a:xfrm>
            <a:off x="731520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10</a:t>
            </a:r>
            <a:endParaRPr lang="en-US" sz="1250" dirty="0"/>
          </a:p>
        </p:txBody>
      </p:sp>
      <p:sp>
        <p:nvSpPr>
          <p:cNvPr id="16" name="List item pro 1 1"/>
          <p:cNvSpPr txBox="1"/>
          <p:nvPr/>
        </p:nvSpPr>
        <p:spPr>
          <a:xfrm>
            <a:off x="1106424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17" name="List count pro 1 2"/>
          <p:cNvSpPr txBox="1"/>
          <p:nvPr/>
        </p:nvSpPr>
        <p:spPr>
          <a:xfrm>
            <a:off x="731520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18" name="List item pro 1 2"/>
          <p:cNvSpPr txBox="1"/>
          <p:nvPr/>
        </p:nvSpPr>
        <p:spPr>
          <a:xfrm>
            <a:off x="1106424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19" name="List count pro 1 3"/>
          <p:cNvSpPr txBox="1"/>
          <p:nvPr/>
        </p:nvSpPr>
        <p:spPr>
          <a:xfrm>
            <a:off x="731520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20" name="List item pro 1 3"/>
          <p:cNvSpPr txBox="1"/>
          <p:nvPr/>
        </p:nvSpPr>
        <p:spPr>
          <a:xfrm>
            <a:off x="1106424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On/off switch faults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开关故障</a:t>
            </a:r>
            <a:endParaRPr lang="en-US" sz="950" dirty="0"/>
          </a:p>
        </p:txBody>
      </p:sp>
      <p:sp>
        <p:nvSpPr>
          <p:cNvPr id="21" name="List head pro 2"/>
          <p:cNvSpPr txBox="1"/>
          <p:nvPr/>
        </p:nvSpPr>
        <p:spPr>
          <a:xfrm>
            <a:off x="3390824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11</a:t>
            </a:r>
            <a:endParaRPr lang="en-US" sz="850" dirty="0"/>
          </a:p>
        </p:txBody>
      </p:sp>
      <p:sp>
        <p:nvSpPr>
          <p:cNvPr id="22" name="List count pro 2 1"/>
          <p:cNvSpPr txBox="1"/>
          <p:nvPr/>
        </p:nvSpPr>
        <p:spPr>
          <a:xfrm>
            <a:off x="3390824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4</a:t>
            </a:r>
            <a:endParaRPr lang="en-US" sz="1250" dirty="0"/>
          </a:p>
        </p:txBody>
      </p:sp>
      <p:sp>
        <p:nvSpPr>
          <p:cNvPr id="23" name="List item pro 2 1"/>
          <p:cNvSpPr txBox="1"/>
          <p:nvPr/>
        </p:nvSpPr>
        <p:spPr>
          <a:xfrm>
            <a:off x="3765728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24" name="List count pro 2 2"/>
          <p:cNvSpPr txBox="1"/>
          <p:nvPr/>
        </p:nvSpPr>
        <p:spPr>
          <a:xfrm>
            <a:off x="3390824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4</a:t>
            </a:r>
            <a:endParaRPr lang="en-US" sz="1250" dirty="0"/>
          </a:p>
        </p:txBody>
      </p:sp>
      <p:sp>
        <p:nvSpPr>
          <p:cNvPr id="25" name="List item pro 2 2"/>
          <p:cNvSpPr txBox="1"/>
          <p:nvPr/>
        </p:nvSpPr>
        <p:spPr>
          <a:xfrm>
            <a:off x="3765728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Stops within months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数月内停止工作</a:t>
            </a:r>
            <a:endParaRPr lang="en-US" sz="950" dirty="0"/>
          </a:p>
        </p:txBody>
      </p:sp>
      <p:sp>
        <p:nvSpPr>
          <p:cNvPr id="26" name="List count pro 2 3"/>
          <p:cNvSpPr txBox="1"/>
          <p:nvPr/>
        </p:nvSpPr>
        <p:spPr>
          <a:xfrm>
            <a:off x="3390824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7" name="List item pro 2 3"/>
          <p:cNvSpPr txBox="1"/>
          <p:nvPr/>
        </p:nvSpPr>
        <p:spPr>
          <a:xfrm>
            <a:off x="3765728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Cable or part missing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缺少充电线或配件</a:t>
            </a:r>
            <a:endParaRPr lang="en-US" sz="950" dirty="0"/>
          </a:p>
        </p:txBody>
      </p:sp>
      <p:sp>
        <p:nvSpPr>
          <p:cNvPr id="28" name="Ask card pro"/>
          <p:cNvSpPr/>
          <p:nvPr/>
        </p:nvSpPr>
        <p:spPr>
          <a:xfrm>
            <a:off x="731520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29" name="Ask pro"/>
          <p:cNvSpPr txBox="1"/>
          <p:nvPr/>
        </p:nvSpPr>
        <p:spPr>
          <a:xfrm>
            <a:off x="868680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Li-ion battery instead of NiMH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用锂电池替代镍氢电池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Cable and all attachments in the box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包装内充电线与配件齐全</a:t>
            </a:r>
            <a:endParaRPr lang="en-US" sz="1000" dirty="0"/>
          </a:p>
        </p:txBody>
      </p:sp>
      <p:sp>
        <p:nvSpPr>
          <p:cNvPr id="30" name="Product card supreme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31" name="Product photo supreme" descr="Beard Trimmer Supreme 6-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1746504"/>
            <a:ext cx="1188720" cy="1188720"/>
          </a:xfrm>
          <a:prstGeom prst="rect">
            <a:avLst/>
          </a:prstGeom>
        </p:spPr>
      </p:pic>
      <p:sp>
        <p:nvSpPr>
          <p:cNvPr id="32" name="Product name supreme"/>
          <p:cNvSpPr txBox="1"/>
          <p:nvPr/>
        </p:nvSpPr>
        <p:spPr>
          <a:xfrm>
            <a:off x="7787488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Beard Trimmer Supreme 6-in-1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8988 / WS-BTG2</a:t>
            </a:r>
            <a:endParaRPr lang="en-US" sz="1450" dirty="0"/>
          </a:p>
        </p:txBody>
      </p:sp>
      <p:sp>
        <p:nvSpPr>
          <p:cNvPr id="33" name="Product stat supreme 1"/>
          <p:cNvSpPr txBox="1"/>
          <p:nvPr/>
        </p:nvSpPr>
        <p:spPr>
          <a:xfrm>
            <a:off x="778748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3,143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34" name="Product stat supreme 2"/>
          <p:cNvSpPr txBox="1"/>
          <p:nvPr/>
        </p:nvSpPr>
        <p:spPr>
          <a:xfrm>
            <a:off x="9017813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3.5%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35" name="Product stat supreme 3"/>
          <p:cNvSpPr txBox="1"/>
          <p:nvPr/>
        </p:nvSpPr>
        <p:spPr>
          <a:xfrm>
            <a:off x="1024813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36" name="Focus supreme"/>
          <p:cNvSpPr/>
          <p:nvPr/>
        </p:nvSpPr>
        <p:spPr>
          <a:xfrm>
            <a:off x="6415888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191816"/>
          </a:solidFill>
          <a:ln/>
        </p:spPr>
      </p:sp>
      <p:sp>
        <p:nvSpPr>
          <p:cNvPr id="37" name="Focus badge supreme"/>
          <p:cNvSpPr/>
          <p:nvPr/>
        </p:nvSpPr>
        <p:spPr>
          <a:xfrm>
            <a:off x="6580480" y="32278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8" name="Focus icon suprem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604" y="3311957"/>
            <a:ext cx="252374" cy="252374"/>
          </a:xfrm>
          <a:prstGeom prst="rect">
            <a:avLst/>
          </a:prstGeom>
        </p:spPr>
      </p:pic>
      <p:sp>
        <p:nvSpPr>
          <p:cNvPr id="39" name="Focus text supreme"/>
          <p:cNvSpPr txBox="1"/>
          <p:nvPr/>
        </p:nvSpPr>
        <p:spPr>
          <a:xfrm>
            <a:off x="7165696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26 of 36 defect reports: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 起故障报告中有 26 起与电池或充电有关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“Won't charge, stays at 0%. Tried several chargers and cables.”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无法充电，电量一直是 0%。已试过多个充电器和数据线。</a:t>
            </a:r>
            <a:endParaRPr lang="en-US" sz="900" dirty="0"/>
          </a:p>
        </p:txBody>
      </p:sp>
      <p:sp>
        <p:nvSpPr>
          <p:cNvPr id="40" name="List head supreme 1"/>
          <p:cNvSpPr txBox="1"/>
          <p:nvPr/>
        </p:nvSpPr>
        <p:spPr>
          <a:xfrm>
            <a:off x="6415888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36</a:t>
            </a:r>
            <a:endParaRPr lang="en-US" sz="850" dirty="0"/>
          </a:p>
        </p:txBody>
      </p:sp>
      <p:sp>
        <p:nvSpPr>
          <p:cNvPr id="41" name="List count supreme 1 1"/>
          <p:cNvSpPr txBox="1"/>
          <p:nvPr/>
        </p:nvSpPr>
        <p:spPr>
          <a:xfrm>
            <a:off x="6415888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26</a:t>
            </a:r>
            <a:endParaRPr lang="en-US" sz="1250" dirty="0"/>
          </a:p>
        </p:txBody>
      </p:sp>
      <p:sp>
        <p:nvSpPr>
          <p:cNvPr id="42" name="List item supreme 1 1"/>
          <p:cNvSpPr txBox="1"/>
          <p:nvPr/>
        </p:nvSpPr>
        <p:spPr>
          <a:xfrm>
            <a:off x="6790792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43" name="List count supreme 1 2"/>
          <p:cNvSpPr txBox="1"/>
          <p:nvPr/>
        </p:nvSpPr>
        <p:spPr>
          <a:xfrm>
            <a:off x="6415888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5</a:t>
            </a:r>
            <a:endParaRPr lang="en-US" sz="1250" dirty="0"/>
          </a:p>
        </p:txBody>
      </p:sp>
      <p:sp>
        <p:nvSpPr>
          <p:cNvPr id="44" name="List item supreme 1 2"/>
          <p:cNvSpPr txBox="1"/>
          <p:nvPr/>
        </p:nvSpPr>
        <p:spPr>
          <a:xfrm>
            <a:off x="6790792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45" name="List count supreme 1 3"/>
          <p:cNvSpPr txBox="1"/>
          <p:nvPr/>
        </p:nvSpPr>
        <p:spPr>
          <a:xfrm>
            <a:off x="6415888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</a:t>
            </a:r>
            <a:endParaRPr lang="en-US" sz="1250" dirty="0"/>
          </a:p>
        </p:txBody>
      </p:sp>
      <p:sp>
        <p:nvSpPr>
          <p:cNvPr id="46" name="List item supreme 1 3"/>
          <p:cNvSpPr txBox="1"/>
          <p:nvPr/>
        </p:nvSpPr>
        <p:spPr>
          <a:xfrm>
            <a:off x="6790792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On/off switch faults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开关故障</a:t>
            </a:r>
            <a:endParaRPr lang="en-US" sz="950" dirty="0"/>
          </a:p>
        </p:txBody>
      </p:sp>
      <p:sp>
        <p:nvSpPr>
          <p:cNvPr id="47" name="List head supreme 2"/>
          <p:cNvSpPr txBox="1"/>
          <p:nvPr/>
        </p:nvSpPr>
        <p:spPr>
          <a:xfrm>
            <a:off x="9075191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5</a:t>
            </a:r>
            <a:endParaRPr lang="en-US" sz="850" dirty="0"/>
          </a:p>
        </p:txBody>
      </p:sp>
      <p:sp>
        <p:nvSpPr>
          <p:cNvPr id="48" name="List count supreme 2 1"/>
          <p:cNvSpPr txBox="1"/>
          <p:nvPr/>
        </p:nvSpPr>
        <p:spPr>
          <a:xfrm>
            <a:off x="9075191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</a:t>
            </a:r>
            <a:endParaRPr lang="en-US" sz="1250" dirty="0"/>
          </a:p>
        </p:txBody>
      </p:sp>
      <p:sp>
        <p:nvSpPr>
          <p:cNvPr id="49" name="List item supreme 2 1"/>
          <p:cNvSpPr txBox="1"/>
          <p:nvPr/>
        </p:nvSpPr>
        <p:spPr>
          <a:xfrm>
            <a:off x="9450095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Uneven trimming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修剪不均匀</a:t>
            </a:r>
            <a:endParaRPr lang="en-US" sz="950" dirty="0"/>
          </a:p>
        </p:txBody>
      </p:sp>
      <p:sp>
        <p:nvSpPr>
          <p:cNvPr id="50" name="List count supreme 2 2"/>
          <p:cNvSpPr txBox="1"/>
          <p:nvPr/>
        </p:nvSpPr>
        <p:spPr>
          <a:xfrm>
            <a:off x="9075191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51" name="List item supreme 2 2"/>
          <p:cNvSpPr txBox="1"/>
          <p:nvPr/>
        </p:nvSpPr>
        <p:spPr>
          <a:xfrm>
            <a:off x="9450095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Does not charge well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充电不正常</a:t>
            </a:r>
            <a:endParaRPr lang="en-US" sz="950" dirty="0"/>
          </a:p>
        </p:txBody>
      </p:sp>
      <p:sp>
        <p:nvSpPr>
          <p:cNvPr id="52" name="List count supreme 2 3"/>
          <p:cNvSpPr txBox="1"/>
          <p:nvPr/>
        </p:nvSpPr>
        <p:spPr>
          <a:xfrm>
            <a:off x="9075191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53" name="List item supreme 2 3"/>
          <p:cNvSpPr txBox="1"/>
          <p:nvPr/>
        </p:nvSpPr>
        <p:spPr>
          <a:xfrm>
            <a:off x="9450095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Fragile attachments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配件易碎</a:t>
            </a:r>
            <a:endParaRPr lang="en-US" sz="950" dirty="0"/>
          </a:p>
        </p:txBody>
      </p:sp>
      <p:sp>
        <p:nvSpPr>
          <p:cNvPr id="54" name="Ask card supreme"/>
          <p:cNvSpPr/>
          <p:nvPr/>
        </p:nvSpPr>
        <p:spPr>
          <a:xfrm>
            <a:off x="6415888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55" name="Ask supreme"/>
          <p:cNvSpPr txBox="1"/>
          <p:nvPr/>
        </p:nvSpPr>
        <p:spPr>
          <a:xfrm>
            <a:off x="6553048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Battery and charging that last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持久耐用的电池与充电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No self-start: better button and lock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杜绝自行开机：改进按键与锁定</a:t>
            </a:r>
            <a:endParaRPr lang="en-US" sz="1000" dirty="0"/>
          </a:p>
        </p:txBody>
      </p:sp>
      <p:sp>
        <p:nvSpPr>
          <p:cNvPr id="56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shavers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产品聚焦：剃须刀</a:t>
            </a:r>
            <a:endParaRPr lang="en-US" sz="2000" dirty="0"/>
          </a:p>
        </p:txBody>
      </p:sp>
      <p:sp>
        <p:nvSpPr>
          <p:cNvPr id="4" name="Product card deluxe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5" name="Product photo deluxe" descr="Head Shaver Delux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46504"/>
            <a:ext cx="1188720" cy="1188720"/>
          </a:xfrm>
          <a:prstGeom prst="rect">
            <a:avLst/>
          </a:prstGeom>
        </p:spPr>
      </p:pic>
      <p:sp>
        <p:nvSpPr>
          <p:cNvPr id="6" name="Product name deluxe"/>
          <p:cNvSpPr txBox="1"/>
          <p:nvPr/>
        </p:nvSpPr>
        <p:spPr>
          <a:xfrm>
            <a:off x="2103120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Head Shaver Deluxe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WS-SA1 / JK-8588A</a:t>
            </a:r>
            <a:endParaRPr lang="en-US" sz="1450" dirty="0"/>
          </a:p>
        </p:txBody>
      </p:sp>
      <p:sp>
        <p:nvSpPr>
          <p:cNvPr id="7" name="Product stat deluxe 1"/>
          <p:cNvSpPr txBox="1"/>
          <p:nvPr/>
        </p:nvSpPr>
        <p:spPr>
          <a:xfrm>
            <a:off x="210312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1,581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8" name="Product stat deluxe 2"/>
          <p:cNvSpPr txBox="1"/>
          <p:nvPr/>
        </p:nvSpPr>
        <p:spPr>
          <a:xfrm>
            <a:off x="3333445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4.6%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9" name="Product stat deluxe 3"/>
          <p:cNvSpPr txBox="1"/>
          <p:nvPr/>
        </p:nvSpPr>
        <p:spPr>
          <a:xfrm>
            <a:off x="456377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39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10" name="Focus deluxe"/>
          <p:cNvSpPr/>
          <p:nvPr/>
        </p:nvSpPr>
        <p:spPr>
          <a:xfrm>
            <a:off x="731520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191816"/>
          </a:solidFill>
          <a:ln/>
        </p:spPr>
      </p:sp>
      <p:sp>
        <p:nvSpPr>
          <p:cNvPr id="11" name="Focus badge deluxe"/>
          <p:cNvSpPr/>
          <p:nvPr/>
        </p:nvSpPr>
        <p:spPr>
          <a:xfrm>
            <a:off x="896112" y="32278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delux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3311957"/>
            <a:ext cx="252374" cy="252374"/>
          </a:xfrm>
          <a:prstGeom prst="rect">
            <a:avLst/>
          </a:prstGeom>
        </p:spPr>
      </p:pic>
      <p:sp>
        <p:nvSpPr>
          <p:cNvPr id="13" name="Focus text deluxe"/>
          <p:cNvSpPr txBox="1"/>
          <p:nvPr/>
        </p:nvSpPr>
        <p:spPr>
          <a:xfrm>
            <a:off x="1481328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28 of 39 defect reports: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 起故障报告中有 28 起与电池或充电有关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“The battery suddenly jumps from about 65% to 0%.”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电量会突然从 65% 左右跳到 0%。</a:t>
            </a:r>
            <a:endParaRPr lang="en-US" sz="900" dirty="0"/>
          </a:p>
        </p:txBody>
      </p:sp>
      <p:sp>
        <p:nvSpPr>
          <p:cNvPr id="14" name="List head deluxe 1"/>
          <p:cNvSpPr txBox="1"/>
          <p:nvPr/>
        </p:nvSpPr>
        <p:spPr>
          <a:xfrm>
            <a:off x="731520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39</a:t>
            </a:r>
            <a:endParaRPr lang="en-US" sz="850" dirty="0"/>
          </a:p>
        </p:txBody>
      </p:sp>
      <p:sp>
        <p:nvSpPr>
          <p:cNvPr id="15" name="List count deluxe 1 1"/>
          <p:cNvSpPr txBox="1"/>
          <p:nvPr/>
        </p:nvSpPr>
        <p:spPr>
          <a:xfrm>
            <a:off x="731520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28</a:t>
            </a:r>
            <a:endParaRPr lang="en-US" sz="1250" dirty="0"/>
          </a:p>
        </p:txBody>
      </p:sp>
      <p:sp>
        <p:nvSpPr>
          <p:cNvPr id="16" name="List item deluxe 1 1"/>
          <p:cNvSpPr txBox="1"/>
          <p:nvPr/>
        </p:nvSpPr>
        <p:spPr>
          <a:xfrm>
            <a:off x="1106424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17" name="List count deluxe 1 2"/>
          <p:cNvSpPr txBox="1"/>
          <p:nvPr/>
        </p:nvSpPr>
        <p:spPr>
          <a:xfrm>
            <a:off x="731520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4</a:t>
            </a:r>
            <a:endParaRPr lang="en-US" sz="1250" dirty="0"/>
          </a:p>
        </p:txBody>
      </p:sp>
      <p:sp>
        <p:nvSpPr>
          <p:cNvPr id="18" name="List item deluxe 1 2"/>
          <p:cNvSpPr txBox="1"/>
          <p:nvPr/>
        </p:nvSpPr>
        <p:spPr>
          <a:xfrm>
            <a:off x="1106424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19" name="List count deluxe 1 3"/>
          <p:cNvSpPr txBox="1"/>
          <p:nvPr/>
        </p:nvSpPr>
        <p:spPr>
          <a:xfrm>
            <a:off x="731520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</a:t>
            </a:r>
            <a:endParaRPr lang="en-US" sz="1250" dirty="0"/>
          </a:p>
        </p:txBody>
      </p:sp>
      <p:sp>
        <p:nvSpPr>
          <p:cNvPr id="20" name="List item deluxe 1 3"/>
          <p:cNvSpPr txBox="1"/>
          <p:nvPr/>
        </p:nvSpPr>
        <p:spPr>
          <a:xfrm>
            <a:off x="1106424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On/off switch faults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开关故障</a:t>
            </a:r>
            <a:endParaRPr lang="en-US" sz="950" dirty="0"/>
          </a:p>
        </p:txBody>
      </p:sp>
      <p:sp>
        <p:nvSpPr>
          <p:cNvPr id="21" name="List head deluxe 2"/>
          <p:cNvSpPr txBox="1"/>
          <p:nvPr/>
        </p:nvSpPr>
        <p:spPr>
          <a:xfrm>
            <a:off x="3390824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9</a:t>
            </a:r>
            <a:endParaRPr lang="en-US" sz="850" dirty="0"/>
          </a:p>
        </p:txBody>
      </p:sp>
      <p:sp>
        <p:nvSpPr>
          <p:cNvPr id="22" name="List count deluxe 2 1"/>
          <p:cNvSpPr txBox="1"/>
          <p:nvPr/>
        </p:nvSpPr>
        <p:spPr>
          <a:xfrm>
            <a:off x="3390824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3" name="List item deluxe 2 1"/>
          <p:cNvSpPr txBox="1"/>
          <p:nvPr/>
        </p:nvSpPr>
        <p:spPr>
          <a:xfrm>
            <a:off x="3765728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24" name="List count deluxe 2 2"/>
          <p:cNvSpPr txBox="1"/>
          <p:nvPr/>
        </p:nvSpPr>
        <p:spPr>
          <a:xfrm>
            <a:off x="3390824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5" name="List item deluxe 2 2"/>
          <p:cNvSpPr txBox="1"/>
          <p:nvPr/>
        </p:nvSpPr>
        <p:spPr>
          <a:xfrm>
            <a:off x="3765728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Skin irritation, cuts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皮肤刺激或划伤</a:t>
            </a:r>
            <a:endParaRPr lang="en-US" sz="950" dirty="0"/>
          </a:p>
        </p:txBody>
      </p:sp>
      <p:sp>
        <p:nvSpPr>
          <p:cNvPr id="26" name="List count deluxe 2 3"/>
          <p:cNvSpPr txBox="1"/>
          <p:nvPr/>
        </p:nvSpPr>
        <p:spPr>
          <a:xfrm>
            <a:off x="3390824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7" name="List item deluxe 2 3"/>
          <p:cNvSpPr txBox="1"/>
          <p:nvPr/>
        </p:nvSpPr>
        <p:spPr>
          <a:xfrm>
            <a:off x="3765728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Not a smooth result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剃得不够干净</a:t>
            </a:r>
            <a:endParaRPr lang="en-US" sz="950" dirty="0"/>
          </a:p>
        </p:txBody>
      </p:sp>
      <p:sp>
        <p:nvSpPr>
          <p:cNvPr id="28" name="Ask card deluxe"/>
          <p:cNvSpPr/>
          <p:nvPr/>
        </p:nvSpPr>
        <p:spPr>
          <a:xfrm>
            <a:off x="731520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29" name="Ask deluxe"/>
          <p:cNvSpPr txBox="1"/>
          <p:nvPr/>
        </p:nvSpPr>
        <p:spPr>
          <a:xfrm>
            <a:off x="868680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Battery and an accurate % display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电池与准确的电量显示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Sharper blades that last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更锋利耐用的刀片</a:t>
            </a:r>
            <a:endParaRPr lang="en-US" sz="1000" dirty="0"/>
          </a:p>
        </p:txBody>
      </p:sp>
      <p:sp>
        <p:nvSpPr>
          <p:cNvPr id="30" name="Product card baron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31" name="Product photo baron" descr="Foil Shaver Blade Bar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1746504"/>
            <a:ext cx="1188720" cy="1188720"/>
          </a:xfrm>
          <a:prstGeom prst="rect">
            <a:avLst/>
          </a:prstGeom>
        </p:spPr>
      </p:pic>
      <p:sp>
        <p:nvSpPr>
          <p:cNvPr id="32" name="Product name baron"/>
          <p:cNvSpPr txBox="1"/>
          <p:nvPr/>
        </p:nvSpPr>
        <p:spPr>
          <a:xfrm>
            <a:off x="7787488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Foil Shaver Blade Baron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FK-706</a:t>
            </a:r>
            <a:endParaRPr lang="en-US" sz="1450" dirty="0"/>
          </a:p>
        </p:txBody>
      </p:sp>
      <p:sp>
        <p:nvSpPr>
          <p:cNvPr id="33" name="Product stat baron 1"/>
          <p:cNvSpPr txBox="1"/>
          <p:nvPr/>
        </p:nvSpPr>
        <p:spPr>
          <a:xfrm>
            <a:off x="778748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1,307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34" name="Product stat baron 2"/>
          <p:cNvSpPr txBox="1"/>
          <p:nvPr/>
        </p:nvSpPr>
        <p:spPr>
          <a:xfrm>
            <a:off x="9017813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5.6%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35" name="Product stat baron 3"/>
          <p:cNvSpPr txBox="1"/>
          <p:nvPr/>
        </p:nvSpPr>
        <p:spPr>
          <a:xfrm>
            <a:off x="1024813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36" name="Focus baron"/>
          <p:cNvSpPr/>
          <p:nvPr/>
        </p:nvSpPr>
        <p:spPr>
          <a:xfrm>
            <a:off x="6415888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EDE6DA"/>
          </a:solidFill>
          <a:ln/>
        </p:spPr>
      </p:sp>
      <p:sp>
        <p:nvSpPr>
          <p:cNvPr id="37" name="Focus badge baron"/>
          <p:cNvSpPr/>
          <p:nvPr/>
        </p:nvSpPr>
        <p:spPr>
          <a:xfrm>
            <a:off x="6580480" y="322783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8" name="Focus icon bar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604" y="3311957"/>
            <a:ext cx="252374" cy="252374"/>
          </a:xfrm>
          <a:prstGeom prst="rect">
            <a:avLst/>
          </a:prstGeom>
        </p:spPr>
      </p:pic>
      <p:sp>
        <p:nvSpPr>
          <p:cNvPr id="39" name="Focus text baron"/>
          <p:cNvSpPr txBox="1"/>
          <p:nvPr/>
        </p:nvSpPr>
        <p:spPr>
          <a:xfrm>
            <a:off x="7165696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RETURNS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退货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5.6% returns, the highest of these products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 5.6%，为这些产品中最高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tx1"/>
                </a:solidFill>
              </a:rPr>
              <a:t>“It shaves, but not completely smooth as described.”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能剃，但没有描述的那么干净。</a:t>
            </a:r>
            <a:endParaRPr lang="en-US" sz="900" dirty="0"/>
          </a:p>
        </p:txBody>
      </p:sp>
      <p:sp>
        <p:nvSpPr>
          <p:cNvPr id="40" name="List head baron 1"/>
          <p:cNvSpPr txBox="1"/>
          <p:nvPr/>
        </p:nvSpPr>
        <p:spPr>
          <a:xfrm>
            <a:off x="6415888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1</a:t>
            </a:r>
            <a:endParaRPr lang="en-US" sz="850" dirty="0"/>
          </a:p>
        </p:txBody>
      </p:sp>
      <p:sp>
        <p:nvSpPr>
          <p:cNvPr id="41" name="List count baron 1 1"/>
          <p:cNvSpPr txBox="1"/>
          <p:nvPr/>
        </p:nvSpPr>
        <p:spPr>
          <a:xfrm>
            <a:off x="6415888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42" name="List item baron 1 1"/>
          <p:cNvSpPr txBox="1"/>
          <p:nvPr/>
        </p:nvSpPr>
        <p:spPr>
          <a:xfrm>
            <a:off x="6790792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Weak motor,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动力不足，拉扯毛发</a:t>
            </a:r>
            <a:endParaRPr lang="en-US" sz="950" dirty="0"/>
          </a:p>
        </p:txBody>
      </p:sp>
      <p:sp>
        <p:nvSpPr>
          <p:cNvPr id="43" name="List head baron 2"/>
          <p:cNvSpPr txBox="1"/>
          <p:nvPr/>
        </p:nvSpPr>
        <p:spPr>
          <a:xfrm>
            <a:off x="9075191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2</a:t>
            </a:r>
            <a:endParaRPr lang="en-US" sz="850" dirty="0"/>
          </a:p>
        </p:txBody>
      </p:sp>
      <p:sp>
        <p:nvSpPr>
          <p:cNvPr id="44" name="List count baron 2 1"/>
          <p:cNvSpPr txBox="1"/>
          <p:nvPr/>
        </p:nvSpPr>
        <p:spPr>
          <a:xfrm>
            <a:off x="9075191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45" name="List item baron 2 1"/>
          <p:cNvSpPr txBox="1"/>
          <p:nvPr/>
        </p:nvSpPr>
        <p:spPr>
          <a:xfrm>
            <a:off x="9450095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Not completely smooth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剃得不够干净</a:t>
            </a:r>
            <a:endParaRPr lang="en-US" sz="950" dirty="0"/>
          </a:p>
        </p:txBody>
      </p:sp>
      <p:sp>
        <p:nvSpPr>
          <p:cNvPr id="46" name="Ask card baron"/>
          <p:cNvSpPr/>
          <p:nvPr/>
        </p:nvSpPr>
        <p:spPr>
          <a:xfrm>
            <a:off x="6415888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47" name="Ask baron"/>
          <p:cNvSpPr txBox="1"/>
          <p:nvPr/>
        </p:nvSpPr>
        <p:spPr>
          <a:xfrm>
            <a:off x="6553048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A closer shave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剃得更干净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Find the return reasons together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共同分析退货原因</a:t>
            </a:r>
            <a:endParaRPr lang="en-US" sz="1000" dirty="0"/>
          </a:p>
        </p:txBody>
      </p:sp>
      <p:sp>
        <p:nvSpPr>
          <p:cNvPr id="48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body groomers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产品聚焦：身体修剪器</a:t>
            </a:r>
            <a:endParaRPr lang="en-US" sz="2000" dirty="0"/>
          </a:p>
        </p:txBody>
      </p:sp>
      <p:sp>
        <p:nvSpPr>
          <p:cNvPr id="4" name="Product card groomguard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5" name="Product photo groomguard" descr="Body Groomer Groom Gu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46504"/>
            <a:ext cx="1188720" cy="1188720"/>
          </a:xfrm>
          <a:prstGeom prst="rect">
            <a:avLst/>
          </a:prstGeom>
        </p:spPr>
      </p:pic>
      <p:sp>
        <p:nvSpPr>
          <p:cNvPr id="6" name="Product name groomguard"/>
          <p:cNvSpPr txBox="1"/>
          <p:nvPr/>
        </p:nvSpPr>
        <p:spPr>
          <a:xfrm>
            <a:off x="2103120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Body Groomer Groom Guard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WS-BG1 / HT-6006</a:t>
            </a:r>
            <a:endParaRPr lang="en-US" sz="1450" dirty="0"/>
          </a:p>
        </p:txBody>
      </p:sp>
      <p:sp>
        <p:nvSpPr>
          <p:cNvPr id="7" name="Product stat groomguard 1"/>
          <p:cNvSpPr txBox="1"/>
          <p:nvPr/>
        </p:nvSpPr>
        <p:spPr>
          <a:xfrm>
            <a:off x="210312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2,116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8" name="Product stat groomguard 2"/>
          <p:cNvSpPr txBox="1"/>
          <p:nvPr/>
        </p:nvSpPr>
        <p:spPr>
          <a:xfrm>
            <a:off x="3333445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2.3%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9" name="Product stat groomguard 3"/>
          <p:cNvSpPr txBox="1"/>
          <p:nvPr/>
        </p:nvSpPr>
        <p:spPr>
          <a:xfrm>
            <a:off x="456377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35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10" name="Focus groomguard"/>
          <p:cNvSpPr/>
          <p:nvPr/>
        </p:nvSpPr>
        <p:spPr>
          <a:xfrm>
            <a:off x="731520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191816"/>
          </a:solidFill>
          <a:ln/>
        </p:spPr>
      </p:sp>
      <p:sp>
        <p:nvSpPr>
          <p:cNvPr id="11" name="Focus badge groomguard"/>
          <p:cNvSpPr/>
          <p:nvPr/>
        </p:nvSpPr>
        <p:spPr>
          <a:xfrm>
            <a:off x="896112" y="32278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groomguar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3311957"/>
            <a:ext cx="252374" cy="252374"/>
          </a:xfrm>
          <a:prstGeom prst="rect">
            <a:avLst/>
          </a:prstGeom>
        </p:spPr>
      </p:pic>
      <p:sp>
        <p:nvSpPr>
          <p:cNvPr id="13" name="Focus text groomguard"/>
          <p:cNvSpPr txBox="1"/>
          <p:nvPr/>
        </p:nvSpPr>
        <p:spPr>
          <a:xfrm>
            <a:off x="1481328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27 of 35 defect reports: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 起故障报告中有 27 起与电池或充电有关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“No longer charges. Tried other charging cables.”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无法充电，已经换过其他充电线。</a:t>
            </a:r>
            <a:endParaRPr lang="en-US" sz="900" dirty="0"/>
          </a:p>
        </p:txBody>
      </p:sp>
      <p:sp>
        <p:nvSpPr>
          <p:cNvPr id="14" name="List head groomguard 1"/>
          <p:cNvSpPr txBox="1"/>
          <p:nvPr/>
        </p:nvSpPr>
        <p:spPr>
          <a:xfrm>
            <a:off x="731520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35</a:t>
            </a:r>
            <a:endParaRPr lang="en-US" sz="850" dirty="0"/>
          </a:p>
        </p:txBody>
      </p:sp>
      <p:sp>
        <p:nvSpPr>
          <p:cNvPr id="15" name="List count groomguard 1 1"/>
          <p:cNvSpPr txBox="1"/>
          <p:nvPr/>
        </p:nvSpPr>
        <p:spPr>
          <a:xfrm>
            <a:off x="731520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27</a:t>
            </a:r>
            <a:endParaRPr lang="en-US" sz="1250" dirty="0"/>
          </a:p>
        </p:txBody>
      </p:sp>
      <p:sp>
        <p:nvSpPr>
          <p:cNvPr id="16" name="List item groomguard 1 1"/>
          <p:cNvSpPr txBox="1"/>
          <p:nvPr/>
        </p:nvSpPr>
        <p:spPr>
          <a:xfrm>
            <a:off x="1106424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17" name="List count groomguard 1 2"/>
          <p:cNvSpPr txBox="1"/>
          <p:nvPr/>
        </p:nvSpPr>
        <p:spPr>
          <a:xfrm>
            <a:off x="731520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6</a:t>
            </a:r>
            <a:endParaRPr lang="en-US" sz="1250" dirty="0"/>
          </a:p>
        </p:txBody>
      </p:sp>
      <p:sp>
        <p:nvSpPr>
          <p:cNvPr id="18" name="List item groomguard 1 2"/>
          <p:cNvSpPr txBox="1"/>
          <p:nvPr/>
        </p:nvSpPr>
        <p:spPr>
          <a:xfrm>
            <a:off x="1106424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19" name="List count groomguard 1 3"/>
          <p:cNvSpPr txBox="1"/>
          <p:nvPr/>
        </p:nvSpPr>
        <p:spPr>
          <a:xfrm>
            <a:off x="731520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20" name="List item groomguard 1 3"/>
          <p:cNvSpPr txBox="1"/>
          <p:nvPr/>
        </p:nvSpPr>
        <p:spPr>
          <a:xfrm>
            <a:off x="1106424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Weak motor,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动力不足，拉扯毛发</a:t>
            </a:r>
            <a:endParaRPr lang="en-US" sz="950" dirty="0"/>
          </a:p>
        </p:txBody>
      </p:sp>
      <p:sp>
        <p:nvSpPr>
          <p:cNvPr id="21" name="List head groomguard 2"/>
          <p:cNvSpPr txBox="1"/>
          <p:nvPr/>
        </p:nvSpPr>
        <p:spPr>
          <a:xfrm>
            <a:off x="3390824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7</a:t>
            </a:r>
            <a:endParaRPr lang="en-US" sz="850" dirty="0"/>
          </a:p>
        </p:txBody>
      </p:sp>
      <p:sp>
        <p:nvSpPr>
          <p:cNvPr id="22" name="List count groomguard 2 1"/>
          <p:cNvSpPr txBox="1"/>
          <p:nvPr/>
        </p:nvSpPr>
        <p:spPr>
          <a:xfrm>
            <a:off x="3390824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3" name="List item groomguard 2 1"/>
          <p:cNvSpPr txBox="1"/>
          <p:nvPr/>
        </p:nvSpPr>
        <p:spPr>
          <a:xfrm>
            <a:off x="3765728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Too sharp, irritation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过于锋利，刺激皮肤</a:t>
            </a:r>
            <a:endParaRPr lang="en-US" sz="950" dirty="0"/>
          </a:p>
        </p:txBody>
      </p:sp>
      <p:sp>
        <p:nvSpPr>
          <p:cNvPr id="24" name="List count groomguard 2 2"/>
          <p:cNvSpPr txBox="1"/>
          <p:nvPr/>
        </p:nvSpPr>
        <p:spPr>
          <a:xfrm>
            <a:off x="3390824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5" name="List item groomguard 2 2"/>
          <p:cNvSpPr txBox="1"/>
          <p:nvPr/>
        </p:nvSpPr>
        <p:spPr>
          <a:xfrm>
            <a:off x="3765728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Misses or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漏剪或拉扯毛发</a:t>
            </a:r>
            <a:endParaRPr lang="en-US" sz="950" dirty="0"/>
          </a:p>
        </p:txBody>
      </p:sp>
      <p:sp>
        <p:nvSpPr>
          <p:cNvPr id="26" name="List count groomguard 2 3"/>
          <p:cNvSpPr txBox="1"/>
          <p:nvPr/>
        </p:nvSpPr>
        <p:spPr>
          <a:xfrm>
            <a:off x="3390824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7" name="List item groomguard 2 3"/>
          <p:cNvSpPr txBox="1"/>
          <p:nvPr/>
        </p:nvSpPr>
        <p:spPr>
          <a:xfrm>
            <a:off x="3765728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Unstable stand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底座不稳</a:t>
            </a:r>
            <a:endParaRPr lang="en-US" sz="950" dirty="0"/>
          </a:p>
        </p:txBody>
      </p:sp>
      <p:sp>
        <p:nvSpPr>
          <p:cNvPr id="28" name="Ask card groomguard"/>
          <p:cNvSpPr/>
          <p:nvPr/>
        </p:nvSpPr>
        <p:spPr>
          <a:xfrm>
            <a:off x="731520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29" name="Ask groomguard"/>
          <p:cNvSpPr txBox="1"/>
          <p:nvPr/>
        </p:nvSpPr>
        <p:spPr>
          <a:xfrm>
            <a:off x="868680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Battery and charging that last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持久耐用的电池与充电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A stable charging stand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更稳固的充电底座</a:t>
            </a:r>
            <a:endParaRPr lang="en-US" sz="1000" dirty="0"/>
          </a:p>
        </p:txBody>
      </p:sp>
      <p:sp>
        <p:nvSpPr>
          <p:cNvPr id="30" name="Product card flexguard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31" name="Product photo flexguard" descr="Body Groomer Flex Gu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1746504"/>
            <a:ext cx="1188720" cy="1188720"/>
          </a:xfrm>
          <a:prstGeom prst="rect">
            <a:avLst/>
          </a:prstGeom>
        </p:spPr>
      </p:pic>
      <p:sp>
        <p:nvSpPr>
          <p:cNvPr id="32" name="Product name flexguard"/>
          <p:cNvSpPr txBox="1"/>
          <p:nvPr/>
        </p:nvSpPr>
        <p:spPr>
          <a:xfrm>
            <a:off x="7787488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Body Groomer Flex Guard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WS-BG3</a:t>
            </a:r>
            <a:endParaRPr lang="en-US" sz="1450" dirty="0"/>
          </a:p>
        </p:txBody>
      </p:sp>
      <p:sp>
        <p:nvSpPr>
          <p:cNvPr id="33" name="Product stat flexguard 1"/>
          <p:cNvSpPr txBox="1"/>
          <p:nvPr/>
        </p:nvSpPr>
        <p:spPr>
          <a:xfrm>
            <a:off x="778748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1,135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34" name="Product stat flexguard 2"/>
          <p:cNvSpPr txBox="1"/>
          <p:nvPr/>
        </p:nvSpPr>
        <p:spPr>
          <a:xfrm>
            <a:off x="9017813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5.2%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35" name="Product stat flexguard 3"/>
          <p:cNvSpPr txBox="1"/>
          <p:nvPr/>
        </p:nvSpPr>
        <p:spPr>
          <a:xfrm>
            <a:off x="1024813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36" name="Focus flexguard"/>
          <p:cNvSpPr/>
          <p:nvPr/>
        </p:nvSpPr>
        <p:spPr>
          <a:xfrm>
            <a:off x="6415888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EDE6DA"/>
          </a:solidFill>
          <a:ln/>
        </p:spPr>
      </p:sp>
      <p:sp>
        <p:nvSpPr>
          <p:cNvPr id="37" name="Focus badge flexguard"/>
          <p:cNvSpPr/>
          <p:nvPr/>
        </p:nvSpPr>
        <p:spPr>
          <a:xfrm>
            <a:off x="6580480" y="322783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8" name="Focus icon flexguar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604" y="3311957"/>
            <a:ext cx="252374" cy="252374"/>
          </a:xfrm>
          <a:prstGeom prst="rect">
            <a:avLst/>
          </a:prstGeom>
        </p:spPr>
      </p:pic>
      <p:sp>
        <p:nvSpPr>
          <p:cNvPr id="39" name="Focus text flexguard"/>
          <p:cNvSpPr txBox="1"/>
          <p:nvPr/>
        </p:nvSpPr>
        <p:spPr>
          <a:xfrm>
            <a:off x="7165696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MAIN ISSUE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主要问题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Misses or pulls hairs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漏剪或拉扯毛发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head pulls out more hairs than it shaves.”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刀头拔掉的毛比剃掉的还多。</a:t>
            </a:r>
            <a:endParaRPr lang="en-US" sz="900" dirty="0"/>
          </a:p>
        </p:txBody>
      </p:sp>
      <p:sp>
        <p:nvSpPr>
          <p:cNvPr id="40" name="List head flexguard 1"/>
          <p:cNvSpPr txBox="1"/>
          <p:nvPr/>
        </p:nvSpPr>
        <p:spPr>
          <a:xfrm>
            <a:off x="6415888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4</a:t>
            </a:r>
            <a:endParaRPr lang="en-US" sz="850" dirty="0"/>
          </a:p>
        </p:txBody>
      </p:sp>
      <p:sp>
        <p:nvSpPr>
          <p:cNvPr id="41" name="List count flexguard 1 1"/>
          <p:cNvSpPr txBox="1"/>
          <p:nvPr/>
        </p:nvSpPr>
        <p:spPr>
          <a:xfrm>
            <a:off x="6415888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</a:t>
            </a:r>
            <a:endParaRPr lang="en-US" sz="1250" dirty="0"/>
          </a:p>
        </p:txBody>
      </p:sp>
      <p:sp>
        <p:nvSpPr>
          <p:cNvPr id="42" name="List item flexguard 1 1"/>
          <p:cNvSpPr txBox="1"/>
          <p:nvPr/>
        </p:nvSpPr>
        <p:spPr>
          <a:xfrm>
            <a:off x="6790792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43" name="List count flexguard 1 2"/>
          <p:cNvSpPr txBox="1"/>
          <p:nvPr/>
        </p:nvSpPr>
        <p:spPr>
          <a:xfrm>
            <a:off x="6415888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44" name="List item flexguard 1 2"/>
          <p:cNvSpPr txBox="1"/>
          <p:nvPr/>
        </p:nvSpPr>
        <p:spPr>
          <a:xfrm>
            <a:off x="6790792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45" name="List count flexguard 1 3"/>
          <p:cNvSpPr txBox="1"/>
          <p:nvPr/>
        </p:nvSpPr>
        <p:spPr>
          <a:xfrm>
            <a:off x="6415888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46" name="List item flexguard 1 3"/>
          <p:cNvSpPr txBox="1"/>
          <p:nvPr/>
        </p:nvSpPr>
        <p:spPr>
          <a:xfrm>
            <a:off x="6790792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Weak motor,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动力不足，拉扯毛发</a:t>
            </a:r>
            <a:endParaRPr lang="en-US" sz="950" dirty="0"/>
          </a:p>
        </p:txBody>
      </p:sp>
      <p:sp>
        <p:nvSpPr>
          <p:cNvPr id="47" name="List head flexguard 2"/>
          <p:cNvSpPr txBox="1"/>
          <p:nvPr/>
        </p:nvSpPr>
        <p:spPr>
          <a:xfrm>
            <a:off x="9075191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4</a:t>
            </a:r>
            <a:endParaRPr lang="en-US" sz="850" dirty="0"/>
          </a:p>
        </p:txBody>
      </p:sp>
      <p:sp>
        <p:nvSpPr>
          <p:cNvPr id="48" name="List count flexguard 2 1"/>
          <p:cNvSpPr txBox="1"/>
          <p:nvPr/>
        </p:nvSpPr>
        <p:spPr>
          <a:xfrm>
            <a:off x="9075191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49" name="List item flexguard 2 1"/>
          <p:cNvSpPr txBox="1"/>
          <p:nvPr/>
        </p:nvSpPr>
        <p:spPr>
          <a:xfrm>
            <a:off x="9450095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Misses or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漏剪或拉扯毛发</a:t>
            </a:r>
            <a:endParaRPr lang="en-US" sz="950" dirty="0"/>
          </a:p>
        </p:txBody>
      </p:sp>
      <p:sp>
        <p:nvSpPr>
          <p:cNvPr id="50" name="List count flexguard 2 2"/>
          <p:cNvSpPr txBox="1"/>
          <p:nvPr/>
        </p:nvSpPr>
        <p:spPr>
          <a:xfrm>
            <a:off x="9075191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51" name="List item flexguard 2 2"/>
          <p:cNvSpPr txBox="1"/>
          <p:nvPr/>
        </p:nvSpPr>
        <p:spPr>
          <a:xfrm>
            <a:off x="9450095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Parts do not match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配件与描述不符</a:t>
            </a:r>
            <a:endParaRPr lang="en-US" sz="950" dirty="0"/>
          </a:p>
        </p:txBody>
      </p:sp>
      <p:sp>
        <p:nvSpPr>
          <p:cNvPr id="52" name="List count flexguard 2 3"/>
          <p:cNvSpPr txBox="1"/>
          <p:nvPr/>
        </p:nvSpPr>
        <p:spPr>
          <a:xfrm>
            <a:off x="9075191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53" name="List item flexguard 2 3"/>
          <p:cNvSpPr txBox="1"/>
          <p:nvPr/>
        </p:nvSpPr>
        <p:spPr>
          <a:xfrm>
            <a:off x="9450095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Cuts and irritation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划伤与刺激</a:t>
            </a:r>
            <a:endParaRPr lang="en-US" sz="950" dirty="0"/>
          </a:p>
        </p:txBody>
      </p:sp>
      <p:sp>
        <p:nvSpPr>
          <p:cNvPr id="54" name="Ask card flexguard"/>
          <p:cNvSpPr/>
          <p:nvPr/>
        </p:nvSpPr>
        <p:spPr>
          <a:xfrm>
            <a:off x="6415888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55" name="Ask flexguard"/>
          <p:cNvSpPr txBox="1"/>
          <p:nvPr/>
        </p:nvSpPr>
        <p:spPr>
          <a:xfrm>
            <a:off x="6553048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More power, catches every hair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动力更强，不漏毛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Combs and attachments as described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限位梳与配件与描述一致</a:t>
            </a:r>
            <a:endParaRPr lang="en-US" sz="1000" dirty="0"/>
          </a:p>
        </p:txBody>
      </p:sp>
      <p:sp>
        <p:nvSpPr>
          <p:cNvPr id="56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BLADES &amp; BATTERIES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重点：刀片与电池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Skin-safe blades: our top priority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安全刀片：我们的首要任务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No skin between the blades, ever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皮肤绝不会夹进刀片之间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Foils that cut a 3-day beard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刀网可剃净三天胡茬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Batteries that last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持久耐用的电池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PREMIUM FEATURES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重点：高端功能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Smart LCD display and new PCB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 LCD 显示屏与新 PCB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Like the new Manscaped Gen 6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参考新款 Manscaped 第 6 代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Premium alloy body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高端合金机身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USB-C with a silicone cap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USB-C 接口加硅胶防水盖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559552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in 2026, 146 of the 215 defect reports on your products were about the battery or charging. Each one costs a new device and a disappointed customer.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年，贵司产品的 215 起故障报告中有 146 起与电池或充电有关。每一起都意味着一台新机和一位失望的客户。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Wellshave standard for every product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全系产品标准</a:t>
            </a:r>
            <a:endParaRPr lang="en-US" sz="2000" dirty="0"/>
          </a:p>
        </p:txBody>
      </p:sp>
      <p:sp>
        <p:nvSpPr>
          <p:cNvPr id="4" name="Standard card 1"/>
          <p:cNvSpPr/>
          <p:nvPr/>
        </p:nvSpPr>
        <p:spPr>
          <a:xfrm>
            <a:off x="548640" y="1645920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5" name="Standard badge 1"/>
          <p:cNvSpPr/>
          <p:nvPr/>
        </p:nvSpPr>
        <p:spPr>
          <a:xfrm>
            <a:off x="777240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Standard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84248"/>
            <a:ext cx="292608" cy="292608"/>
          </a:xfrm>
          <a:prstGeom prst="rect">
            <a:avLst/>
          </a:prstGeom>
        </p:spPr>
      </p:pic>
      <p:sp>
        <p:nvSpPr>
          <p:cNvPr id="7" name="Standard title 1"/>
          <p:cNvSpPr txBox="1"/>
          <p:nvPr/>
        </p:nvSpPr>
        <p:spPr>
          <a:xfrm>
            <a:off x="1417320" y="1828800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The right adapter in every box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每台配备匹配的适配器</a:t>
            </a:r>
            <a:endParaRPr lang="en-US" sz="1350" dirty="0"/>
          </a:p>
        </p:txBody>
      </p:sp>
      <p:sp>
        <p:nvSpPr>
          <p:cNvPr id="8" name="Standard text 1"/>
          <p:cNvSpPr txBox="1"/>
          <p:nvPr/>
        </p:nvSpPr>
        <p:spPr>
          <a:xfrm>
            <a:off x="777240" y="2487168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CE and GS certified, EU plug, fixed cable, exactly the current the device needs.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 和 GS 认证，欧标插头，线缆一体，输出电流与设备匹配。</a:t>
            </a:r>
            <a:endParaRPr lang="en-US" sz="1050" dirty="0"/>
          </a:p>
        </p:txBody>
      </p:sp>
      <p:sp>
        <p:nvSpPr>
          <p:cNvPr id="9" name="Standard card 2"/>
          <p:cNvSpPr/>
          <p:nvPr/>
        </p:nvSpPr>
        <p:spPr>
          <a:xfrm>
            <a:off x="4322978" y="1645920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10" name="Standard badge 2"/>
          <p:cNvSpPr/>
          <p:nvPr/>
        </p:nvSpPr>
        <p:spPr>
          <a:xfrm>
            <a:off x="4551578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Standard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1984248"/>
            <a:ext cx="292608" cy="292608"/>
          </a:xfrm>
          <a:prstGeom prst="rect">
            <a:avLst/>
          </a:prstGeom>
        </p:spPr>
      </p:pic>
      <p:sp>
        <p:nvSpPr>
          <p:cNvPr id="12" name="Standard title 2"/>
          <p:cNvSpPr txBox="1"/>
          <p:nvPr/>
        </p:nvSpPr>
        <p:spPr>
          <a:xfrm>
            <a:off x="5191658" y="1828800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A battery that keeps the promise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电池达到承诺的续航</a:t>
            </a:r>
            <a:endParaRPr lang="en-US" sz="1350" dirty="0"/>
          </a:p>
        </p:txBody>
      </p:sp>
      <p:sp>
        <p:nvSpPr>
          <p:cNvPr id="13" name="Standard text 2"/>
          <p:cNvSpPr txBox="1"/>
          <p:nvPr/>
        </p:nvSpPr>
        <p:spPr>
          <a:xfrm>
            <a:off x="4551578" y="2487168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Branded grade A cell. The real runtime matches what we advertise. At least 500 cycles.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 A 级电芯，实际续航与宣传一致，循环寿命至少 500 次。</a:t>
            </a:r>
            <a:endParaRPr lang="en-US" sz="1050" dirty="0"/>
          </a:p>
        </p:txBody>
      </p:sp>
      <p:sp>
        <p:nvSpPr>
          <p:cNvPr id="14" name="Standard card 3"/>
          <p:cNvSpPr/>
          <p:nvPr/>
        </p:nvSpPr>
        <p:spPr>
          <a:xfrm>
            <a:off x="8097317" y="1645920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15" name="Standard badge 3"/>
          <p:cNvSpPr/>
          <p:nvPr/>
        </p:nvSpPr>
        <p:spPr>
          <a:xfrm>
            <a:off x="8325917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Standard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1984248"/>
            <a:ext cx="292608" cy="292608"/>
          </a:xfrm>
          <a:prstGeom prst="rect">
            <a:avLst/>
          </a:prstGeom>
        </p:spPr>
      </p:pic>
      <p:sp>
        <p:nvSpPr>
          <p:cNvPr id="17" name="Standard title 3"/>
          <p:cNvSpPr txBox="1"/>
          <p:nvPr/>
        </p:nvSpPr>
        <p:spPr>
          <a:xfrm>
            <a:off x="8965997" y="1828800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Safe charging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安全充电</a:t>
            </a:r>
            <a:endParaRPr lang="en-US" sz="1350" dirty="0"/>
          </a:p>
        </p:txBody>
      </p:sp>
      <p:sp>
        <p:nvSpPr>
          <p:cNvPr id="18" name="Standard text 3"/>
          <p:cNvSpPr txBox="1"/>
          <p:nvPr/>
        </p:nvSpPr>
        <p:spPr>
          <a:xfrm>
            <a:off x="8325917" y="2487168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Protection against overcharge, deep discharge, short circuit and heat. Over-voltage protection on the input.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防过充、过放、短路和过热保护，充电输入端过压保护。</a:t>
            </a:r>
            <a:endParaRPr lang="en-US" sz="1050" dirty="0"/>
          </a:p>
        </p:txBody>
      </p:sp>
      <p:sp>
        <p:nvSpPr>
          <p:cNvPr id="19" name="Standard card 4"/>
          <p:cNvSpPr/>
          <p:nvPr/>
        </p:nvSpPr>
        <p:spPr>
          <a:xfrm>
            <a:off x="548640" y="3419856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20" name="Standard badge 4"/>
          <p:cNvSpPr/>
          <p:nvPr/>
        </p:nvSpPr>
        <p:spPr>
          <a:xfrm>
            <a:off x="777240" y="364845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Standard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758184"/>
            <a:ext cx="292608" cy="292608"/>
          </a:xfrm>
          <a:prstGeom prst="rect">
            <a:avLst/>
          </a:prstGeom>
        </p:spPr>
      </p:pic>
      <p:sp>
        <p:nvSpPr>
          <p:cNvPr id="22" name="Standard title 4"/>
          <p:cNvSpPr txBox="1"/>
          <p:nvPr/>
        </p:nvSpPr>
        <p:spPr>
          <a:xfrm>
            <a:off x="1417320" y="3602736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USB-C on every product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全系产品采用 USB-C</a:t>
            </a:r>
            <a:endParaRPr lang="en-US" sz="1350" dirty="0"/>
          </a:p>
        </p:txBody>
      </p:sp>
      <p:sp>
        <p:nvSpPr>
          <p:cNvPr id="23" name="Standard text 4"/>
          <p:cNvSpPr txBox="1"/>
          <p:nvPr/>
        </p:nvSpPr>
        <p:spPr>
          <a:xfrm>
            <a:off x="777240" y="4261104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Charges with any USB-C cable. A silicone cap keeps water out.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USB-C 线都能充电，硅胶盖防止进水。</a:t>
            </a:r>
            <a:endParaRPr lang="en-US" sz="1050" dirty="0"/>
          </a:p>
        </p:txBody>
      </p:sp>
      <p:sp>
        <p:nvSpPr>
          <p:cNvPr id="24" name="Standard card 5"/>
          <p:cNvSpPr/>
          <p:nvPr/>
        </p:nvSpPr>
        <p:spPr>
          <a:xfrm>
            <a:off x="4322978" y="3419856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25" name="Standard badge 5"/>
          <p:cNvSpPr/>
          <p:nvPr/>
        </p:nvSpPr>
        <p:spPr>
          <a:xfrm>
            <a:off x="4551578" y="364845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Standard icon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3758184"/>
            <a:ext cx="292608" cy="292608"/>
          </a:xfrm>
          <a:prstGeom prst="rect">
            <a:avLst/>
          </a:prstGeom>
        </p:spPr>
      </p:pic>
      <p:sp>
        <p:nvSpPr>
          <p:cNvPr id="27" name="Standard title 5"/>
          <p:cNvSpPr txBox="1"/>
          <p:nvPr/>
        </p:nvSpPr>
        <p:spPr>
          <a:xfrm>
            <a:off x="5191658" y="3602736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A complete box, every time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每一台都包装齐全</a:t>
            </a:r>
            <a:endParaRPr lang="en-US" sz="1350" dirty="0"/>
          </a:p>
        </p:txBody>
      </p:sp>
      <p:sp>
        <p:nvSpPr>
          <p:cNvPr id="28" name="Standard text 5"/>
          <p:cNvSpPr txBox="1"/>
          <p:nvPr/>
        </p:nvSpPr>
        <p:spPr>
          <a:xfrm>
            <a:off x="4551578" y="4261104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Cable, adapter and every attachment checked before sealing. The manual matches the product.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封箱前检查数据线、适配器和所有配件，说明书与产品一致。</a:t>
            </a:r>
            <a:endParaRPr lang="en-US" sz="1050" dirty="0"/>
          </a:p>
        </p:txBody>
      </p:sp>
      <p:sp>
        <p:nvSpPr>
          <p:cNvPr id="29" name="Standard card 6"/>
          <p:cNvSpPr/>
          <p:nvPr/>
        </p:nvSpPr>
        <p:spPr>
          <a:xfrm>
            <a:off x="8097317" y="3419856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30" name="Standard badge 6"/>
          <p:cNvSpPr/>
          <p:nvPr/>
        </p:nvSpPr>
        <p:spPr>
          <a:xfrm>
            <a:off x="8325917" y="364845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Standard icon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3758184"/>
            <a:ext cx="292608" cy="292608"/>
          </a:xfrm>
          <a:prstGeom prst="rect">
            <a:avLst/>
          </a:prstGeom>
        </p:spPr>
      </p:pic>
      <p:sp>
        <p:nvSpPr>
          <p:cNvPr id="32" name="Standard title 6"/>
          <p:cNvSpPr txBox="1"/>
          <p:nvPr/>
        </p:nvSpPr>
        <p:spPr>
          <a:xfrm>
            <a:off x="8965997" y="3602736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Tested before shipping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出货前测试</a:t>
            </a:r>
            <a:endParaRPr lang="en-US" sz="1350" dirty="0"/>
          </a:p>
        </p:txBody>
      </p:sp>
      <p:sp>
        <p:nvSpPr>
          <p:cNvPr id="33" name="Standard text 6"/>
          <p:cNvSpPr txBox="1"/>
          <p:nvPr/>
        </p:nvSpPr>
        <p:spPr>
          <a:xfrm>
            <a:off x="8325917" y="4261104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100% charge and run test, battery aging test, and our inspection before every shipment.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 充电与运行测试、电池老化测试，每批出货前由我方验货。</a:t>
            </a:r>
            <a:endParaRPr lang="en-US" sz="1050" dirty="0"/>
          </a:p>
        </p:txBody>
      </p:sp>
      <p:sp>
        <p:nvSpPr>
          <p:cNvPr id="34" name="Documents box"/>
          <p:cNvSpPr/>
          <p:nvPr/>
        </p:nvSpPr>
        <p:spPr>
          <a:xfrm>
            <a:off x="548640" y="5175504"/>
            <a:ext cx="11094415" cy="1152144"/>
          </a:xfrm>
          <a:prstGeom prst="roundRect">
            <a:avLst>
              <a:gd name="adj" fmla="val 12698"/>
            </a:avLst>
          </a:prstGeom>
          <a:solidFill>
            <a:srgbClr val="EDE6DA"/>
          </a:solidFill>
          <a:ln/>
        </p:spPr>
      </p:sp>
      <p:pic>
        <p:nvPicPr>
          <p:cNvPr id="35" name="Document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58384"/>
            <a:ext cx="329184" cy="329184"/>
          </a:xfrm>
          <a:prstGeom prst="rect">
            <a:avLst/>
          </a:prstGeom>
        </p:spPr>
      </p:pic>
      <p:sp>
        <p:nvSpPr>
          <p:cNvPr id="36" name="Documents"/>
          <p:cNvSpPr txBox="1"/>
          <p:nvPr/>
        </p:nvSpPr>
        <p:spPr>
          <a:xfrm>
            <a:off x="1280160" y="5285232"/>
            <a:ext cx="1018001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Please share per product: 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CE (LVD and EMC), RoHS, battery IEC 62133-2, UN38.3 and MSDS, adapter certificates. 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New EU rule from 18 February 2027: 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batteries in new products must be replaceable. Let's design the 2027 models for it.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请提供每款产品的 CE（LVD 与 EMC）、RoHS、电池 IEC 62133-2、UN38.3 与 MSDS 报告及适配器认证。欧盟自 2027 年 2 月 18 日起要求新产品电池可更换，2027 年新款请按此设计。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Upgrade ideas: shavers and beard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升级建议：剃须刀与胡须修剪器</a:t>
            </a:r>
            <a:endParaRPr lang="en-US" sz="2000" dirty="0"/>
          </a:p>
        </p:txBody>
      </p:sp>
      <p:pic>
        <p:nvPicPr>
          <p:cNvPr id="4" name="Upgrade head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1627632"/>
            <a:ext cx="201168" cy="201168"/>
          </a:xfrm>
          <a:prstGeom prst="rect">
            <a:avLst/>
          </a:prstGeom>
        </p:spPr>
      </p:pic>
      <p:sp>
        <p:nvSpPr>
          <p:cNvPr id="5" name="Upgrade head 1"/>
          <p:cNvSpPr txBox="1"/>
          <p:nvPr/>
        </p:nvSpPr>
        <p:spPr>
          <a:xfrm>
            <a:off x="3886200" y="1627632"/>
            <a:ext cx="355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FIX FIRST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优先解决</a:t>
            </a:r>
            <a:endParaRPr lang="en-US" sz="1000" dirty="0"/>
          </a:p>
        </p:txBody>
      </p:sp>
      <p:pic>
        <p:nvPicPr>
          <p:cNvPr id="6" name="Upgrade head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348" y="1627632"/>
            <a:ext cx="201168" cy="201168"/>
          </a:xfrm>
          <a:prstGeom prst="rect">
            <a:avLst/>
          </a:prstGeom>
        </p:spPr>
      </p:pic>
      <p:sp>
        <p:nvSpPr>
          <p:cNvPr id="7" name="Upgrade head 2"/>
          <p:cNvSpPr txBox="1"/>
          <p:nvPr/>
        </p:nvSpPr>
        <p:spPr>
          <a:xfrm>
            <a:off x="8084668" y="1627632"/>
            <a:ext cx="355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ADD OR IMPROVE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新增或改进</a:t>
            </a:r>
            <a:endParaRPr lang="en-US" sz="1000" dirty="0"/>
          </a:p>
        </p:txBody>
      </p:sp>
      <p:sp>
        <p:nvSpPr>
          <p:cNvPr id="8" name="Upgrade row 1"/>
          <p:cNvSpPr/>
          <p:nvPr/>
        </p:nvSpPr>
        <p:spPr>
          <a:xfrm>
            <a:off x="548640" y="1956816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9" name="Upgrade photo 1" descr="Shaver Elite 4-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20824"/>
            <a:ext cx="577901" cy="577901"/>
          </a:xfrm>
          <a:prstGeom prst="rect">
            <a:avLst/>
          </a:prstGeom>
        </p:spPr>
      </p:pic>
      <p:sp>
        <p:nvSpPr>
          <p:cNvPr id="10" name="Upgrade product 1"/>
          <p:cNvSpPr txBox="1"/>
          <p:nvPr/>
        </p:nvSpPr>
        <p:spPr>
          <a:xfrm>
            <a:off x="1373429" y="1956816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Shaver Elite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Elite 四合一剃须刀</a:t>
            </a:r>
            <a:endParaRPr lang="en-US" sz="1200" dirty="0"/>
          </a:p>
        </p:txBody>
      </p:sp>
      <p:sp>
        <p:nvSpPr>
          <p:cNvPr id="11" name="Upgrade fix 1"/>
          <p:cNvSpPr txBox="1"/>
          <p:nvPr/>
        </p:nvSpPr>
        <p:spPr>
          <a:xfrm>
            <a:off x="3611880" y="1956816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 or charging: 37 of 54 defects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电池或充电：54 起故障中 37 起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Head clip, hinge and spring break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刀头卡扣、铰链和弹簧易断</a:t>
            </a:r>
            <a:endParaRPr lang="en-US" sz="1050" dirty="0"/>
          </a:p>
        </p:txBody>
      </p:sp>
      <p:sp>
        <p:nvSpPr>
          <p:cNvPr id="12" name="Upgrade add 1"/>
          <p:cNvSpPr txBox="1"/>
          <p:nvPr/>
        </p:nvSpPr>
        <p:spPr>
          <a:xfrm>
            <a:off x="7810348" y="1956816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USB-C, matched adapter, real 90 min battery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USB-C、匹配适配器、实际续航 90 分钟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Net and cutters that shave a 3-day beard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刀网与刀片可剃净三天胡茬</a:t>
            </a:r>
            <a:endParaRPr lang="en-US" sz="1050" dirty="0"/>
          </a:p>
        </p:txBody>
      </p:sp>
      <p:sp>
        <p:nvSpPr>
          <p:cNvPr id="13" name="Upgrade divider 1"/>
          <p:cNvSpPr/>
          <p:nvPr/>
        </p:nvSpPr>
        <p:spPr>
          <a:xfrm>
            <a:off x="7627468" y="2084832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4" name="Upgrade divider fix 1"/>
          <p:cNvSpPr/>
          <p:nvPr/>
        </p:nvSpPr>
        <p:spPr>
          <a:xfrm>
            <a:off x="3429000" y="2084832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5" name="Upgrade row 2"/>
          <p:cNvSpPr/>
          <p:nvPr/>
        </p:nvSpPr>
        <p:spPr>
          <a:xfrm>
            <a:off x="548640" y="2754173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16" name="Upgrade photo 2" descr="Head Shaver Delux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18181"/>
            <a:ext cx="577901" cy="577901"/>
          </a:xfrm>
          <a:prstGeom prst="rect">
            <a:avLst/>
          </a:prstGeom>
        </p:spPr>
      </p:pic>
      <p:sp>
        <p:nvSpPr>
          <p:cNvPr id="17" name="Upgrade product 2"/>
          <p:cNvSpPr txBox="1"/>
          <p:nvPr/>
        </p:nvSpPr>
        <p:spPr>
          <a:xfrm>
            <a:off x="1373429" y="2754173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Head Shaver Deluxe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200" dirty="0"/>
          </a:p>
        </p:txBody>
      </p:sp>
      <p:sp>
        <p:nvSpPr>
          <p:cNvPr id="18" name="Upgrade fix 2"/>
          <p:cNvSpPr txBox="1"/>
          <p:nvPr/>
        </p:nvSpPr>
        <p:spPr>
          <a:xfrm>
            <a:off x="3611880" y="2754173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Battery: 28 of 39 defects, % drops to 0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电池：39 起故障中 28 起，电量骤降为 0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Blades go dull, heads come loose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刀片变钝，刀头松动</a:t>
            </a:r>
            <a:endParaRPr lang="en-US" sz="1050" dirty="0"/>
          </a:p>
        </p:txBody>
      </p:sp>
      <p:sp>
        <p:nvSpPr>
          <p:cNvPr id="19" name="Upgrade add 2"/>
          <p:cNvSpPr txBox="1"/>
          <p:nvPr/>
        </p:nvSpPr>
        <p:spPr>
          <a:xfrm>
            <a:off x="7810348" y="2754173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Heads that shave a 3-day beard, no pulling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刀头剃净三天胡茬，不拉扯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Smart display with accurate %, USB-C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智能显示屏电量准确，USB-C 接口</a:t>
            </a:r>
            <a:endParaRPr lang="en-US" sz="1050" dirty="0"/>
          </a:p>
        </p:txBody>
      </p:sp>
      <p:sp>
        <p:nvSpPr>
          <p:cNvPr id="20" name="Upgrade divider 2"/>
          <p:cNvSpPr/>
          <p:nvPr/>
        </p:nvSpPr>
        <p:spPr>
          <a:xfrm>
            <a:off x="7627468" y="2882189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1" name="Upgrade divider fix 2"/>
          <p:cNvSpPr/>
          <p:nvPr/>
        </p:nvSpPr>
        <p:spPr>
          <a:xfrm>
            <a:off x="3429000" y="2882189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2" name="Upgrade row 3"/>
          <p:cNvSpPr/>
          <p:nvPr/>
        </p:nvSpPr>
        <p:spPr>
          <a:xfrm>
            <a:off x="548640" y="3551530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23" name="Upgrade photo 3" descr="Foil Shaver Blade Bar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15538"/>
            <a:ext cx="577901" cy="577901"/>
          </a:xfrm>
          <a:prstGeom prst="rect">
            <a:avLst/>
          </a:prstGeom>
        </p:spPr>
      </p:pic>
      <p:sp>
        <p:nvSpPr>
          <p:cNvPr id="24" name="Upgrade product 3"/>
          <p:cNvSpPr txBox="1"/>
          <p:nvPr/>
        </p:nvSpPr>
        <p:spPr>
          <a:xfrm>
            <a:off x="1373429" y="3551530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Blade Baron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200" dirty="0"/>
          </a:p>
        </p:txBody>
      </p:sp>
      <p:sp>
        <p:nvSpPr>
          <p:cNvPr id="25" name="Upgrade fix 3"/>
          <p:cNvSpPr txBox="1"/>
          <p:nvPr/>
        </p:nvSpPr>
        <p:spPr>
          <a:xfrm>
            <a:off x="3611880" y="3551530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Pulls hairs, highest returns (5.6%)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拉扯毛发，退货率最高（5.6%）</a:t>
            </a:r>
            <a:endParaRPr lang="en-US" sz="1050" dirty="0"/>
          </a:p>
        </p:txBody>
      </p:sp>
      <p:sp>
        <p:nvSpPr>
          <p:cNvPr id="26" name="Upgrade add 3"/>
          <p:cNvSpPr txBox="1"/>
          <p:nvPr/>
        </p:nvSpPr>
        <p:spPr>
          <a:xfrm>
            <a:off x="7810348" y="3551530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Foil that cuts a 3-day beard, no pulling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刀网剪净三天胡茬，不拉扯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Spare foil and cutter, fully waterproof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刀网刀片单独销售，全身水洗</a:t>
            </a:r>
            <a:endParaRPr lang="en-US" sz="1050" dirty="0"/>
          </a:p>
        </p:txBody>
      </p:sp>
      <p:sp>
        <p:nvSpPr>
          <p:cNvPr id="27" name="Upgrade divider 3"/>
          <p:cNvSpPr/>
          <p:nvPr/>
        </p:nvSpPr>
        <p:spPr>
          <a:xfrm>
            <a:off x="7627468" y="3679546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8" name="Upgrade divider fix 3"/>
          <p:cNvSpPr/>
          <p:nvPr/>
        </p:nvSpPr>
        <p:spPr>
          <a:xfrm>
            <a:off x="3429000" y="3679546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9" name="Upgrade row 4"/>
          <p:cNvSpPr/>
          <p:nvPr/>
        </p:nvSpPr>
        <p:spPr>
          <a:xfrm>
            <a:off x="548640" y="4348886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30" name="Upgrade photo 4" descr="Beard Trimmer Pro 5-in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12894"/>
            <a:ext cx="577901" cy="577901"/>
          </a:xfrm>
          <a:prstGeom prst="rect">
            <a:avLst/>
          </a:prstGeom>
        </p:spPr>
      </p:pic>
      <p:sp>
        <p:nvSpPr>
          <p:cNvPr id="31" name="Upgrade product 4"/>
          <p:cNvSpPr txBox="1"/>
          <p:nvPr/>
        </p:nvSpPr>
        <p:spPr>
          <a:xfrm>
            <a:off x="1373429" y="4348886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Beard Trimmer Pro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200" dirty="0"/>
          </a:p>
        </p:txBody>
      </p:sp>
      <p:sp>
        <p:nvSpPr>
          <p:cNvPr id="32" name="Upgrade fix 4"/>
          <p:cNvSpPr txBox="1"/>
          <p:nvPr/>
        </p:nvSpPr>
        <p:spPr>
          <a:xfrm>
            <a:off x="3611880" y="4348886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Battery: 10 of 15 defects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电池：15 起故障中 10 起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Heat or smell while charging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充电时发热或有异味</a:t>
            </a:r>
            <a:endParaRPr lang="en-US" sz="1050" dirty="0"/>
          </a:p>
        </p:txBody>
      </p:sp>
      <p:sp>
        <p:nvSpPr>
          <p:cNvPr id="33" name="Upgrade add 4"/>
          <p:cNvSpPr txBox="1"/>
          <p:nvPr/>
        </p:nvSpPr>
        <p:spPr>
          <a:xfrm>
            <a:off x="7810348" y="4348886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Li-ion instead of NiMH 2.4 V, display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锂电池替代 2.4V 镍氢电池，电量显示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USB-C: charge in 1.5 h instead of 5 h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USB-C 充电 1.5 小时（现 5 小时）</a:t>
            </a:r>
            <a:endParaRPr lang="en-US" sz="1050" dirty="0"/>
          </a:p>
        </p:txBody>
      </p:sp>
      <p:sp>
        <p:nvSpPr>
          <p:cNvPr id="34" name="Upgrade divider 4"/>
          <p:cNvSpPr/>
          <p:nvPr/>
        </p:nvSpPr>
        <p:spPr>
          <a:xfrm>
            <a:off x="7627468" y="4476902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35" name="Upgrade divider fix 4"/>
          <p:cNvSpPr/>
          <p:nvPr/>
        </p:nvSpPr>
        <p:spPr>
          <a:xfrm>
            <a:off x="3429000" y="4476902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36" name="Upgrade row 5"/>
          <p:cNvSpPr/>
          <p:nvPr/>
        </p:nvSpPr>
        <p:spPr>
          <a:xfrm>
            <a:off x="548640" y="5146243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37" name="Upgrade photo 5" descr="Beard Trimmer Supreme 6-in-1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210251"/>
            <a:ext cx="577901" cy="577901"/>
          </a:xfrm>
          <a:prstGeom prst="rect">
            <a:avLst/>
          </a:prstGeom>
        </p:spPr>
      </p:pic>
      <p:sp>
        <p:nvSpPr>
          <p:cNvPr id="38" name="Upgrade product 5"/>
          <p:cNvSpPr txBox="1"/>
          <p:nvPr/>
        </p:nvSpPr>
        <p:spPr>
          <a:xfrm>
            <a:off x="1373429" y="5146243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Beard Trimmer Supreme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200" dirty="0"/>
          </a:p>
        </p:txBody>
      </p:sp>
      <p:sp>
        <p:nvSpPr>
          <p:cNvPr id="39" name="Upgrade fix 5"/>
          <p:cNvSpPr txBox="1"/>
          <p:nvPr/>
        </p:nvSpPr>
        <p:spPr>
          <a:xfrm>
            <a:off x="3611880" y="5146243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Battery: 26 of 36 defects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电池：36 起故障中 26 起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Switches itself on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自行开机</a:t>
            </a:r>
            <a:endParaRPr lang="en-US" sz="1050" dirty="0"/>
          </a:p>
        </p:txBody>
      </p:sp>
      <p:sp>
        <p:nvSpPr>
          <p:cNvPr id="40" name="Upgrade add 5"/>
          <p:cNvSpPr txBox="1"/>
          <p:nvPr/>
        </p:nvSpPr>
        <p:spPr>
          <a:xfrm>
            <a:off x="7810348" y="5146243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Skin-safe blade with rounded tips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圆头刀齿安全刀片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Short combs 0.5 to 2 mm, USB-C with cap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0.5-2 毫米短限位梳，USB-C 加防水盖</a:t>
            </a:r>
            <a:endParaRPr lang="en-US" sz="1050" dirty="0"/>
          </a:p>
        </p:txBody>
      </p:sp>
      <p:sp>
        <p:nvSpPr>
          <p:cNvPr id="41" name="Upgrade divider 5"/>
          <p:cNvSpPr/>
          <p:nvPr/>
        </p:nvSpPr>
        <p:spPr>
          <a:xfrm>
            <a:off x="7627468" y="5274259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2" name="Upgrade divider fix 5"/>
          <p:cNvSpPr/>
          <p:nvPr/>
        </p:nvSpPr>
        <p:spPr>
          <a:xfrm>
            <a:off x="3429000" y="5274259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3" name="Upgrade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Wellshave customer service defect log and bol.com reviews, 1 January to 15 October 2026; battery specifications from the factory pro forma invoices.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数据来源：Wellshave 售后故障记录与 bol.com 评价（2026年1月1日至10月15日）；电池规格来自工厂形式发票。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Upgrade ideas: body groomers and nose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升级建议：身体修剪器与鼻毛修剪器</a:t>
            </a:r>
            <a:endParaRPr lang="en-US" sz="2000" dirty="0"/>
          </a:p>
        </p:txBody>
      </p:sp>
      <p:pic>
        <p:nvPicPr>
          <p:cNvPr id="4" name="Upgrade head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1627632"/>
            <a:ext cx="201168" cy="201168"/>
          </a:xfrm>
          <a:prstGeom prst="rect">
            <a:avLst/>
          </a:prstGeom>
        </p:spPr>
      </p:pic>
      <p:sp>
        <p:nvSpPr>
          <p:cNvPr id="5" name="Upgrade head 1"/>
          <p:cNvSpPr txBox="1"/>
          <p:nvPr/>
        </p:nvSpPr>
        <p:spPr>
          <a:xfrm>
            <a:off x="3886200" y="1627632"/>
            <a:ext cx="355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FIX FIRST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优先解决</a:t>
            </a:r>
            <a:endParaRPr lang="en-US" sz="1000" dirty="0"/>
          </a:p>
        </p:txBody>
      </p:sp>
      <p:pic>
        <p:nvPicPr>
          <p:cNvPr id="6" name="Upgrade head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348" y="1627632"/>
            <a:ext cx="201168" cy="201168"/>
          </a:xfrm>
          <a:prstGeom prst="rect">
            <a:avLst/>
          </a:prstGeom>
        </p:spPr>
      </p:pic>
      <p:sp>
        <p:nvSpPr>
          <p:cNvPr id="7" name="Upgrade head 2"/>
          <p:cNvSpPr txBox="1"/>
          <p:nvPr/>
        </p:nvSpPr>
        <p:spPr>
          <a:xfrm>
            <a:off x="8084668" y="1627632"/>
            <a:ext cx="355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ADD OR IMPROVE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新增或改进</a:t>
            </a:r>
            <a:endParaRPr lang="en-US" sz="1000" dirty="0"/>
          </a:p>
        </p:txBody>
      </p:sp>
      <p:sp>
        <p:nvSpPr>
          <p:cNvPr id="8" name="Upgrade row 1"/>
          <p:cNvSpPr/>
          <p:nvPr/>
        </p:nvSpPr>
        <p:spPr>
          <a:xfrm>
            <a:off x="548640" y="1956816"/>
            <a:ext cx="11094415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</p:sp>
      <p:pic>
        <p:nvPicPr>
          <p:cNvPr id="9" name="Upgrade photo 1" descr="Body Groomer Groom Gu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39112"/>
            <a:ext cx="658368" cy="658368"/>
          </a:xfrm>
          <a:prstGeom prst="rect">
            <a:avLst/>
          </a:prstGeom>
        </p:spPr>
      </p:pic>
      <p:sp>
        <p:nvSpPr>
          <p:cNvPr id="10" name="Upgrade product 1"/>
          <p:cNvSpPr txBox="1"/>
          <p:nvPr/>
        </p:nvSpPr>
        <p:spPr>
          <a:xfrm>
            <a:off x="1453896" y="1956816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Groom Guard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200" dirty="0"/>
          </a:p>
        </p:txBody>
      </p:sp>
      <p:sp>
        <p:nvSpPr>
          <p:cNvPr id="11" name="Upgrade fix 1"/>
          <p:cNvSpPr txBox="1"/>
          <p:nvPr/>
        </p:nvSpPr>
        <p:spPr>
          <a:xfrm>
            <a:off x="3611880" y="19568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Battery: 27 of 35 defects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电池：35 起故障中 27 起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Charging stand tips over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充电底座容易倾倒</a:t>
            </a:r>
            <a:endParaRPr lang="en-US" sz="1050" dirty="0"/>
          </a:p>
        </p:txBody>
      </p:sp>
      <p:sp>
        <p:nvSpPr>
          <p:cNvPr id="12" name="Upgrade add 1"/>
          <p:cNvSpPr txBox="1"/>
          <p:nvPr/>
        </p:nvSpPr>
        <p:spPr>
          <a:xfrm>
            <a:off x="7810348" y="19568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Skin-safe blade, see below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安全刀片，见下图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Heavier stand, USB-C with silicone cap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更稳的底座，USB-C 加硅胶盖</a:t>
            </a:r>
            <a:endParaRPr lang="en-US" sz="1050" dirty="0"/>
          </a:p>
        </p:txBody>
      </p:sp>
      <p:sp>
        <p:nvSpPr>
          <p:cNvPr id="13" name="Upgrade divider 1"/>
          <p:cNvSpPr/>
          <p:nvPr/>
        </p:nvSpPr>
        <p:spPr>
          <a:xfrm>
            <a:off x="7627468" y="20848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4" name="Upgrade divider fix 1"/>
          <p:cNvSpPr/>
          <p:nvPr/>
        </p:nvSpPr>
        <p:spPr>
          <a:xfrm>
            <a:off x="3429000" y="20848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5" name="Upgrade row 2"/>
          <p:cNvSpPr/>
          <p:nvPr/>
        </p:nvSpPr>
        <p:spPr>
          <a:xfrm>
            <a:off x="548640" y="2871216"/>
            <a:ext cx="11094415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</p:sp>
      <p:pic>
        <p:nvPicPr>
          <p:cNvPr id="16" name="Upgrade photo 2" descr="Body Groomer Flex Gu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953512"/>
            <a:ext cx="658368" cy="658368"/>
          </a:xfrm>
          <a:prstGeom prst="rect">
            <a:avLst/>
          </a:prstGeom>
        </p:spPr>
      </p:pic>
      <p:sp>
        <p:nvSpPr>
          <p:cNvPr id="17" name="Upgrade product 2"/>
          <p:cNvSpPr txBox="1"/>
          <p:nvPr/>
        </p:nvSpPr>
        <p:spPr>
          <a:xfrm>
            <a:off x="1453896" y="2871216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Flex Guard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200" dirty="0"/>
          </a:p>
        </p:txBody>
      </p:sp>
      <p:sp>
        <p:nvSpPr>
          <p:cNvPr id="18" name="Upgrade fix 2"/>
          <p:cNvSpPr txBox="1"/>
          <p:nvPr/>
        </p:nvSpPr>
        <p:spPr>
          <a:xfrm>
            <a:off x="3611880" y="28712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Combs 3 to 6 mm, customers expect 1.5 to 4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限位梳为 3-6 毫米，客户期望 1.5-4 毫米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Pulls hairs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拉扯毛发</a:t>
            </a:r>
            <a:endParaRPr lang="en-US" sz="1050" dirty="0"/>
          </a:p>
        </p:txBody>
      </p:sp>
      <p:sp>
        <p:nvSpPr>
          <p:cNvPr id="19" name="Upgrade add 2"/>
          <p:cNvSpPr txBox="1"/>
          <p:nvPr/>
        </p:nvSpPr>
        <p:spPr>
          <a:xfrm>
            <a:off x="7810348" y="28712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Skin-safe blade, see below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安全刀片，见下图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Short combs, 1.5 to 4 mm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至 4 毫米短限位梳</a:t>
            </a:r>
            <a:endParaRPr lang="en-US" sz="1050" dirty="0"/>
          </a:p>
        </p:txBody>
      </p:sp>
      <p:sp>
        <p:nvSpPr>
          <p:cNvPr id="20" name="Upgrade divider 2"/>
          <p:cNvSpPr/>
          <p:nvPr/>
        </p:nvSpPr>
        <p:spPr>
          <a:xfrm>
            <a:off x="7627468" y="29992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1" name="Upgrade divider fix 2"/>
          <p:cNvSpPr/>
          <p:nvPr/>
        </p:nvSpPr>
        <p:spPr>
          <a:xfrm>
            <a:off x="3429000" y="29992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2" name="Upgrade row 3"/>
          <p:cNvSpPr/>
          <p:nvPr/>
        </p:nvSpPr>
        <p:spPr>
          <a:xfrm>
            <a:off x="548640" y="3785616"/>
            <a:ext cx="11094415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</p:sp>
      <p:pic>
        <p:nvPicPr>
          <p:cNvPr id="23" name="Upgrade photo 3" descr="Nose trimmers (7 models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67912"/>
            <a:ext cx="658368" cy="658368"/>
          </a:xfrm>
          <a:prstGeom prst="rect">
            <a:avLst/>
          </a:prstGeom>
        </p:spPr>
      </p:pic>
      <p:sp>
        <p:nvSpPr>
          <p:cNvPr id="24" name="Upgrade product 3"/>
          <p:cNvSpPr txBox="1"/>
          <p:nvPr/>
        </p:nvSpPr>
        <p:spPr>
          <a:xfrm>
            <a:off x="1453896" y="3785616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Nose trimmers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鼻毛修剪器（7 款）</a:t>
            </a:r>
            <a:endParaRPr lang="en-US" sz="1200" dirty="0"/>
          </a:p>
        </p:txBody>
      </p:sp>
      <p:sp>
        <p:nvSpPr>
          <p:cNvPr id="25" name="Upgrade fix 3"/>
          <p:cNvSpPr txBox="1"/>
          <p:nvPr/>
        </p:nvSpPr>
        <p:spPr>
          <a:xfrm>
            <a:off x="3611880" y="37856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Weak cutting: 22 of 55 critical reviews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修剪力度不足：55 条差评中 22 条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Attachments break, parts missing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配件易坏，缺件</a:t>
            </a:r>
            <a:endParaRPr lang="en-US" sz="1050" dirty="0"/>
          </a:p>
        </p:txBody>
      </p:sp>
      <p:sp>
        <p:nvSpPr>
          <p:cNvPr id="26" name="Upgrade add 3"/>
          <p:cNvSpPr txBox="1"/>
          <p:nvPr/>
        </p:nvSpPr>
        <p:spPr>
          <a:xfrm>
            <a:off x="7810348" y="37856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Blade that reaches short hairs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能剪到短毛的刀头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Oil in the box, USB-C that holds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附带润滑油，USB-C 插头插紧</a:t>
            </a:r>
            <a:endParaRPr lang="en-US" sz="1050" dirty="0"/>
          </a:p>
        </p:txBody>
      </p:sp>
      <p:sp>
        <p:nvSpPr>
          <p:cNvPr id="27" name="Upgrade divider 3"/>
          <p:cNvSpPr/>
          <p:nvPr/>
        </p:nvSpPr>
        <p:spPr>
          <a:xfrm>
            <a:off x="7627468" y="39136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8" name="Upgrade divider fix 3"/>
          <p:cNvSpPr/>
          <p:nvPr/>
        </p:nvSpPr>
        <p:spPr>
          <a:xfrm>
            <a:off x="3429000" y="39136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9" name="Concept box"/>
          <p:cNvSpPr/>
          <p:nvPr/>
        </p:nvSpPr>
        <p:spPr>
          <a:xfrm>
            <a:off x="548640" y="4745736"/>
            <a:ext cx="11094415" cy="1197864"/>
          </a:xfrm>
          <a:prstGeom prst="roundRect">
            <a:avLst>
              <a:gd name="adj" fmla="val 12214"/>
            </a:avLst>
          </a:prstGeom>
          <a:solidFill>
            <a:srgbClr val="EDE6DA"/>
          </a:solidFill>
          <a:ln/>
        </p:spPr>
      </p:sp>
      <p:pic>
        <p:nvPicPr>
          <p:cNvPr id="30" name="Concept image 1" descr="Side vie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8901" y="4837176"/>
            <a:ext cx="1881274" cy="777240"/>
          </a:xfrm>
          <a:prstGeom prst="rect">
            <a:avLst/>
          </a:prstGeom>
        </p:spPr>
      </p:pic>
      <p:sp>
        <p:nvSpPr>
          <p:cNvPr id="31" name="Concept label 1"/>
          <p:cNvSpPr txBox="1"/>
          <p:nvPr/>
        </p:nvSpPr>
        <p:spPr>
          <a:xfrm>
            <a:off x="9487461" y="5632704"/>
            <a:ext cx="2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Side view</a:t>
            </a:r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侧视图</a:t>
            </a:r>
            <a:endParaRPr lang="en-US" sz="900" dirty="0"/>
          </a:p>
        </p:txBody>
      </p:sp>
      <p:pic>
        <p:nvPicPr>
          <p:cNvPr id="32" name="Concept image 2" descr="Ne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924" y="4837176"/>
            <a:ext cx="1221377" cy="777240"/>
          </a:xfrm>
          <a:prstGeom prst="rect">
            <a:avLst/>
          </a:prstGeom>
        </p:spPr>
      </p:pic>
      <p:sp>
        <p:nvSpPr>
          <p:cNvPr id="33" name="Concept label 2"/>
          <p:cNvSpPr txBox="1"/>
          <p:nvPr/>
        </p:nvSpPr>
        <p:spPr>
          <a:xfrm>
            <a:off x="8037484" y="5632704"/>
            <a:ext cx="140425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New</a:t>
            </a:r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新设计</a:t>
            </a:r>
            <a:endParaRPr lang="en-US" sz="900" dirty="0"/>
          </a:p>
        </p:txBody>
      </p:sp>
      <p:pic>
        <p:nvPicPr>
          <p:cNvPr id="34" name="Concept image 3" descr="N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8947" y="4837176"/>
            <a:ext cx="1221377" cy="777240"/>
          </a:xfrm>
          <a:prstGeom prst="rect">
            <a:avLst/>
          </a:prstGeom>
        </p:spPr>
      </p:pic>
      <p:sp>
        <p:nvSpPr>
          <p:cNvPr id="35" name="Concept label 3"/>
          <p:cNvSpPr txBox="1"/>
          <p:nvPr/>
        </p:nvSpPr>
        <p:spPr>
          <a:xfrm>
            <a:off x="6587507" y="5632704"/>
            <a:ext cx="140425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Now</a:t>
            </a:r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现在</a:t>
            </a:r>
            <a:endParaRPr lang="en-US" sz="900" dirty="0"/>
          </a:p>
        </p:txBody>
      </p:sp>
      <p:sp>
        <p:nvSpPr>
          <p:cNvPr id="36" name="Concept"/>
          <p:cNvSpPr txBox="1"/>
          <p:nvPr/>
        </p:nvSpPr>
        <p:spPr>
          <a:xfrm>
            <a:off x="777240" y="4818888"/>
            <a:ext cx="567310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Skin-safe blade for our body groomers</a:t>
            </a:r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身体修剪器安全刀片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Rounded R-shaped tips that curve slightly down, and a moving blade set back behind the fixed blade: sharp on hair, no skin between the blades.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刀齿末端为 R 角圆头并略微向下弯曲，动刀片缩在定刀片之后：剪毛锋利，皮肤不会夹进刀片之间。</a:t>
            </a:r>
            <a:endParaRPr lang="en-US" sz="1350" dirty="0"/>
          </a:p>
        </p:txBody>
      </p:sp>
      <p:sp>
        <p:nvSpPr>
          <p:cNvPr id="37" name="Upgrade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Wellshave customer service defect log and bol.com reviews, 1 January to 15 October 2026; battery specifications from the factory pro forma invoices.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数据来源：Wellshave 售后故障记录与 bol.com 评价（2026年1月1日至10月15日）；电池规格来自工厂形式发票。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Improved batteries, the certified adapter and new models. We like to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改进后的电池、认证适配器和新款产品。我们希望亲手测试。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Which new features can you offer us?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哪些产品在其他市场卖得好？贵司能为我们提供哪些新功能？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Global Best Way &amp; Fanke</dc:title>
  <dc:subject>PptxGenJS Presentation</dc:subject>
  <dc:creator>Wellshave</dc:creator>
  <cp:lastModifiedBy>Wellshave</cp:lastModifiedBy>
  <cp:revision>1</cp:revision>
  <dcterms:created xsi:type="dcterms:W3CDTF">2026-10-17T04:00:35Z</dcterms:created>
  <dcterms:modified xsi:type="dcterms:W3CDTF">2026-10-17T04:00:35Z</dcterms:modified>
</cp:coreProperties>
</file>