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adf5eb6-65dd-e03e-3ad4-fb04c8dd3b23}">
          <p14:sldIdLst>
            <p14:sldId id="256"/>
          </p14:sldIdLst>
        </p14:section>
        <p14:section name="About Wellshave" id="{b44c1be3-cf3f-e33f-7c71-5e5a45a356e0}">
          <p14:sldIdLst>
            <p14:sldId id="257"/>
          </p14:sldIdLst>
        </p14:section>
        <p14:section name="The visit" id="{a644f00d-b44b-976e-6f9a-78113609f3fe}">
          <p14:sldIdLst>
            <p14:sldId id="258"/>
            <p14:sldId id="259"/>
          </p14:sldIdLst>
        </p14:section>
        <p14:section name="Your products" id="{e373ef16-6388-133b-05c0-835af69d7739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Working together" id="{0c2ae807-6b88-a36d-2f90-f6bf3ff842c6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Jenny Huang and He Ting 何婷 (Global Best Way &amp; Fanke)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products we buy from you. Sales are bol.com units (about 80% of our revenue). Next slides go product by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product we buy from you has the same main defect: the battery or charging. 146 of 215 defect reports this year. Most fail well within the 2-year warranty, and nearly every report means we send a new device at our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battery. Our customer service logged 54 defect reports on the Elite this year; 37 were about the battery or charging, typically 5 months after purchase, and every one got a new device. The quotes are from those reports. In bol.com reviews the most common topic is the shave itself: it pulls hairs instead of cutting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biggest volume: 25,627 units. Few defects for that volume, but half of them are battery or charging. In reviews the blade does not catch the hairs.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trimmers: battery and charging is the top defect. Supreme 8988: 26 of 36 reports. Pro 8188: 10 of 15. In reviews the Supreme is mostly about an uneven trim.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 Shaver Deluxe: 28 of 39 defect reports are battery or charging, the battery percentage drops suddenly. Blade Baron: hardly any defects, but the highest return rate of these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Groom Guard: 27 of 35 defect reports are battery or charging. Reviews also mention the charging stand tipping over. Flex Guard: few reports, pulls hairs, attachments do not match the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Certified adapter: from now on every device ships with a certified adapter whose cable is fixed to it, so customers always charge with the right adapter for that device. Wrong adapters damage batteries and lead to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adapter: every box gets a certified adapter with the cable fixed to it, so customers never charge with a wrong or fast charger. Today the manuals say 'only use the included charger' while there is none in the box. Battery: the Elite cell is 600 mAh with 60 minutes official runtime, while we advertise 90. EU Battery Regulation: check the final rules for washable devices with our compliance contact.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product: first what must be fixed, then what we would like to add or improve. Ask the factory for their own ideas and a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Groom Guard: the stand tips over and the ceramic blade breaks. Flex Guard: customers expect the short combs from our listing. Nose trimmers: the manual mentions oil, but there is none in the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Shaver Elite rinsed under the t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Wellshave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18288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474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2062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Prepared for"/>
          <p:cNvSpPr txBox="1"/>
          <p:nvPr/>
        </p:nvSpPr>
        <p:spPr>
          <a:xfrm>
            <a:off x="685800" y="493776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b="1" spc="300" kern="0" dirty="0">
                <a:solidFill>
                  <a:schemeClr val="accent2"/>
                </a:solidFill>
              </a:rPr>
              <a:t>PREPARED FOR</a:t>
            </a:r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拜访对象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Global Best Way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温州市贝威贸易有限公司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Jenny Huang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Wenzhou Fanke Electric Appliance Co., Ltd.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温州凡科电器有限公司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He Ting 何婷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October 2026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 in Helmond (NL)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成立于荷兰海尔蒙德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Dustin Gibson</a:t>
            </a:r>
            <a:endParaRPr lang="en-US" sz="20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WG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Willem de Groot</a:t>
            </a:r>
            <a:endParaRPr lang="en-US" sz="20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Leo</a:t>
            </a:r>
            <a:endParaRPr lang="en-US" sz="20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Your products at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贵司产品在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的表现</a:t>
            </a:r>
            <a:endParaRPr lang="en-US" sz="2000" dirty="0"/>
          </a:p>
        </p:txBody>
      </p:sp>
      <p:sp>
        <p:nvSpPr>
          <p:cNvPr id="4" name="Product card 1"/>
          <p:cNvSpPr/>
          <p:nvPr/>
        </p:nvSpPr>
        <p:spPr>
          <a:xfrm>
            <a:off x="548640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5" name="Product photo 1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728216"/>
            <a:ext cx="1082040" cy="1082040"/>
          </a:xfrm>
          <a:prstGeom prst="rect">
            <a:avLst/>
          </a:prstGeom>
        </p:spPr>
      </p:pic>
      <p:sp>
        <p:nvSpPr>
          <p:cNvPr id="6" name="Product text 1"/>
          <p:cNvSpPr txBox="1"/>
          <p:nvPr/>
        </p:nvSpPr>
        <p:spPr>
          <a:xfrm>
            <a:off x="1923288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Nose trimmers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7 models · WS-NT1 / WS-NT2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25,627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25,627  ·  退货率 2.1%</a:t>
            </a:r>
            <a:endParaRPr lang="en-US" sz="1250" dirty="0"/>
          </a:p>
        </p:txBody>
      </p:sp>
      <p:sp>
        <p:nvSpPr>
          <p:cNvPr id="7" name="Product card 2"/>
          <p:cNvSpPr/>
          <p:nvPr/>
        </p:nvSpPr>
        <p:spPr>
          <a:xfrm>
            <a:off x="4313834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8" name="Product photo 2" descr="Shaver Elite 4-in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850" y="1728216"/>
            <a:ext cx="1082040" cy="1082040"/>
          </a:xfrm>
          <a:prstGeom prst="rect">
            <a:avLst/>
          </a:prstGeom>
        </p:spPr>
      </p:pic>
      <p:sp>
        <p:nvSpPr>
          <p:cNvPr id="9" name="Product text 2"/>
          <p:cNvSpPr txBox="1"/>
          <p:nvPr/>
        </p:nvSpPr>
        <p:spPr>
          <a:xfrm>
            <a:off x="5688482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Shaver Elite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8600 / WS-SA3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4,567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4,567  ·  退货率 5.2%</a:t>
            </a:r>
            <a:endParaRPr lang="en-US" sz="1250" dirty="0"/>
          </a:p>
        </p:txBody>
      </p:sp>
      <p:sp>
        <p:nvSpPr>
          <p:cNvPr id="10" name="Product card 3"/>
          <p:cNvSpPr/>
          <p:nvPr/>
        </p:nvSpPr>
        <p:spPr>
          <a:xfrm>
            <a:off x="8079029" y="1600200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1" name="Product photo 3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7045" y="1728216"/>
            <a:ext cx="1082040" cy="1082040"/>
          </a:xfrm>
          <a:prstGeom prst="rect">
            <a:avLst/>
          </a:prstGeom>
        </p:spPr>
      </p:pic>
      <p:sp>
        <p:nvSpPr>
          <p:cNvPr id="12" name="Product text 3"/>
          <p:cNvSpPr txBox="1"/>
          <p:nvPr/>
        </p:nvSpPr>
        <p:spPr>
          <a:xfrm>
            <a:off x="9453677" y="1691640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Supreme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8988 / WS-BTG2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3,143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3.5%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3,143  ·  退货率 3.5%</a:t>
            </a:r>
            <a:endParaRPr lang="en-US" sz="1250" dirty="0"/>
          </a:p>
        </p:txBody>
      </p:sp>
      <p:sp>
        <p:nvSpPr>
          <p:cNvPr id="13" name="Product card 4"/>
          <p:cNvSpPr/>
          <p:nvPr/>
        </p:nvSpPr>
        <p:spPr>
          <a:xfrm>
            <a:off x="548640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4" name="Product photo 4" descr="Beard Trimmer Pro 5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3230880"/>
            <a:ext cx="1082040" cy="1082040"/>
          </a:xfrm>
          <a:prstGeom prst="rect">
            <a:avLst/>
          </a:prstGeom>
        </p:spPr>
      </p:pic>
      <p:sp>
        <p:nvSpPr>
          <p:cNvPr id="15" name="Product text 4"/>
          <p:cNvSpPr txBox="1"/>
          <p:nvPr/>
        </p:nvSpPr>
        <p:spPr>
          <a:xfrm>
            <a:off x="1923288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Beard Trimmer Pro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8188 / WS-BTG1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2,179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2,179  ·  退货率 4.3%</a:t>
            </a:r>
            <a:endParaRPr lang="en-US" sz="1250" dirty="0"/>
          </a:p>
        </p:txBody>
      </p:sp>
      <p:sp>
        <p:nvSpPr>
          <p:cNvPr id="16" name="Product card 5"/>
          <p:cNvSpPr/>
          <p:nvPr/>
        </p:nvSpPr>
        <p:spPr>
          <a:xfrm>
            <a:off x="4313834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17" name="Product photo 5" descr="Body Groomer Groom Gu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1850" y="3230880"/>
            <a:ext cx="1082040" cy="1082040"/>
          </a:xfrm>
          <a:prstGeom prst="rect">
            <a:avLst/>
          </a:prstGeom>
        </p:spPr>
      </p:pic>
      <p:sp>
        <p:nvSpPr>
          <p:cNvPr id="18" name="Product text 5"/>
          <p:cNvSpPr txBox="1"/>
          <p:nvPr/>
        </p:nvSpPr>
        <p:spPr>
          <a:xfrm>
            <a:off x="5688482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Groom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WS-BG1 / HT-6006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2,116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2.3%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2,116  ·  退货率 2.3%</a:t>
            </a:r>
            <a:endParaRPr lang="en-US" sz="1250" dirty="0"/>
          </a:p>
        </p:txBody>
      </p:sp>
      <p:sp>
        <p:nvSpPr>
          <p:cNvPr id="19" name="Product card 6"/>
          <p:cNvSpPr/>
          <p:nvPr/>
        </p:nvSpPr>
        <p:spPr>
          <a:xfrm>
            <a:off x="8079029" y="3102864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0" name="Product photo 6" descr="Head Shaver Delux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7045" y="3230880"/>
            <a:ext cx="1082040" cy="1082040"/>
          </a:xfrm>
          <a:prstGeom prst="rect">
            <a:avLst/>
          </a:prstGeom>
        </p:spPr>
      </p:pic>
      <p:sp>
        <p:nvSpPr>
          <p:cNvPr id="21" name="Product text 6"/>
          <p:cNvSpPr txBox="1"/>
          <p:nvPr/>
        </p:nvSpPr>
        <p:spPr>
          <a:xfrm>
            <a:off x="9453677" y="3194304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Head Shaver Deluxe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WS-SA1 / JK-8588A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1,581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1,581  ·  退货率 4.6%</a:t>
            </a:r>
            <a:endParaRPr lang="en-US" sz="1250" dirty="0"/>
          </a:p>
        </p:txBody>
      </p:sp>
      <p:sp>
        <p:nvSpPr>
          <p:cNvPr id="22" name="Product card 7"/>
          <p:cNvSpPr/>
          <p:nvPr/>
        </p:nvSpPr>
        <p:spPr>
          <a:xfrm>
            <a:off x="548640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3" name="Product photo 7" descr="Foil Shaver Blade Bar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4733544"/>
            <a:ext cx="1082040" cy="1082040"/>
          </a:xfrm>
          <a:prstGeom prst="rect">
            <a:avLst/>
          </a:prstGeom>
        </p:spPr>
      </p:pic>
      <p:sp>
        <p:nvSpPr>
          <p:cNvPr id="24" name="Product text 7"/>
          <p:cNvSpPr txBox="1"/>
          <p:nvPr/>
        </p:nvSpPr>
        <p:spPr>
          <a:xfrm>
            <a:off x="1923288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Blade Baron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FK-706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1,307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5.6%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1,307  ·  退货率 5.6%</a:t>
            </a:r>
            <a:endParaRPr lang="en-US" sz="1250" dirty="0"/>
          </a:p>
        </p:txBody>
      </p:sp>
      <p:sp>
        <p:nvSpPr>
          <p:cNvPr id="25" name="Product card 8"/>
          <p:cNvSpPr/>
          <p:nvPr/>
        </p:nvSpPr>
        <p:spPr>
          <a:xfrm>
            <a:off x="4313834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6" name="Product photo 8" descr="Body Groomer Flex Gu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1850" y="4733544"/>
            <a:ext cx="1082040" cy="1082040"/>
          </a:xfrm>
          <a:prstGeom prst="rect">
            <a:avLst/>
          </a:prstGeom>
        </p:spPr>
      </p:pic>
      <p:sp>
        <p:nvSpPr>
          <p:cNvPr id="27" name="Product text 8"/>
          <p:cNvSpPr txBox="1"/>
          <p:nvPr/>
        </p:nvSpPr>
        <p:spPr>
          <a:xfrm>
            <a:off x="5688482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Flex Guard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WS-BG3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1,135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5.2%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1,135  ·  退货率 5.2%</a:t>
            </a:r>
            <a:endParaRPr lang="en-US" sz="1250" dirty="0"/>
          </a:p>
        </p:txBody>
      </p:sp>
      <p:sp>
        <p:nvSpPr>
          <p:cNvPr id="28" name="Product card 9"/>
          <p:cNvSpPr/>
          <p:nvPr/>
        </p:nvSpPr>
        <p:spPr>
          <a:xfrm>
            <a:off x="8079029" y="4605528"/>
            <a:ext cx="3564026" cy="1338072"/>
          </a:xfrm>
          <a:prstGeom prst="roundRect">
            <a:avLst>
              <a:gd name="adj" fmla="val 10934"/>
            </a:avLst>
          </a:prstGeom>
          <a:solidFill>
            <a:srgbClr val="FFFFFF"/>
          </a:solidFill>
          <a:ln/>
        </p:spPr>
      </p:sp>
      <p:pic>
        <p:nvPicPr>
          <p:cNvPr id="29" name="Product photo 9" descr="G-Series clipper, Shave Package, spare head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7045" y="4733544"/>
            <a:ext cx="1082040" cy="1082040"/>
          </a:xfrm>
          <a:prstGeom prst="rect">
            <a:avLst/>
          </a:prstGeom>
        </p:spPr>
      </p:pic>
      <p:sp>
        <p:nvSpPr>
          <p:cNvPr id="30" name="Product text 9"/>
          <p:cNvSpPr txBox="1"/>
          <p:nvPr/>
        </p:nvSpPr>
        <p:spPr>
          <a:xfrm>
            <a:off x="9453677" y="4696968"/>
            <a:ext cx="2097938" cy="11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chemeClr val="tx1"/>
                </a:solidFill>
              </a:rPr>
              <a:t>G-Series and more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G-Series 理发器及其他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Clipper, Shave Package, spare heads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1,786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sold  ·  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4.1%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 returns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 1,786  ·  退货率 4.1%</a:t>
            </a:r>
            <a:endParaRPr lang="en-US" sz="1250" dirty="0"/>
          </a:p>
        </p:txBody>
      </p:sp>
      <p:sp>
        <p:nvSpPr>
          <p:cNvPr id="31" name="Data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Total 43,441 units sold on bol.com, 1 January to 15 October 2026. Return rate counts all return reasons. Webshop sales not included. We share our 2027 forecast in the meeting.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43,441 件。数据来源：bol.com，2026年1月1日至10月15日。退货率包含所有退货原因，不含官网销量。2027年预测将在会议中分享。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Customer service: the battery is the #1 defect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售后数据：电池是头号故障</a:t>
            </a:r>
            <a:endParaRPr lang="en-US" sz="2000" dirty="0"/>
          </a:p>
        </p:txBody>
      </p:sp>
      <p:sp>
        <p:nvSpPr>
          <p:cNvPr id="4" name="Defect chart card"/>
          <p:cNvSpPr/>
          <p:nvPr/>
        </p:nvSpPr>
        <p:spPr>
          <a:xfrm>
            <a:off x="548640" y="1691640"/>
            <a:ext cx="7086600" cy="4251960"/>
          </a:xfrm>
          <a:prstGeom prst="roundRect">
            <a:avLst>
              <a:gd name="adj" fmla="val 3441"/>
            </a:avLst>
          </a:prstGeom>
          <a:solidFill>
            <a:srgbClr val="FFFFFF"/>
          </a:solidFill>
          <a:ln/>
        </p:spPr>
      </p:sp>
      <p:sp>
        <p:nvSpPr>
          <p:cNvPr id="5" name="Legend swatch 1"/>
          <p:cNvSpPr/>
          <p:nvPr/>
        </p:nvSpPr>
        <p:spPr>
          <a:xfrm>
            <a:off x="822960" y="1938528"/>
            <a:ext cx="201168" cy="128016"/>
          </a:xfrm>
          <a:prstGeom prst="roundRect">
            <a:avLst>
              <a:gd name="adj" fmla="val 28571"/>
            </a:avLst>
          </a:prstGeom>
          <a:solidFill>
            <a:srgbClr val="B0742A"/>
          </a:solidFill>
          <a:ln/>
        </p:spPr>
      </p:sp>
      <p:sp>
        <p:nvSpPr>
          <p:cNvPr id="6" name="Legend 1"/>
          <p:cNvSpPr txBox="1"/>
          <p:nvPr/>
        </p:nvSpPr>
        <p:spPr>
          <a:xfrm>
            <a:off x="1097280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Battery or charging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电池或充电</a:t>
            </a:r>
            <a:endParaRPr lang="en-US" sz="1000" dirty="0"/>
          </a:p>
        </p:txBody>
      </p:sp>
      <p:sp>
        <p:nvSpPr>
          <p:cNvPr id="7" name="Legend swatch 2"/>
          <p:cNvSpPr/>
          <p:nvPr/>
        </p:nvSpPr>
        <p:spPr>
          <a:xfrm>
            <a:off x="3474720" y="1938528"/>
            <a:ext cx="201168" cy="128016"/>
          </a:xfrm>
          <a:prstGeom prst="roundRect">
            <a:avLst>
              <a:gd name="adj" fmla="val 28571"/>
            </a:avLst>
          </a:prstGeom>
          <a:solidFill>
            <a:srgbClr val="EDE6DA"/>
          </a:solidFill>
          <a:ln/>
        </p:spPr>
      </p:sp>
      <p:sp>
        <p:nvSpPr>
          <p:cNvPr id="8" name="Legend 2"/>
          <p:cNvSpPr txBox="1"/>
          <p:nvPr/>
        </p:nvSpPr>
        <p:spPr>
          <a:xfrm>
            <a:off x="3749040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Other defects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其他故障</a:t>
            </a:r>
            <a:endParaRPr lang="en-US" sz="1000" dirty="0"/>
          </a:p>
        </p:txBody>
      </p:sp>
      <p:sp>
        <p:nvSpPr>
          <p:cNvPr id="9" name="Defect label 1"/>
          <p:cNvSpPr txBox="1"/>
          <p:nvPr/>
        </p:nvSpPr>
        <p:spPr>
          <a:xfrm>
            <a:off x="822960" y="225856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Shaver Elite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050" dirty="0"/>
          </a:p>
        </p:txBody>
      </p:sp>
      <p:sp>
        <p:nvSpPr>
          <p:cNvPr id="10" name="Defect bar all 1"/>
          <p:cNvSpPr/>
          <p:nvPr/>
        </p:nvSpPr>
        <p:spPr>
          <a:xfrm>
            <a:off x="2971800" y="2371725"/>
            <a:ext cx="352044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1" name="Defect bar battery 1"/>
          <p:cNvSpPr/>
          <p:nvPr/>
        </p:nvSpPr>
        <p:spPr>
          <a:xfrm>
            <a:off x="2971800" y="2371725"/>
            <a:ext cx="241215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Defect count 1"/>
          <p:cNvSpPr txBox="1"/>
          <p:nvPr/>
        </p:nvSpPr>
        <p:spPr>
          <a:xfrm>
            <a:off x="6583680" y="225856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37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54</a:t>
            </a:r>
            <a:endParaRPr lang="en-US" sz="1150" dirty="0"/>
          </a:p>
        </p:txBody>
      </p:sp>
      <p:sp>
        <p:nvSpPr>
          <p:cNvPr id="13" name="Defect label 2"/>
          <p:cNvSpPr txBox="1"/>
          <p:nvPr/>
        </p:nvSpPr>
        <p:spPr>
          <a:xfrm>
            <a:off x="822960" y="270433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Head Shaver Deluxe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050" dirty="0"/>
          </a:p>
        </p:txBody>
      </p:sp>
      <p:sp>
        <p:nvSpPr>
          <p:cNvPr id="14" name="Defect bar all 2"/>
          <p:cNvSpPr/>
          <p:nvPr/>
        </p:nvSpPr>
        <p:spPr>
          <a:xfrm>
            <a:off x="2971800" y="2817495"/>
            <a:ext cx="254254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Defect bar battery 2"/>
          <p:cNvSpPr/>
          <p:nvPr/>
        </p:nvSpPr>
        <p:spPr>
          <a:xfrm>
            <a:off x="2971800" y="2817495"/>
            <a:ext cx="182541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Defect count 2"/>
          <p:cNvSpPr txBox="1"/>
          <p:nvPr/>
        </p:nvSpPr>
        <p:spPr>
          <a:xfrm>
            <a:off x="5605780" y="270433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28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39</a:t>
            </a:r>
            <a:endParaRPr lang="en-US" sz="1150" dirty="0"/>
          </a:p>
        </p:txBody>
      </p:sp>
      <p:sp>
        <p:nvSpPr>
          <p:cNvPr id="17" name="Defect label 3"/>
          <p:cNvSpPr txBox="1"/>
          <p:nvPr/>
        </p:nvSpPr>
        <p:spPr>
          <a:xfrm>
            <a:off x="822960" y="315010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Groom Guard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050" dirty="0"/>
          </a:p>
        </p:txBody>
      </p:sp>
      <p:sp>
        <p:nvSpPr>
          <p:cNvPr id="18" name="Defect bar all 3"/>
          <p:cNvSpPr/>
          <p:nvPr/>
        </p:nvSpPr>
        <p:spPr>
          <a:xfrm>
            <a:off x="2971800" y="3263265"/>
            <a:ext cx="2281767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9" name="Defect bar battery 3"/>
          <p:cNvSpPr/>
          <p:nvPr/>
        </p:nvSpPr>
        <p:spPr>
          <a:xfrm>
            <a:off x="2971800" y="3263265"/>
            <a:ext cx="1760220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Defect count 3"/>
          <p:cNvSpPr txBox="1"/>
          <p:nvPr/>
        </p:nvSpPr>
        <p:spPr>
          <a:xfrm>
            <a:off x="5345007" y="315010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27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35</a:t>
            </a:r>
            <a:endParaRPr lang="en-US" sz="1150" dirty="0"/>
          </a:p>
        </p:txBody>
      </p:sp>
      <p:sp>
        <p:nvSpPr>
          <p:cNvPr id="21" name="Defect label 4"/>
          <p:cNvSpPr txBox="1"/>
          <p:nvPr/>
        </p:nvSpPr>
        <p:spPr>
          <a:xfrm>
            <a:off x="822960" y="359587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Beard Trimmer Supreme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050" dirty="0"/>
          </a:p>
        </p:txBody>
      </p:sp>
      <p:sp>
        <p:nvSpPr>
          <p:cNvPr id="22" name="Defect bar all 4"/>
          <p:cNvSpPr/>
          <p:nvPr/>
        </p:nvSpPr>
        <p:spPr>
          <a:xfrm>
            <a:off x="2971800" y="3709035"/>
            <a:ext cx="234696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3" name="Defect bar battery 4"/>
          <p:cNvSpPr/>
          <p:nvPr/>
        </p:nvSpPr>
        <p:spPr>
          <a:xfrm>
            <a:off x="2971800" y="3709035"/>
            <a:ext cx="1695027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Defect count 4"/>
          <p:cNvSpPr txBox="1"/>
          <p:nvPr/>
        </p:nvSpPr>
        <p:spPr>
          <a:xfrm>
            <a:off x="5410200" y="359587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26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36</a:t>
            </a:r>
            <a:endParaRPr lang="en-US" sz="1150" dirty="0"/>
          </a:p>
        </p:txBody>
      </p:sp>
      <p:sp>
        <p:nvSpPr>
          <p:cNvPr id="25" name="Defect label 5"/>
          <p:cNvSpPr txBox="1"/>
          <p:nvPr/>
        </p:nvSpPr>
        <p:spPr>
          <a:xfrm>
            <a:off x="822960" y="404164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Nose trimmers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050" dirty="0"/>
          </a:p>
        </p:txBody>
      </p:sp>
      <p:sp>
        <p:nvSpPr>
          <p:cNvPr id="26" name="Defect bar all 5"/>
          <p:cNvSpPr/>
          <p:nvPr/>
        </p:nvSpPr>
        <p:spPr>
          <a:xfrm>
            <a:off x="2971800" y="4154805"/>
            <a:ext cx="2020993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7" name="Defect bar battery 5"/>
          <p:cNvSpPr/>
          <p:nvPr/>
        </p:nvSpPr>
        <p:spPr>
          <a:xfrm>
            <a:off x="2971800" y="4154805"/>
            <a:ext cx="104309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Defect count 5"/>
          <p:cNvSpPr txBox="1"/>
          <p:nvPr/>
        </p:nvSpPr>
        <p:spPr>
          <a:xfrm>
            <a:off x="5084233" y="404164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16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31</a:t>
            </a:r>
            <a:endParaRPr lang="en-US" sz="1150" dirty="0"/>
          </a:p>
        </p:txBody>
      </p:sp>
      <p:sp>
        <p:nvSpPr>
          <p:cNvPr id="29" name="Defect label 6"/>
          <p:cNvSpPr txBox="1"/>
          <p:nvPr/>
        </p:nvSpPr>
        <p:spPr>
          <a:xfrm>
            <a:off x="822960" y="448741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Beard Trimmer Pro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050" dirty="0"/>
          </a:p>
        </p:txBody>
      </p:sp>
      <p:sp>
        <p:nvSpPr>
          <p:cNvPr id="30" name="Defect bar all 6"/>
          <p:cNvSpPr/>
          <p:nvPr/>
        </p:nvSpPr>
        <p:spPr>
          <a:xfrm>
            <a:off x="2971800" y="4600575"/>
            <a:ext cx="977900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1" name="Defect bar battery 6"/>
          <p:cNvSpPr/>
          <p:nvPr/>
        </p:nvSpPr>
        <p:spPr>
          <a:xfrm>
            <a:off x="2971800" y="4600575"/>
            <a:ext cx="651933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2" name="Defect count 6"/>
          <p:cNvSpPr txBox="1"/>
          <p:nvPr/>
        </p:nvSpPr>
        <p:spPr>
          <a:xfrm>
            <a:off x="4041140" y="448741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10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15</a:t>
            </a:r>
            <a:endParaRPr lang="en-US" sz="1150" dirty="0"/>
          </a:p>
        </p:txBody>
      </p:sp>
      <p:sp>
        <p:nvSpPr>
          <p:cNvPr id="33" name="Defect label 7"/>
          <p:cNvSpPr txBox="1"/>
          <p:nvPr/>
        </p:nvSpPr>
        <p:spPr>
          <a:xfrm>
            <a:off x="822960" y="493318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Flex Guard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050" dirty="0"/>
          </a:p>
        </p:txBody>
      </p:sp>
      <p:sp>
        <p:nvSpPr>
          <p:cNvPr id="34" name="Defect bar all 7"/>
          <p:cNvSpPr/>
          <p:nvPr/>
        </p:nvSpPr>
        <p:spPr>
          <a:xfrm>
            <a:off x="2971800" y="5046345"/>
            <a:ext cx="260773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5" name="Defect bar battery 7"/>
          <p:cNvSpPr/>
          <p:nvPr/>
        </p:nvSpPr>
        <p:spPr>
          <a:xfrm>
            <a:off x="2971800" y="5046345"/>
            <a:ext cx="130387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Defect count 7"/>
          <p:cNvSpPr txBox="1"/>
          <p:nvPr/>
        </p:nvSpPr>
        <p:spPr>
          <a:xfrm>
            <a:off x="3324013" y="493318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4</a:t>
            </a:r>
            <a:endParaRPr lang="en-US" sz="1150" dirty="0"/>
          </a:p>
        </p:txBody>
      </p:sp>
      <p:sp>
        <p:nvSpPr>
          <p:cNvPr id="37" name="Defect label 8"/>
          <p:cNvSpPr txBox="1"/>
          <p:nvPr/>
        </p:nvSpPr>
        <p:spPr>
          <a:xfrm>
            <a:off x="822960" y="5378958"/>
            <a:ext cx="2057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Blade Baron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050" dirty="0"/>
          </a:p>
        </p:txBody>
      </p:sp>
      <p:sp>
        <p:nvSpPr>
          <p:cNvPr id="38" name="Defect bar all 8"/>
          <p:cNvSpPr/>
          <p:nvPr/>
        </p:nvSpPr>
        <p:spPr>
          <a:xfrm>
            <a:off x="2971800" y="5492115"/>
            <a:ext cx="73152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9" name="Defect count 8"/>
          <p:cNvSpPr txBox="1"/>
          <p:nvPr/>
        </p:nvSpPr>
        <p:spPr>
          <a:xfrm>
            <a:off x="3136392" y="5378958"/>
            <a:ext cx="82296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 / 1</a:t>
            </a:r>
            <a:endParaRPr lang="en-US" sz="1150" dirty="0"/>
          </a:p>
        </p:txBody>
      </p:sp>
      <p:sp>
        <p:nvSpPr>
          <p:cNvPr id="40" name="Defect stat 1"/>
          <p:cNvSpPr/>
          <p:nvPr/>
        </p:nvSpPr>
        <p:spPr>
          <a:xfrm>
            <a:off x="7909560" y="1691640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191816"/>
          </a:solidFill>
          <a:ln/>
        </p:spPr>
      </p:sp>
      <p:sp>
        <p:nvSpPr>
          <p:cNvPr id="41" name="Defect stat text 1"/>
          <p:cNvSpPr txBox="1"/>
          <p:nvPr/>
        </p:nvSpPr>
        <p:spPr>
          <a:xfrm>
            <a:off x="8138160" y="1801368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2"/>
                </a:solidFill>
              </a:rPr>
              <a:t>68%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bg1"/>
                </a:solidFill>
              </a:rPr>
              <a:t>146 of 215 defect reports are about the battery or charging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215 起故障报告中有 146 起与电池或充电有关</a:t>
            </a:r>
            <a:endParaRPr lang="en-US" sz="2600" dirty="0"/>
          </a:p>
        </p:txBody>
      </p:sp>
      <p:sp>
        <p:nvSpPr>
          <p:cNvPr id="42" name="Defect stat 2"/>
          <p:cNvSpPr/>
          <p:nvPr/>
        </p:nvSpPr>
        <p:spPr>
          <a:xfrm>
            <a:off x="7909560" y="3163824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FFFFFF"/>
          </a:solidFill>
          <a:ln/>
        </p:spPr>
      </p:sp>
      <p:sp>
        <p:nvSpPr>
          <p:cNvPr id="43" name="Defect stat text 2"/>
          <p:cNvSpPr txBox="1"/>
          <p:nvPr/>
        </p:nvSpPr>
        <p:spPr>
          <a:xfrm>
            <a:off x="8138160" y="3273552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5 to 13 months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median time from purchase to a battery report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从购买到电池故障的中位时间</a:t>
            </a:r>
            <a:endParaRPr lang="en-US" sz="2600" dirty="0"/>
          </a:p>
        </p:txBody>
      </p:sp>
      <p:sp>
        <p:nvSpPr>
          <p:cNvPr id="44" name="Defect stat 3"/>
          <p:cNvSpPr/>
          <p:nvPr/>
        </p:nvSpPr>
        <p:spPr>
          <a:xfrm>
            <a:off x="7909560" y="4636008"/>
            <a:ext cx="3733495" cy="1307592"/>
          </a:xfrm>
          <a:prstGeom prst="roundRect">
            <a:avLst>
              <a:gd name="adj" fmla="val 11189"/>
            </a:avLst>
          </a:prstGeom>
          <a:solidFill>
            <a:srgbClr val="FFFFFF"/>
          </a:solidFill>
          <a:ln/>
        </p:spPr>
      </p:sp>
      <p:sp>
        <p:nvSpPr>
          <p:cNvPr id="45" name="Defect stat text 3"/>
          <p:cNvSpPr txBox="1"/>
          <p:nvPr/>
        </p:nvSpPr>
        <p:spPr>
          <a:xfrm>
            <a:off x="8138160" y="4745736"/>
            <a:ext cx="3322015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97%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of reports: we send the customer a new device</a:t>
            </a:r>
            <a:endParaRPr lang="en-US" sz="2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的报告需要为客户寄送新机</a:t>
            </a:r>
            <a:endParaRPr lang="en-US" sz="2600" dirty="0"/>
          </a:p>
        </p:txBody>
      </p:sp>
      <p:sp>
        <p:nvSpPr>
          <p:cNvPr id="46" name="Defect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Source: Wellshave customer service defect log, 1 January to 15 October 2026, webshop and bol.com customers. Category taken from the customer's complaint.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售后故障记录，2026年1月1日至10月15日，含官网和 bol.com 客户。类别依据客户的投诉内容划分。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 Elite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产品聚焦：Elite 剃须刀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Shaver Elite 4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8600 / WS-SA3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4,567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5.2%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54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defect reports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900" dirty="0"/>
          </a:p>
        </p:txBody>
      </p:sp>
      <p:sp>
        <p:nvSpPr>
          <p:cNvPr id="10" name="Focus elite"/>
          <p:cNvSpPr/>
          <p:nvPr/>
        </p:nvSpPr>
        <p:spPr>
          <a:xfrm>
            <a:off x="4709160" y="1600200"/>
            <a:ext cx="6933895" cy="2057400"/>
          </a:xfrm>
          <a:prstGeom prst="roundRect">
            <a:avLst>
              <a:gd name="adj" fmla="val 7111"/>
            </a:avLst>
          </a:prstGeom>
          <a:solidFill>
            <a:srgbClr val="191816"/>
          </a:solidFill>
          <a:ln/>
        </p:spPr>
      </p:sp>
      <p:sp>
        <p:nvSpPr>
          <p:cNvPr id="11" name="Focus badge elite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elit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elite"/>
          <p:cNvSpPr txBox="1"/>
          <p:nvPr/>
        </p:nvSpPr>
        <p:spPr>
          <a:xfrm>
            <a:off x="5733288" y="1801368"/>
            <a:ext cx="5681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Battery fails: 37 of 54 defect reports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电池故障：54 起故障报告中有 37 起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3"/>
                </a:solidFill>
              </a:rPr>
              <a:t>Typically 5 months after purchase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通常在购买后约 5 个月</a:t>
            </a:r>
            <a:endParaRPr lang="en-US" sz="1000" dirty="0"/>
          </a:p>
        </p:txBody>
      </p:sp>
      <p:sp>
        <p:nvSpPr>
          <p:cNvPr id="14" name="Focus quote rule elite 1"/>
          <p:cNvSpPr/>
          <p:nvPr/>
        </p:nvSpPr>
        <p:spPr>
          <a:xfrm>
            <a:off x="4937760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5" name="Focus quote elite 1"/>
          <p:cNvSpPr txBox="1"/>
          <p:nvPr/>
        </p:nvSpPr>
        <p:spPr>
          <a:xfrm>
            <a:off x="5056632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“Battery shows 99%, but the shaver does nothing.”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电量显示 99%，但剃须刀完全不工作。</a:t>
            </a:r>
            <a:endParaRPr lang="en-US" sz="1000" dirty="0"/>
          </a:p>
        </p:txBody>
      </p:sp>
      <p:sp>
        <p:nvSpPr>
          <p:cNvPr id="16" name="Focus quote rule elite 2"/>
          <p:cNvSpPr/>
          <p:nvPr/>
        </p:nvSpPr>
        <p:spPr>
          <a:xfrm>
            <a:off x="7172858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7" name="Focus quote elite 2"/>
          <p:cNvSpPr txBox="1"/>
          <p:nvPr/>
        </p:nvSpPr>
        <p:spPr>
          <a:xfrm>
            <a:off x="7291730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“After two hours of charging, the battery lasts two minutes.”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充电两个小时，只能用两分钟。</a:t>
            </a:r>
            <a:endParaRPr lang="en-US" sz="1000" dirty="0"/>
          </a:p>
        </p:txBody>
      </p:sp>
      <p:sp>
        <p:nvSpPr>
          <p:cNvPr id="18" name="Focus quote rule elite 3"/>
          <p:cNvSpPr/>
          <p:nvPr/>
        </p:nvSpPr>
        <p:spPr>
          <a:xfrm>
            <a:off x="9407957" y="2843784"/>
            <a:ext cx="0" cy="630936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</a:ln>
        </p:spPr>
      </p:sp>
      <p:sp>
        <p:nvSpPr>
          <p:cNvPr id="19" name="Focus quote elite 3"/>
          <p:cNvSpPr txBox="1"/>
          <p:nvPr/>
        </p:nvSpPr>
        <p:spPr>
          <a:xfrm>
            <a:off x="9526829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“While charging I heard a pop and smelled burning. Now it does nothing.”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充电时听到“砰”的一声，闻到焦味，之后完全不能用了。</a:t>
            </a:r>
            <a:endParaRPr lang="en-US" sz="1000" dirty="0"/>
          </a:p>
        </p:txBody>
      </p:sp>
      <p:sp>
        <p:nvSpPr>
          <p:cNvPr id="20" name="List head elite 1"/>
          <p:cNvSpPr txBox="1"/>
          <p:nvPr/>
        </p:nvSpPr>
        <p:spPr>
          <a:xfrm>
            <a:off x="4709160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54</a:t>
            </a:r>
            <a:endParaRPr lang="en-US" sz="950" dirty="0"/>
          </a:p>
        </p:txBody>
      </p:sp>
      <p:sp>
        <p:nvSpPr>
          <p:cNvPr id="21" name="List count elite 1 1"/>
          <p:cNvSpPr txBox="1"/>
          <p:nvPr/>
        </p:nvSpPr>
        <p:spPr>
          <a:xfrm>
            <a:off x="4709160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37</a:t>
            </a:r>
            <a:endParaRPr lang="en-US" sz="1600" dirty="0"/>
          </a:p>
        </p:txBody>
      </p:sp>
      <p:sp>
        <p:nvSpPr>
          <p:cNvPr id="22" name="List item elite 1 1"/>
          <p:cNvSpPr txBox="1"/>
          <p:nvPr/>
        </p:nvSpPr>
        <p:spPr>
          <a:xfrm>
            <a:off x="5212080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or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1100" dirty="0"/>
          </a:p>
        </p:txBody>
      </p:sp>
      <p:sp>
        <p:nvSpPr>
          <p:cNvPr id="23" name="List count elite 1 2"/>
          <p:cNvSpPr txBox="1"/>
          <p:nvPr/>
        </p:nvSpPr>
        <p:spPr>
          <a:xfrm>
            <a:off x="4709160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24" name="List item elite 1 2"/>
          <p:cNvSpPr txBox="1"/>
          <p:nvPr/>
        </p:nvSpPr>
        <p:spPr>
          <a:xfrm>
            <a:off x="5212080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Won't start, cuts out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1100" dirty="0"/>
          </a:p>
        </p:txBody>
      </p:sp>
      <p:sp>
        <p:nvSpPr>
          <p:cNvPr id="25" name="List count elite 1 3"/>
          <p:cNvSpPr txBox="1"/>
          <p:nvPr/>
        </p:nvSpPr>
        <p:spPr>
          <a:xfrm>
            <a:off x="4709160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List item elite 1 3"/>
          <p:cNvSpPr txBox="1"/>
          <p:nvPr/>
        </p:nvSpPr>
        <p:spPr>
          <a:xfrm>
            <a:off x="5212080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or parts break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刀头或部件损坏</a:t>
            </a:r>
            <a:endParaRPr lang="en-US" sz="1100" dirty="0"/>
          </a:p>
        </p:txBody>
      </p:sp>
      <p:sp>
        <p:nvSpPr>
          <p:cNvPr id="27" name="List head elite 2"/>
          <p:cNvSpPr txBox="1"/>
          <p:nvPr/>
        </p:nvSpPr>
        <p:spPr>
          <a:xfrm>
            <a:off x="8313268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28</a:t>
            </a:r>
            <a:endParaRPr lang="en-US" sz="950" dirty="0"/>
          </a:p>
        </p:txBody>
      </p:sp>
      <p:sp>
        <p:nvSpPr>
          <p:cNvPr id="28" name="List count elite 2 1"/>
          <p:cNvSpPr txBox="1"/>
          <p:nvPr/>
        </p:nvSpPr>
        <p:spPr>
          <a:xfrm>
            <a:off x="8313268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22</a:t>
            </a:r>
            <a:endParaRPr lang="en-US" sz="1600" dirty="0"/>
          </a:p>
        </p:txBody>
      </p:sp>
      <p:sp>
        <p:nvSpPr>
          <p:cNvPr id="29" name="List item elite 2 1"/>
          <p:cNvSpPr txBox="1"/>
          <p:nvPr/>
        </p:nvSpPr>
        <p:spPr>
          <a:xfrm>
            <a:off x="8816188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Pulls hairs, not close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剃不干净，拉扯胡须</a:t>
            </a:r>
            <a:endParaRPr lang="en-US" sz="1100" dirty="0"/>
          </a:p>
        </p:txBody>
      </p:sp>
      <p:sp>
        <p:nvSpPr>
          <p:cNvPr id="30" name="List count elite 2 2"/>
          <p:cNvSpPr txBox="1"/>
          <p:nvPr/>
        </p:nvSpPr>
        <p:spPr>
          <a:xfrm>
            <a:off x="8313268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1" name="List item elite 2 2"/>
          <p:cNvSpPr txBox="1"/>
          <p:nvPr/>
        </p:nvSpPr>
        <p:spPr>
          <a:xfrm>
            <a:off x="8816188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loose or broken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刀头松动或损坏</a:t>
            </a:r>
            <a:endParaRPr lang="en-US" sz="1100" dirty="0"/>
          </a:p>
        </p:txBody>
      </p:sp>
      <p:sp>
        <p:nvSpPr>
          <p:cNvPr id="32" name="List count elite 2 3"/>
          <p:cNvSpPr txBox="1"/>
          <p:nvPr/>
        </p:nvSpPr>
        <p:spPr>
          <a:xfrm>
            <a:off x="8313268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3" name="List item elite 2 3"/>
          <p:cNvSpPr txBox="1"/>
          <p:nvPr/>
        </p:nvSpPr>
        <p:spPr>
          <a:xfrm>
            <a:off x="8816188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and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电池与充电</a:t>
            </a:r>
            <a:endParaRPr lang="en-US" sz="1100" dirty="0"/>
          </a:p>
        </p:txBody>
      </p:sp>
      <p:sp>
        <p:nvSpPr>
          <p:cNvPr id="34" name="Ask card"/>
          <p:cNvSpPr/>
          <p:nvPr/>
        </p:nvSpPr>
        <p:spPr>
          <a:xfrm>
            <a:off x="4709160" y="5166360"/>
            <a:ext cx="6933895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35" name="Ask head"/>
          <p:cNvSpPr txBox="1"/>
          <p:nvPr/>
        </p:nvSpPr>
        <p:spPr>
          <a:xfrm>
            <a:off x="4937760" y="5276088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6" name="Ask 1"/>
          <p:cNvSpPr txBox="1"/>
          <p:nvPr/>
        </p:nvSpPr>
        <p:spPr>
          <a:xfrm>
            <a:off x="4937760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that lasts years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经久耐用的电池</a:t>
            </a:r>
            <a:endParaRPr lang="en-US" sz="1100" dirty="0"/>
          </a:p>
        </p:txBody>
      </p:sp>
      <p:sp>
        <p:nvSpPr>
          <p:cNvPr id="37" name="Ask 2"/>
          <p:cNvSpPr txBox="1"/>
          <p:nvPr/>
        </p:nvSpPr>
        <p:spPr>
          <a:xfrm>
            <a:off x="7157618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Stronger head clip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更牢固的刀头卡扣</a:t>
            </a:r>
            <a:endParaRPr lang="en-US" sz="1100" dirty="0"/>
          </a:p>
        </p:txBody>
      </p:sp>
      <p:sp>
        <p:nvSpPr>
          <p:cNvPr id="38" name="Ask 3"/>
          <p:cNvSpPr txBox="1"/>
          <p:nvPr/>
        </p:nvSpPr>
        <p:spPr>
          <a:xfrm>
            <a:off x="9377477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More power, closer shave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更强动力，剃得更干净</a:t>
            </a:r>
            <a:endParaRPr lang="en-US" sz="1100" dirty="0"/>
          </a:p>
        </p:txBody>
      </p:sp>
      <p:sp>
        <p:nvSpPr>
          <p:cNvPr id="39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nose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产品聚焦：鼻毛修剪器</a:t>
            </a:r>
            <a:endParaRPr lang="en-US" sz="2000" dirty="0"/>
          </a:p>
        </p:txBody>
      </p:sp>
      <p:sp>
        <p:nvSpPr>
          <p:cNvPr id="4" name="Product photo card"/>
          <p:cNvSpPr/>
          <p:nvPr/>
        </p:nvSpPr>
        <p:spPr>
          <a:xfrm>
            <a:off x="548640" y="1600200"/>
            <a:ext cx="3886200" cy="4343400"/>
          </a:xfrm>
          <a:prstGeom prst="roundRect">
            <a:avLst>
              <a:gd name="adj" fmla="val 3765"/>
            </a:avLst>
          </a:prstGeom>
          <a:solidFill>
            <a:srgbClr val="FFFFFF"/>
          </a:solidFill>
          <a:ln/>
        </p:spPr>
      </p:sp>
      <p:pic>
        <p:nvPicPr>
          <p:cNvPr id="5" name="Product photo" descr="Nose trimmers (7 model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801368"/>
            <a:ext cx="2926080" cy="2926080"/>
          </a:xfrm>
          <a:prstGeom prst="rect">
            <a:avLst/>
          </a:prstGeom>
        </p:spPr>
      </p:pic>
      <p:sp>
        <p:nvSpPr>
          <p:cNvPr id="6" name="Model"/>
          <p:cNvSpPr txBox="1"/>
          <p:nvPr/>
        </p:nvSpPr>
        <p:spPr>
          <a:xfrm>
            <a:off x="731520" y="4818888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Model  </a:t>
            </a:r>
            <a:pPr algn="ctr"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7 models · WS-NT1 / WS-NT2</a:t>
            </a:r>
            <a:pPr algn="ctr" indent="0" marL="0">
              <a:buNone/>
            </a:pPr>
            <a:r>
              <a:rPr lang="en-US" sz="10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型号</a:t>
            </a:r>
            <a:endParaRPr lang="en-US" sz="1050" dirty="0"/>
          </a:p>
        </p:txBody>
      </p:sp>
      <p:sp>
        <p:nvSpPr>
          <p:cNvPr id="7" name="Product stat 1"/>
          <p:cNvSpPr txBox="1"/>
          <p:nvPr/>
        </p:nvSpPr>
        <p:spPr>
          <a:xfrm>
            <a:off x="68580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25,627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sold in 2026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900" dirty="0"/>
          </a:p>
        </p:txBody>
      </p:sp>
      <p:sp>
        <p:nvSpPr>
          <p:cNvPr id="8" name="Product stat 2"/>
          <p:cNvSpPr txBox="1"/>
          <p:nvPr/>
        </p:nvSpPr>
        <p:spPr>
          <a:xfrm>
            <a:off x="188976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2.1%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return rate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900" dirty="0"/>
          </a:p>
        </p:txBody>
      </p:sp>
      <p:sp>
        <p:nvSpPr>
          <p:cNvPr id="9" name="Product stat 3"/>
          <p:cNvSpPr txBox="1"/>
          <p:nvPr/>
        </p:nvSpPr>
        <p:spPr>
          <a:xfrm>
            <a:off x="3093720" y="5148072"/>
            <a:ext cx="1203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31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defect reports</a:t>
            </a:r>
            <a:endParaRPr lang="en-US" sz="19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900" dirty="0"/>
          </a:p>
        </p:txBody>
      </p:sp>
      <p:sp>
        <p:nvSpPr>
          <p:cNvPr id="10" name="Focus neus"/>
          <p:cNvSpPr/>
          <p:nvPr/>
        </p:nvSpPr>
        <p:spPr>
          <a:xfrm>
            <a:off x="4709160" y="1600200"/>
            <a:ext cx="6933895" cy="2057400"/>
          </a:xfrm>
          <a:prstGeom prst="roundRect">
            <a:avLst>
              <a:gd name="adj" fmla="val 7111"/>
            </a:avLst>
          </a:prstGeom>
          <a:solidFill>
            <a:srgbClr val="EDE6DA"/>
          </a:solidFill>
          <a:ln/>
        </p:spPr>
      </p:sp>
      <p:sp>
        <p:nvSpPr>
          <p:cNvPr id="11" name="Focus badge neus"/>
          <p:cNvSpPr/>
          <p:nvPr/>
        </p:nvSpPr>
        <p:spPr>
          <a:xfrm>
            <a:off x="493776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Focus icon neu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1146" y="1942186"/>
            <a:ext cx="340157" cy="340157"/>
          </a:xfrm>
          <a:prstGeom prst="rect">
            <a:avLst/>
          </a:prstGeom>
        </p:spPr>
      </p:pic>
      <p:sp>
        <p:nvSpPr>
          <p:cNvPr id="13" name="Focus head neus"/>
          <p:cNvSpPr txBox="1"/>
          <p:nvPr/>
        </p:nvSpPr>
        <p:spPr>
          <a:xfrm>
            <a:off x="5733288" y="1801368"/>
            <a:ext cx="56811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Weak cutting: many hairs are not caught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修剪力度不足：很多毛发剪不到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accent6"/>
                </a:solidFill>
              </a:rPr>
              <a:t>22 of 55 critical reviews on bol.com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bol.com 55 条差评中有 22 条</a:t>
            </a:r>
            <a:endParaRPr lang="en-US" sz="1000" dirty="0"/>
          </a:p>
        </p:txBody>
      </p:sp>
      <p:sp>
        <p:nvSpPr>
          <p:cNvPr id="14" name="Focus quote rule neus 1"/>
          <p:cNvSpPr/>
          <p:nvPr/>
        </p:nvSpPr>
        <p:spPr>
          <a:xfrm>
            <a:off x="4937760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5" name="Focus quote neus 1"/>
          <p:cNvSpPr txBox="1"/>
          <p:nvPr/>
        </p:nvSpPr>
        <p:spPr>
          <a:xfrm>
            <a:off x="5056632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“After 10 minutes in my nose, just as many hairs as before.”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在鼻子里用了10分钟，鼻毛还是和之前一样多。</a:t>
            </a:r>
            <a:endParaRPr lang="en-US" sz="1000" dirty="0"/>
          </a:p>
        </p:txBody>
      </p:sp>
      <p:sp>
        <p:nvSpPr>
          <p:cNvPr id="16" name="Focus quote rule neus 2"/>
          <p:cNvSpPr/>
          <p:nvPr/>
        </p:nvSpPr>
        <p:spPr>
          <a:xfrm>
            <a:off x="7172858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7" name="Focus quote neus 2"/>
          <p:cNvSpPr txBox="1"/>
          <p:nvPr/>
        </p:nvSpPr>
        <p:spPr>
          <a:xfrm>
            <a:off x="7291730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blade sits too deep to catch short hairs.”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刀片藏得太深，剪不到短毛。</a:t>
            </a:r>
            <a:endParaRPr lang="en-US" sz="1000" dirty="0"/>
          </a:p>
        </p:txBody>
      </p:sp>
      <p:sp>
        <p:nvSpPr>
          <p:cNvPr id="18" name="Focus quote rule neus 3"/>
          <p:cNvSpPr/>
          <p:nvPr/>
        </p:nvSpPr>
        <p:spPr>
          <a:xfrm>
            <a:off x="9407957" y="2843784"/>
            <a:ext cx="0" cy="630936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19" name="Focus quote neus 3"/>
          <p:cNvSpPr txBox="1"/>
          <p:nvPr/>
        </p:nvSpPr>
        <p:spPr>
          <a:xfrm>
            <a:off x="9526829" y="2807208"/>
            <a:ext cx="188762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1"/>
                </a:solidFill>
              </a:rPr>
              <a:t>“Used it twice and the head was broken.”</a:t>
            </a:r>
            <a:br/>
            <a:pPr indent="0" marL="0"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只用了两次，刀头就坏了。</a:t>
            </a:r>
            <a:endParaRPr lang="en-US" sz="1000" dirty="0"/>
          </a:p>
        </p:txBody>
      </p:sp>
      <p:sp>
        <p:nvSpPr>
          <p:cNvPr id="20" name="List head neus 1"/>
          <p:cNvSpPr txBox="1"/>
          <p:nvPr/>
        </p:nvSpPr>
        <p:spPr>
          <a:xfrm>
            <a:off x="4709160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31</a:t>
            </a:r>
            <a:endParaRPr lang="en-US" sz="950" dirty="0"/>
          </a:p>
        </p:txBody>
      </p:sp>
      <p:sp>
        <p:nvSpPr>
          <p:cNvPr id="21" name="List count neus 1 1"/>
          <p:cNvSpPr txBox="1"/>
          <p:nvPr/>
        </p:nvSpPr>
        <p:spPr>
          <a:xfrm>
            <a:off x="4709160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</a:t>
            </a:r>
            <a:endParaRPr lang="en-US" sz="1600" dirty="0"/>
          </a:p>
        </p:txBody>
      </p:sp>
      <p:sp>
        <p:nvSpPr>
          <p:cNvPr id="22" name="List item neus 1 1"/>
          <p:cNvSpPr txBox="1"/>
          <p:nvPr/>
        </p:nvSpPr>
        <p:spPr>
          <a:xfrm>
            <a:off x="5212080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Battery or charging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1100" dirty="0"/>
          </a:p>
        </p:txBody>
      </p:sp>
      <p:sp>
        <p:nvSpPr>
          <p:cNvPr id="23" name="List count neus 1 2"/>
          <p:cNvSpPr txBox="1"/>
          <p:nvPr/>
        </p:nvSpPr>
        <p:spPr>
          <a:xfrm>
            <a:off x="4709160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List item neus 1 2"/>
          <p:cNvSpPr txBox="1"/>
          <p:nvPr/>
        </p:nvSpPr>
        <p:spPr>
          <a:xfrm>
            <a:off x="5212080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Head or parts break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刀头或部件损坏</a:t>
            </a:r>
            <a:endParaRPr lang="en-US" sz="1100" dirty="0"/>
          </a:p>
        </p:txBody>
      </p:sp>
      <p:sp>
        <p:nvSpPr>
          <p:cNvPr id="25" name="List count neus 1 3"/>
          <p:cNvSpPr txBox="1"/>
          <p:nvPr/>
        </p:nvSpPr>
        <p:spPr>
          <a:xfrm>
            <a:off x="4709160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6" name="List item neus 1 3"/>
          <p:cNvSpPr txBox="1"/>
          <p:nvPr/>
        </p:nvSpPr>
        <p:spPr>
          <a:xfrm>
            <a:off x="5212080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Won't start, cuts out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1100" dirty="0"/>
          </a:p>
        </p:txBody>
      </p:sp>
      <p:sp>
        <p:nvSpPr>
          <p:cNvPr id="27" name="List head neus 2"/>
          <p:cNvSpPr txBox="1"/>
          <p:nvPr/>
        </p:nvSpPr>
        <p:spPr>
          <a:xfrm>
            <a:off x="8313268" y="3785616"/>
            <a:ext cx="33297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9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   55</a:t>
            </a:r>
            <a:endParaRPr lang="en-US" sz="950" dirty="0"/>
          </a:p>
        </p:txBody>
      </p:sp>
      <p:sp>
        <p:nvSpPr>
          <p:cNvPr id="28" name="List count neus 2 1"/>
          <p:cNvSpPr txBox="1"/>
          <p:nvPr/>
        </p:nvSpPr>
        <p:spPr>
          <a:xfrm>
            <a:off x="8313268" y="40142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22</a:t>
            </a:r>
            <a:endParaRPr lang="en-US" sz="1600" dirty="0"/>
          </a:p>
        </p:txBody>
      </p:sp>
      <p:sp>
        <p:nvSpPr>
          <p:cNvPr id="29" name="List item neus 2 1"/>
          <p:cNvSpPr txBox="1"/>
          <p:nvPr/>
        </p:nvSpPr>
        <p:spPr>
          <a:xfrm>
            <a:off x="8816188" y="4014216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Weak cutting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</a:t>
            </a:r>
            <a:endParaRPr lang="en-US" sz="1100" dirty="0"/>
          </a:p>
        </p:txBody>
      </p:sp>
      <p:sp>
        <p:nvSpPr>
          <p:cNvPr id="30" name="List count neus 2 2"/>
          <p:cNvSpPr txBox="1"/>
          <p:nvPr/>
        </p:nvSpPr>
        <p:spPr>
          <a:xfrm>
            <a:off x="8313268" y="43616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15</a:t>
            </a:r>
            <a:endParaRPr lang="en-US" sz="1600" dirty="0"/>
          </a:p>
        </p:txBody>
      </p:sp>
      <p:sp>
        <p:nvSpPr>
          <p:cNvPr id="31" name="List item neus 2 2"/>
          <p:cNvSpPr txBox="1"/>
          <p:nvPr/>
        </p:nvSpPr>
        <p:spPr>
          <a:xfrm>
            <a:off x="8816188" y="4361688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Broken within months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数月内损坏</a:t>
            </a:r>
            <a:endParaRPr lang="en-US" sz="1100" dirty="0"/>
          </a:p>
        </p:txBody>
      </p:sp>
      <p:sp>
        <p:nvSpPr>
          <p:cNvPr id="32" name="List count neus 2 3"/>
          <p:cNvSpPr txBox="1"/>
          <p:nvPr/>
        </p:nvSpPr>
        <p:spPr>
          <a:xfrm>
            <a:off x="8313268" y="47091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9</a:t>
            </a:r>
            <a:endParaRPr lang="en-US" sz="1600" dirty="0"/>
          </a:p>
        </p:txBody>
      </p:sp>
      <p:sp>
        <p:nvSpPr>
          <p:cNvPr id="33" name="List item neus 2 3"/>
          <p:cNvSpPr txBox="1"/>
          <p:nvPr/>
        </p:nvSpPr>
        <p:spPr>
          <a:xfrm>
            <a:off x="8816188" y="4709160"/>
            <a:ext cx="28268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Caps and parts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保护盖与配件</a:t>
            </a:r>
            <a:endParaRPr lang="en-US" sz="1100" dirty="0"/>
          </a:p>
        </p:txBody>
      </p:sp>
      <p:sp>
        <p:nvSpPr>
          <p:cNvPr id="34" name="Ask card"/>
          <p:cNvSpPr/>
          <p:nvPr/>
        </p:nvSpPr>
        <p:spPr>
          <a:xfrm>
            <a:off x="4709160" y="5166360"/>
            <a:ext cx="6933895" cy="77724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35" name="Ask head"/>
          <p:cNvSpPr txBox="1"/>
          <p:nvPr/>
        </p:nvSpPr>
        <p:spPr>
          <a:xfrm>
            <a:off x="4937760" y="5276088"/>
            <a:ext cx="6476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buNone/>
            </a:pPr>
            <a:r>
              <a:rPr lang="en-US" sz="9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950" dirty="0"/>
          </a:p>
        </p:txBody>
      </p:sp>
      <p:sp>
        <p:nvSpPr>
          <p:cNvPr id="36" name="Ask 1"/>
          <p:cNvSpPr txBox="1"/>
          <p:nvPr/>
        </p:nvSpPr>
        <p:spPr>
          <a:xfrm>
            <a:off x="4937760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Sharper blades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更锋利的刀片，不漏剪</a:t>
            </a:r>
            <a:endParaRPr lang="en-US" sz="1100" dirty="0"/>
          </a:p>
        </p:txBody>
      </p:sp>
      <p:sp>
        <p:nvSpPr>
          <p:cNvPr id="37" name="Ask 2"/>
          <p:cNvSpPr txBox="1"/>
          <p:nvPr/>
        </p:nvSpPr>
        <p:spPr>
          <a:xfrm>
            <a:off x="7157618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 head that does not break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更牢固、不易损坏的刀头</a:t>
            </a:r>
            <a:endParaRPr lang="en-US" sz="1100" dirty="0"/>
          </a:p>
        </p:txBody>
      </p:sp>
      <p:sp>
        <p:nvSpPr>
          <p:cNvPr id="38" name="Ask 3"/>
          <p:cNvSpPr txBox="1"/>
          <p:nvPr/>
        </p:nvSpPr>
        <p:spPr>
          <a:xfrm>
            <a:off x="9377477" y="5477256"/>
            <a:ext cx="203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Every part in the box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每台配件齐全</a:t>
            </a:r>
            <a:endParaRPr lang="en-US" sz="1100" dirty="0"/>
          </a:p>
        </p:txBody>
      </p:sp>
      <p:sp>
        <p:nvSpPr>
          <p:cNvPr id="39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beard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产品聚焦：胡须修剪器</a:t>
            </a:r>
            <a:endParaRPr lang="en-US" sz="2000" dirty="0"/>
          </a:p>
        </p:txBody>
      </p:sp>
      <p:sp>
        <p:nvSpPr>
          <p:cNvPr id="4" name="Product card pro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pro" descr="Beard Trimmer Pro 5-i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pro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Pro 5-in-1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8188 / WS-BTG1</a:t>
            </a:r>
            <a:endParaRPr lang="en-US" sz="1450" dirty="0"/>
          </a:p>
        </p:txBody>
      </p:sp>
      <p:sp>
        <p:nvSpPr>
          <p:cNvPr id="7" name="Product stat pro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2,179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pro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pro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pro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pro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pr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pro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10 of 15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起故障报告中有 10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“Fully charged, but it does nothing anymore.”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已经充满电，但完全不能用了。</a:t>
            </a:r>
            <a:endParaRPr lang="en-US" sz="900" dirty="0"/>
          </a:p>
        </p:txBody>
      </p:sp>
      <p:sp>
        <p:nvSpPr>
          <p:cNvPr id="14" name="List head pro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15</a:t>
            </a:r>
            <a:endParaRPr lang="en-US" sz="850" dirty="0"/>
          </a:p>
        </p:txBody>
      </p:sp>
      <p:sp>
        <p:nvSpPr>
          <p:cNvPr id="15" name="List count pro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10</a:t>
            </a:r>
            <a:endParaRPr lang="en-US" sz="1250" dirty="0"/>
          </a:p>
        </p:txBody>
      </p:sp>
      <p:sp>
        <p:nvSpPr>
          <p:cNvPr id="16" name="List item pro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pro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18" name="List item pro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pro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20" name="List item pro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21" name="List head pro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11</a:t>
            </a:r>
            <a:endParaRPr lang="en-US" sz="850" dirty="0"/>
          </a:p>
        </p:txBody>
      </p:sp>
      <p:sp>
        <p:nvSpPr>
          <p:cNvPr id="22" name="List count pro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23" name="List item pro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24" name="List count pro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25" name="List item pro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Stops within months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数月内停止工作</a:t>
            </a:r>
            <a:endParaRPr lang="en-US" sz="950" dirty="0"/>
          </a:p>
        </p:txBody>
      </p:sp>
      <p:sp>
        <p:nvSpPr>
          <p:cNvPr id="26" name="List count pro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pro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Cable or part missing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缺少充电线或配件</a:t>
            </a:r>
            <a:endParaRPr lang="en-US" sz="950" dirty="0"/>
          </a:p>
        </p:txBody>
      </p:sp>
      <p:sp>
        <p:nvSpPr>
          <p:cNvPr id="28" name="Ask card pro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pro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Li-ion battery instead of NiMH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用锂电池替代镍氢电池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Cable and all attachments in the box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包装内充电线与配件齐全</a:t>
            </a:r>
            <a:endParaRPr lang="en-US" sz="1000" dirty="0"/>
          </a:p>
        </p:txBody>
      </p:sp>
      <p:sp>
        <p:nvSpPr>
          <p:cNvPr id="30" name="Product card supreme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supreme" descr="Beard Trimmer Supreme 6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supreme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Beard Trimmer Supreme 6-in-1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8988 / WS-BTG2</a:t>
            </a:r>
            <a:endParaRPr lang="en-US" sz="1450" dirty="0"/>
          </a:p>
        </p:txBody>
      </p:sp>
      <p:sp>
        <p:nvSpPr>
          <p:cNvPr id="33" name="Product stat supreme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3,143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supreme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3.5%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supreme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supreme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37" name="Focus badge supreme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8" name="Focus icon suprem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supreme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26 of 36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 起故障报告中有 26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“Won't charge, stays at 0%. Tried several chargers and cables.”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无法充电，电量一直是 0%。已试过多个充电器和数据线。</a:t>
            </a:r>
            <a:endParaRPr lang="en-US" sz="900" dirty="0"/>
          </a:p>
        </p:txBody>
      </p:sp>
      <p:sp>
        <p:nvSpPr>
          <p:cNvPr id="40" name="List head supreme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36</a:t>
            </a:r>
            <a:endParaRPr lang="en-US" sz="850" dirty="0"/>
          </a:p>
        </p:txBody>
      </p:sp>
      <p:sp>
        <p:nvSpPr>
          <p:cNvPr id="41" name="List count supreme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26</a:t>
            </a:r>
            <a:endParaRPr lang="en-US" sz="1250" dirty="0"/>
          </a:p>
        </p:txBody>
      </p:sp>
      <p:sp>
        <p:nvSpPr>
          <p:cNvPr id="42" name="List item supreme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43" name="List count supreme 1 2"/>
          <p:cNvSpPr txBox="1"/>
          <p:nvPr/>
        </p:nvSpPr>
        <p:spPr>
          <a:xfrm>
            <a:off x="6415888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5</a:t>
            </a:r>
            <a:endParaRPr lang="en-US" sz="1250" dirty="0"/>
          </a:p>
        </p:txBody>
      </p:sp>
      <p:sp>
        <p:nvSpPr>
          <p:cNvPr id="44" name="List item supreme 1 2"/>
          <p:cNvSpPr txBox="1"/>
          <p:nvPr/>
        </p:nvSpPr>
        <p:spPr>
          <a:xfrm>
            <a:off x="6790792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45" name="List count supreme 1 3"/>
          <p:cNvSpPr txBox="1"/>
          <p:nvPr/>
        </p:nvSpPr>
        <p:spPr>
          <a:xfrm>
            <a:off x="6415888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46" name="List item supreme 1 3"/>
          <p:cNvSpPr txBox="1"/>
          <p:nvPr/>
        </p:nvSpPr>
        <p:spPr>
          <a:xfrm>
            <a:off x="6790792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47" name="List head supreme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5</a:t>
            </a:r>
            <a:endParaRPr lang="en-US" sz="850" dirty="0"/>
          </a:p>
        </p:txBody>
      </p:sp>
      <p:sp>
        <p:nvSpPr>
          <p:cNvPr id="48" name="List count supreme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49" name="List item supreme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Uneven trimming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修剪不均匀</a:t>
            </a:r>
            <a:endParaRPr lang="en-US" sz="950" dirty="0"/>
          </a:p>
        </p:txBody>
      </p:sp>
      <p:sp>
        <p:nvSpPr>
          <p:cNvPr id="50" name="List count supreme 2 2"/>
          <p:cNvSpPr txBox="1"/>
          <p:nvPr/>
        </p:nvSpPr>
        <p:spPr>
          <a:xfrm>
            <a:off x="9075191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1" name="List item supreme 2 2"/>
          <p:cNvSpPr txBox="1"/>
          <p:nvPr/>
        </p:nvSpPr>
        <p:spPr>
          <a:xfrm>
            <a:off x="9450095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Does not charge well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充电不正常</a:t>
            </a:r>
            <a:endParaRPr lang="en-US" sz="950" dirty="0"/>
          </a:p>
        </p:txBody>
      </p:sp>
      <p:sp>
        <p:nvSpPr>
          <p:cNvPr id="52" name="List count supreme 2 3"/>
          <p:cNvSpPr txBox="1"/>
          <p:nvPr/>
        </p:nvSpPr>
        <p:spPr>
          <a:xfrm>
            <a:off x="9075191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3" name="List item supreme 2 3"/>
          <p:cNvSpPr txBox="1"/>
          <p:nvPr/>
        </p:nvSpPr>
        <p:spPr>
          <a:xfrm>
            <a:off x="9450095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Fragile attachments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配件易碎</a:t>
            </a:r>
            <a:endParaRPr lang="en-US" sz="950" dirty="0"/>
          </a:p>
        </p:txBody>
      </p:sp>
      <p:sp>
        <p:nvSpPr>
          <p:cNvPr id="54" name="Ask card supreme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55" name="Ask supreme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持久耐用的电池与充电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No self-start: better button and lock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杜绝自行开机：改进按键与锁定</a:t>
            </a:r>
            <a:endParaRPr lang="en-US" sz="1000" dirty="0"/>
          </a:p>
        </p:txBody>
      </p:sp>
      <p:sp>
        <p:nvSpPr>
          <p:cNvPr id="56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shavers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产品聚焦：剃须刀</a:t>
            </a:r>
            <a:endParaRPr lang="en-US" sz="2000" dirty="0"/>
          </a:p>
        </p:txBody>
      </p:sp>
      <p:sp>
        <p:nvSpPr>
          <p:cNvPr id="4" name="Product card deluxe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deluxe" descr="Head Shaver Delux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deluxe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Head Shaver Deluxe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WS-SA1 / JK-8588A</a:t>
            </a:r>
            <a:endParaRPr lang="en-US" sz="1450" dirty="0"/>
          </a:p>
        </p:txBody>
      </p:sp>
      <p:sp>
        <p:nvSpPr>
          <p:cNvPr id="7" name="Product stat deluxe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1,581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deluxe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deluxe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39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deluxe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deluxe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delux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deluxe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28 of 39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 起故障报告中有 28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“The battery suddenly jumps from about 65% to 0%.”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电量会突然从 65% 左右跳到 0%。</a:t>
            </a:r>
            <a:endParaRPr lang="en-US" sz="900" dirty="0"/>
          </a:p>
        </p:txBody>
      </p:sp>
      <p:sp>
        <p:nvSpPr>
          <p:cNvPr id="14" name="List head deluxe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39</a:t>
            </a:r>
            <a:endParaRPr lang="en-US" sz="850" dirty="0"/>
          </a:p>
        </p:txBody>
      </p:sp>
      <p:sp>
        <p:nvSpPr>
          <p:cNvPr id="15" name="List count deluxe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28</a:t>
            </a:r>
            <a:endParaRPr lang="en-US" sz="1250" dirty="0"/>
          </a:p>
        </p:txBody>
      </p:sp>
      <p:sp>
        <p:nvSpPr>
          <p:cNvPr id="16" name="List item deluxe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deluxe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4</a:t>
            </a:r>
            <a:endParaRPr lang="en-US" sz="1250" dirty="0"/>
          </a:p>
        </p:txBody>
      </p:sp>
      <p:sp>
        <p:nvSpPr>
          <p:cNvPr id="18" name="List item deluxe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deluxe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3</a:t>
            </a:r>
            <a:endParaRPr lang="en-US" sz="1250" dirty="0"/>
          </a:p>
        </p:txBody>
      </p:sp>
      <p:sp>
        <p:nvSpPr>
          <p:cNvPr id="20" name="List item deluxe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On/off switch faults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开关故障</a:t>
            </a:r>
            <a:endParaRPr lang="en-US" sz="950" dirty="0"/>
          </a:p>
        </p:txBody>
      </p:sp>
      <p:sp>
        <p:nvSpPr>
          <p:cNvPr id="21" name="List head deluxe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9</a:t>
            </a:r>
            <a:endParaRPr lang="en-US" sz="850" dirty="0"/>
          </a:p>
        </p:txBody>
      </p:sp>
      <p:sp>
        <p:nvSpPr>
          <p:cNvPr id="22" name="List count deluxe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3" name="List item deluxe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24" name="List count deluxe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5" name="List item deluxe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Skin irritation, cuts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皮肤刺激或划伤</a:t>
            </a:r>
            <a:endParaRPr lang="en-US" sz="950" dirty="0"/>
          </a:p>
        </p:txBody>
      </p:sp>
      <p:sp>
        <p:nvSpPr>
          <p:cNvPr id="26" name="List count deluxe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deluxe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Not a smooth result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剃得不够干净</a:t>
            </a:r>
            <a:endParaRPr lang="en-US" sz="950" dirty="0"/>
          </a:p>
        </p:txBody>
      </p:sp>
      <p:sp>
        <p:nvSpPr>
          <p:cNvPr id="28" name="Ask card deluxe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deluxe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an accurate % display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电池与准确的电量显示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Sharper blades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更锋利耐用的刀片</a:t>
            </a:r>
            <a:endParaRPr lang="en-US" sz="1000" dirty="0"/>
          </a:p>
        </p:txBody>
      </p:sp>
      <p:sp>
        <p:nvSpPr>
          <p:cNvPr id="30" name="Product card baron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baron" descr="Foil Shaver Blade Bar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baron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Foil Shaver Blade Baron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FK-706</a:t>
            </a:r>
            <a:endParaRPr lang="en-US" sz="1450" dirty="0"/>
          </a:p>
        </p:txBody>
      </p:sp>
      <p:sp>
        <p:nvSpPr>
          <p:cNvPr id="33" name="Product stat baron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1,307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baron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5.6%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baron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baron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/>
        </p:spPr>
      </p:sp>
      <p:sp>
        <p:nvSpPr>
          <p:cNvPr id="37" name="Focus badge baron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Focus icon bar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baron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RETURNS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退货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5.6% returns, the highest of these products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 5.6%，为这些产品中最高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“It shaves, but not completely smooth as described.”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能剃，但没有描述的那么干净。</a:t>
            </a:r>
            <a:endParaRPr lang="en-US" sz="900" dirty="0"/>
          </a:p>
        </p:txBody>
      </p:sp>
      <p:sp>
        <p:nvSpPr>
          <p:cNvPr id="40" name="List head baron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1</a:t>
            </a:r>
            <a:endParaRPr lang="en-US" sz="850" dirty="0"/>
          </a:p>
        </p:txBody>
      </p:sp>
      <p:sp>
        <p:nvSpPr>
          <p:cNvPr id="41" name="List count baron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2" name="List item baron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43" name="List head baron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2</a:t>
            </a:r>
            <a:endParaRPr lang="en-US" sz="850" dirty="0"/>
          </a:p>
        </p:txBody>
      </p:sp>
      <p:sp>
        <p:nvSpPr>
          <p:cNvPr id="44" name="List count baron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45" name="List item baron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Not completely smooth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剃得不够干净</a:t>
            </a:r>
            <a:endParaRPr lang="en-US" sz="950" dirty="0"/>
          </a:p>
        </p:txBody>
      </p:sp>
      <p:sp>
        <p:nvSpPr>
          <p:cNvPr id="46" name="Ask card baron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47" name="Ask baron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closer shave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剃得更干净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Find the return reasons together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共同分析退货原因</a:t>
            </a:r>
            <a:endParaRPr lang="en-US" sz="1000" dirty="0"/>
          </a:p>
        </p:txBody>
      </p:sp>
      <p:sp>
        <p:nvSpPr>
          <p:cNvPr id="48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focus: body groomers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产品聚焦：身体修剪器</a:t>
            </a:r>
            <a:endParaRPr lang="en-US" sz="2000" dirty="0"/>
          </a:p>
        </p:txBody>
      </p:sp>
      <p:sp>
        <p:nvSpPr>
          <p:cNvPr id="4" name="Product card groomguard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5" name="Product photo groomguard" descr="Body Groomer Groom Gu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46504"/>
            <a:ext cx="1188720" cy="1188720"/>
          </a:xfrm>
          <a:prstGeom prst="rect">
            <a:avLst/>
          </a:prstGeom>
        </p:spPr>
      </p:pic>
      <p:sp>
        <p:nvSpPr>
          <p:cNvPr id="6" name="Product name groomguard"/>
          <p:cNvSpPr txBox="1"/>
          <p:nvPr/>
        </p:nvSpPr>
        <p:spPr>
          <a:xfrm>
            <a:off x="2103120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Groom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WS-BG1 / HT-6006</a:t>
            </a:r>
            <a:endParaRPr lang="en-US" sz="1450" dirty="0"/>
          </a:p>
        </p:txBody>
      </p:sp>
      <p:sp>
        <p:nvSpPr>
          <p:cNvPr id="7" name="Product stat groomguard 1"/>
          <p:cNvSpPr txBox="1"/>
          <p:nvPr/>
        </p:nvSpPr>
        <p:spPr>
          <a:xfrm>
            <a:off x="210312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2,116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8" name="Product stat groomguard 2"/>
          <p:cNvSpPr txBox="1"/>
          <p:nvPr/>
        </p:nvSpPr>
        <p:spPr>
          <a:xfrm>
            <a:off x="3333445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2.3%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9" name="Product stat groomguard 3"/>
          <p:cNvSpPr txBox="1"/>
          <p:nvPr/>
        </p:nvSpPr>
        <p:spPr>
          <a:xfrm>
            <a:off x="4563770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10" name="Focus groomguard"/>
          <p:cNvSpPr/>
          <p:nvPr/>
        </p:nvSpPr>
        <p:spPr>
          <a:xfrm>
            <a:off x="731520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191816"/>
          </a:solidFill>
          <a:ln/>
        </p:spPr>
      </p:sp>
      <p:sp>
        <p:nvSpPr>
          <p:cNvPr id="11" name="Focus badge groomguard"/>
          <p:cNvSpPr/>
          <p:nvPr/>
        </p:nvSpPr>
        <p:spPr>
          <a:xfrm>
            <a:off x="896112" y="32278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Focus icon groomguard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7" y="3311957"/>
            <a:ext cx="252374" cy="252374"/>
          </a:xfrm>
          <a:prstGeom prst="rect">
            <a:avLst/>
          </a:prstGeom>
        </p:spPr>
      </p:pic>
      <p:sp>
        <p:nvSpPr>
          <p:cNvPr id="13" name="Focus text groomguard"/>
          <p:cNvSpPr txBox="1"/>
          <p:nvPr/>
        </p:nvSpPr>
        <p:spPr>
          <a:xfrm>
            <a:off x="1481328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2"/>
                </a:solidFill>
              </a:rPr>
              <a:t>BATTERY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电池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bg1"/>
                </a:solidFill>
              </a:rPr>
              <a:t>27 of 35 defect reports: battery or charging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 起故障报告中有 27 起与电池或充电有关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bg1"/>
                </a:solidFill>
              </a:rPr>
              <a:t>“No longer charges. Tried other charging cables.”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无法充电，已经换过其他充电线。</a:t>
            </a:r>
            <a:endParaRPr lang="en-US" sz="900" dirty="0"/>
          </a:p>
        </p:txBody>
      </p:sp>
      <p:sp>
        <p:nvSpPr>
          <p:cNvPr id="14" name="List head groomguard 1"/>
          <p:cNvSpPr txBox="1"/>
          <p:nvPr/>
        </p:nvSpPr>
        <p:spPr>
          <a:xfrm>
            <a:off x="731520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35</a:t>
            </a:r>
            <a:endParaRPr lang="en-US" sz="850" dirty="0"/>
          </a:p>
        </p:txBody>
      </p:sp>
      <p:sp>
        <p:nvSpPr>
          <p:cNvPr id="15" name="List count groomguard 1 1"/>
          <p:cNvSpPr txBox="1"/>
          <p:nvPr/>
        </p:nvSpPr>
        <p:spPr>
          <a:xfrm>
            <a:off x="731520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27</a:t>
            </a:r>
            <a:endParaRPr lang="en-US" sz="1250" dirty="0"/>
          </a:p>
        </p:txBody>
      </p:sp>
      <p:sp>
        <p:nvSpPr>
          <p:cNvPr id="16" name="List item groomguard 1 1"/>
          <p:cNvSpPr txBox="1"/>
          <p:nvPr/>
        </p:nvSpPr>
        <p:spPr>
          <a:xfrm>
            <a:off x="1106424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17" name="List count groomguard 1 2"/>
          <p:cNvSpPr txBox="1"/>
          <p:nvPr/>
        </p:nvSpPr>
        <p:spPr>
          <a:xfrm>
            <a:off x="731520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6</a:t>
            </a:r>
            <a:endParaRPr lang="en-US" sz="1250" dirty="0"/>
          </a:p>
        </p:txBody>
      </p:sp>
      <p:sp>
        <p:nvSpPr>
          <p:cNvPr id="18" name="List item groomguard 1 2"/>
          <p:cNvSpPr txBox="1"/>
          <p:nvPr/>
        </p:nvSpPr>
        <p:spPr>
          <a:xfrm>
            <a:off x="1106424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19" name="List count groomguard 1 3"/>
          <p:cNvSpPr txBox="1"/>
          <p:nvPr/>
        </p:nvSpPr>
        <p:spPr>
          <a:xfrm>
            <a:off x="731520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20" name="List item groomguard 1 3"/>
          <p:cNvSpPr txBox="1"/>
          <p:nvPr/>
        </p:nvSpPr>
        <p:spPr>
          <a:xfrm>
            <a:off x="1106424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21" name="List head groomguard 2"/>
          <p:cNvSpPr txBox="1"/>
          <p:nvPr/>
        </p:nvSpPr>
        <p:spPr>
          <a:xfrm>
            <a:off x="3390824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7</a:t>
            </a:r>
            <a:endParaRPr lang="en-US" sz="850" dirty="0"/>
          </a:p>
        </p:txBody>
      </p:sp>
      <p:sp>
        <p:nvSpPr>
          <p:cNvPr id="22" name="List count groomguard 2 1"/>
          <p:cNvSpPr txBox="1"/>
          <p:nvPr/>
        </p:nvSpPr>
        <p:spPr>
          <a:xfrm>
            <a:off x="3390824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3" name="List item groomguard 2 1"/>
          <p:cNvSpPr txBox="1"/>
          <p:nvPr/>
        </p:nvSpPr>
        <p:spPr>
          <a:xfrm>
            <a:off x="3765728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Too sharp, irritation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过于锋利，刺激皮肤</a:t>
            </a:r>
            <a:endParaRPr lang="en-US" sz="950" dirty="0"/>
          </a:p>
        </p:txBody>
      </p:sp>
      <p:sp>
        <p:nvSpPr>
          <p:cNvPr id="24" name="List count groomguard 2 2"/>
          <p:cNvSpPr txBox="1"/>
          <p:nvPr/>
        </p:nvSpPr>
        <p:spPr>
          <a:xfrm>
            <a:off x="3390824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5" name="List item groomguard 2 2"/>
          <p:cNvSpPr txBox="1"/>
          <p:nvPr/>
        </p:nvSpPr>
        <p:spPr>
          <a:xfrm>
            <a:off x="3765728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Misses or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50" dirty="0"/>
          </a:p>
        </p:txBody>
      </p:sp>
      <p:sp>
        <p:nvSpPr>
          <p:cNvPr id="26" name="List count groomguard 2 3"/>
          <p:cNvSpPr txBox="1"/>
          <p:nvPr/>
        </p:nvSpPr>
        <p:spPr>
          <a:xfrm>
            <a:off x="3390824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27" name="List item groomguard 2 3"/>
          <p:cNvSpPr txBox="1"/>
          <p:nvPr/>
        </p:nvSpPr>
        <p:spPr>
          <a:xfrm>
            <a:off x="3765728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Unstable stand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底座不稳</a:t>
            </a:r>
            <a:endParaRPr lang="en-US" sz="950" dirty="0"/>
          </a:p>
        </p:txBody>
      </p:sp>
      <p:sp>
        <p:nvSpPr>
          <p:cNvPr id="28" name="Ask card groomguard"/>
          <p:cNvSpPr/>
          <p:nvPr/>
        </p:nvSpPr>
        <p:spPr>
          <a:xfrm>
            <a:off x="731520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29" name="Ask groomguard"/>
          <p:cNvSpPr txBox="1"/>
          <p:nvPr/>
        </p:nvSpPr>
        <p:spPr>
          <a:xfrm>
            <a:off x="868680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Battery and charging that last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持久耐用的电池与充电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A stable charging stand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更稳固的充电底座</a:t>
            </a:r>
            <a:endParaRPr lang="en-US" sz="1000" dirty="0"/>
          </a:p>
        </p:txBody>
      </p:sp>
      <p:sp>
        <p:nvSpPr>
          <p:cNvPr id="30" name="Product card flexguard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3368"/>
            </a:avLst>
          </a:prstGeom>
          <a:solidFill>
            <a:srgbClr val="FFFFFF"/>
          </a:solidFill>
          <a:ln/>
        </p:spPr>
      </p:sp>
      <p:pic>
        <p:nvPicPr>
          <p:cNvPr id="31" name="Product photo flexguard" descr="Body Groomer Flex Gu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888" y="1746504"/>
            <a:ext cx="1188720" cy="1188720"/>
          </a:xfrm>
          <a:prstGeom prst="rect">
            <a:avLst/>
          </a:prstGeom>
        </p:spPr>
      </p:pic>
      <p:sp>
        <p:nvSpPr>
          <p:cNvPr id="32" name="Product name flexguard"/>
          <p:cNvSpPr txBox="1"/>
          <p:nvPr/>
        </p:nvSpPr>
        <p:spPr>
          <a:xfrm>
            <a:off x="7787488" y="1709928"/>
            <a:ext cx="36909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450" b="1" dirty="0">
                <a:solidFill>
                  <a:schemeClr val="tx1"/>
                </a:solidFill>
              </a:rPr>
              <a:t>Body Groomer Flex Guard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4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</a:rPr>
              <a:t>Model WS-BG3</a:t>
            </a:r>
            <a:endParaRPr lang="en-US" sz="1450" dirty="0"/>
          </a:p>
        </p:txBody>
      </p:sp>
      <p:sp>
        <p:nvSpPr>
          <p:cNvPr id="33" name="Product stat flexguard 1"/>
          <p:cNvSpPr txBox="1"/>
          <p:nvPr/>
        </p:nvSpPr>
        <p:spPr>
          <a:xfrm>
            <a:off x="778748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1,135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sold in 2026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年销量</a:t>
            </a:r>
            <a:endParaRPr lang="en-US" sz="1500" dirty="0"/>
          </a:p>
        </p:txBody>
      </p:sp>
      <p:sp>
        <p:nvSpPr>
          <p:cNvPr id="34" name="Product stat flexguard 2"/>
          <p:cNvSpPr txBox="1"/>
          <p:nvPr/>
        </p:nvSpPr>
        <p:spPr>
          <a:xfrm>
            <a:off x="9017813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5.2%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return rate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退货率</a:t>
            </a:r>
            <a:endParaRPr lang="en-US" sz="1500" dirty="0"/>
          </a:p>
        </p:txBody>
      </p:sp>
      <p:sp>
        <p:nvSpPr>
          <p:cNvPr id="35" name="Product stat flexguard 3"/>
          <p:cNvSpPr txBox="1"/>
          <p:nvPr/>
        </p:nvSpPr>
        <p:spPr>
          <a:xfrm>
            <a:off x="10248138" y="2441448"/>
            <a:ext cx="12303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defect reports</a:t>
            </a:r>
            <a:endParaRPr lang="en-US" sz="15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故障报告</a:t>
            </a:r>
            <a:endParaRPr lang="en-US" sz="1500" dirty="0"/>
          </a:p>
        </p:txBody>
      </p:sp>
      <p:sp>
        <p:nvSpPr>
          <p:cNvPr id="36" name="Focus flexguard"/>
          <p:cNvSpPr/>
          <p:nvPr/>
        </p:nvSpPr>
        <p:spPr>
          <a:xfrm>
            <a:off x="6415888" y="3063240"/>
            <a:ext cx="5044288" cy="1097280"/>
          </a:xfrm>
          <a:prstGeom prst="roundRect">
            <a:avLst>
              <a:gd name="adj" fmla="val 13333"/>
            </a:avLst>
          </a:prstGeom>
          <a:solidFill>
            <a:srgbClr val="EDE6DA"/>
          </a:solidFill>
          <a:ln/>
        </p:spPr>
      </p:sp>
      <p:sp>
        <p:nvSpPr>
          <p:cNvPr id="37" name="Focus badge flexguard"/>
          <p:cNvSpPr/>
          <p:nvPr/>
        </p:nvSpPr>
        <p:spPr>
          <a:xfrm>
            <a:off x="6580480" y="322783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Focus icon flexguar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4604" y="3311957"/>
            <a:ext cx="252374" cy="252374"/>
          </a:xfrm>
          <a:prstGeom prst="rect">
            <a:avLst/>
          </a:prstGeom>
        </p:spPr>
      </p:pic>
      <p:sp>
        <p:nvSpPr>
          <p:cNvPr id="39" name="Focus text flexguard"/>
          <p:cNvSpPr txBox="1"/>
          <p:nvPr/>
        </p:nvSpPr>
        <p:spPr>
          <a:xfrm>
            <a:off x="7165696" y="3191256"/>
            <a:ext cx="4129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MAIN ISSUE</a:t>
            </a:r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主要问题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Misses or pulls hairs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i="1" dirty="0">
                <a:solidFill>
                  <a:schemeClr val="tx1"/>
                </a:solidFill>
              </a:rPr>
              <a:t>“The head pulls out more hairs than it shaves.”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刀头拔掉的毛比剃掉的还多。</a:t>
            </a:r>
            <a:endParaRPr lang="en-US" sz="900" dirty="0"/>
          </a:p>
        </p:txBody>
      </p:sp>
      <p:sp>
        <p:nvSpPr>
          <p:cNvPr id="40" name="List head flexguard 1"/>
          <p:cNvSpPr txBox="1"/>
          <p:nvPr/>
        </p:nvSpPr>
        <p:spPr>
          <a:xfrm>
            <a:off x="6415888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DEFECT REPORTS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售后故障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4</a:t>
            </a:r>
            <a:endParaRPr lang="en-US" sz="850" dirty="0"/>
          </a:p>
        </p:txBody>
      </p:sp>
      <p:sp>
        <p:nvSpPr>
          <p:cNvPr id="41" name="List count flexguard 1 1"/>
          <p:cNvSpPr txBox="1"/>
          <p:nvPr/>
        </p:nvSpPr>
        <p:spPr>
          <a:xfrm>
            <a:off x="6415888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</a:t>
            </a:r>
            <a:endParaRPr lang="en-US" sz="1250" dirty="0"/>
          </a:p>
        </p:txBody>
      </p:sp>
      <p:sp>
        <p:nvSpPr>
          <p:cNvPr id="42" name="List item flexguard 1 1"/>
          <p:cNvSpPr txBox="1"/>
          <p:nvPr/>
        </p:nvSpPr>
        <p:spPr>
          <a:xfrm>
            <a:off x="6790792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Battery or charging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</a:t>
            </a:r>
            <a:endParaRPr lang="en-US" sz="950" dirty="0"/>
          </a:p>
        </p:txBody>
      </p:sp>
      <p:sp>
        <p:nvSpPr>
          <p:cNvPr id="43" name="List count flexguard 1 2"/>
          <p:cNvSpPr txBox="1"/>
          <p:nvPr/>
        </p:nvSpPr>
        <p:spPr>
          <a:xfrm>
            <a:off x="6415888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4" name="List item flexguard 1 2"/>
          <p:cNvSpPr txBox="1"/>
          <p:nvPr/>
        </p:nvSpPr>
        <p:spPr>
          <a:xfrm>
            <a:off x="6790792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Won't start, cuts out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无法启动或断电</a:t>
            </a:r>
            <a:endParaRPr lang="en-US" sz="950" dirty="0"/>
          </a:p>
        </p:txBody>
      </p:sp>
      <p:sp>
        <p:nvSpPr>
          <p:cNvPr id="45" name="List count flexguard 1 3"/>
          <p:cNvSpPr txBox="1"/>
          <p:nvPr/>
        </p:nvSpPr>
        <p:spPr>
          <a:xfrm>
            <a:off x="6415888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46" name="List item flexguard 1 3"/>
          <p:cNvSpPr txBox="1"/>
          <p:nvPr/>
        </p:nvSpPr>
        <p:spPr>
          <a:xfrm>
            <a:off x="6790792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Weak motor,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动力不足，拉扯毛发</a:t>
            </a:r>
            <a:endParaRPr lang="en-US" sz="950" dirty="0"/>
          </a:p>
        </p:txBody>
      </p:sp>
      <p:sp>
        <p:nvSpPr>
          <p:cNvPr id="47" name="List head flexguard 2"/>
          <p:cNvSpPr txBox="1"/>
          <p:nvPr/>
        </p:nvSpPr>
        <p:spPr>
          <a:xfrm>
            <a:off x="9075191" y="4224528"/>
            <a:ext cx="2384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chemeClr val="accent6"/>
                </a:solidFill>
              </a:rPr>
              <a:t>BOL.COM REVIEWS</a:t>
            </a:r>
            <a:pPr indent="0" marL="0">
              <a:buNone/>
            </a:pPr>
            <a:r>
              <a:rPr lang="en-US" sz="85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差评</a:t>
            </a:r>
            <a:pPr indent="0" marL="0">
              <a:buNone/>
            </a:pPr>
            <a:r>
              <a:rPr lang="en-US" sz="850" b="1" dirty="0">
                <a:solidFill>
                  <a:schemeClr val="tx1"/>
                </a:solidFill>
              </a:rPr>
              <a:t>   4</a:t>
            </a:r>
            <a:endParaRPr lang="en-US" sz="850" dirty="0"/>
          </a:p>
        </p:txBody>
      </p:sp>
      <p:sp>
        <p:nvSpPr>
          <p:cNvPr id="48" name="List count flexguard 2 1"/>
          <p:cNvSpPr txBox="1"/>
          <p:nvPr/>
        </p:nvSpPr>
        <p:spPr>
          <a:xfrm>
            <a:off x="9075191" y="4453128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49" name="List item flexguard 2 1"/>
          <p:cNvSpPr txBox="1"/>
          <p:nvPr/>
        </p:nvSpPr>
        <p:spPr>
          <a:xfrm>
            <a:off x="9450095" y="4453128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Misses or pulls hairs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漏剪或拉扯毛发</a:t>
            </a:r>
            <a:endParaRPr lang="en-US" sz="950" dirty="0"/>
          </a:p>
        </p:txBody>
      </p:sp>
      <p:sp>
        <p:nvSpPr>
          <p:cNvPr id="50" name="List count flexguard 2 2"/>
          <p:cNvSpPr txBox="1"/>
          <p:nvPr/>
        </p:nvSpPr>
        <p:spPr>
          <a:xfrm>
            <a:off x="9075191" y="4718304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</a:t>
            </a:r>
            <a:endParaRPr lang="en-US" sz="1250" dirty="0"/>
          </a:p>
        </p:txBody>
      </p:sp>
      <p:sp>
        <p:nvSpPr>
          <p:cNvPr id="51" name="List item flexguard 2 2"/>
          <p:cNvSpPr txBox="1"/>
          <p:nvPr/>
        </p:nvSpPr>
        <p:spPr>
          <a:xfrm>
            <a:off x="9450095" y="4718304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Parts do not match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配件与描述不符</a:t>
            </a:r>
            <a:endParaRPr lang="en-US" sz="950" dirty="0"/>
          </a:p>
        </p:txBody>
      </p:sp>
      <p:sp>
        <p:nvSpPr>
          <p:cNvPr id="52" name="List count flexguard 2 3"/>
          <p:cNvSpPr txBox="1"/>
          <p:nvPr/>
        </p:nvSpPr>
        <p:spPr>
          <a:xfrm>
            <a:off x="9075191" y="4983480"/>
            <a:ext cx="329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1</a:t>
            </a:r>
            <a:endParaRPr lang="en-US" sz="1250" dirty="0"/>
          </a:p>
        </p:txBody>
      </p:sp>
      <p:sp>
        <p:nvSpPr>
          <p:cNvPr id="53" name="List item flexguard 2 3"/>
          <p:cNvSpPr txBox="1"/>
          <p:nvPr/>
        </p:nvSpPr>
        <p:spPr>
          <a:xfrm>
            <a:off x="9450095" y="4983480"/>
            <a:ext cx="201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Cuts and irritation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划伤与刺激</a:t>
            </a:r>
            <a:endParaRPr lang="en-US" sz="950" dirty="0"/>
          </a:p>
        </p:txBody>
      </p:sp>
      <p:sp>
        <p:nvSpPr>
          <p:cNvPr id="54" name="Ask card flexguard"/>
          <p:cNvSpPr/>
          <p:nvPr/>
        </p:nvSpPr>
        <p:spPr>
          <a:xfrm>
            <a:off x="6415888" y="5340096"/>
            <a:ext cx="5044288" cy="502920"/>
          </a:xfrm>
          <a:prstGeom prst="roundRect">
            <a:avLst>
              <a:gd name="adj" fmla="val 29091"/>
            </a:avLst>
          </a:prstGeom>
          <a:solidFill>
            <a:srgbClr val="F5F1EA"/>
          </a:solidFill>
          <a:ln/>
        </p:spPr>
      </p:sp>
      <p:sp>
        <p:nvSpPr>
          <p:cNvPr id="55" name="Ask flexguard"/>
          <p:cNvSpPr txBox="1"/>
          <p:nvPr/>
        </p:nvSpPr>
        <p:spPr>
          <a:xfrm>
            <a:off x="6553048" y="5394960"/>
            <a:ext cx="4769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50" b="1" spc="200" kern="0" dirty="0">
                <a:solidFill>
                  <a:schemeClr val="accent1"/>
                </a:solidFill>
              </a:rPr>
              <a:t>OUR ASK</a:t>
            </a:r>
            <a:pPr indent="0" marL="0">
              <a:spcAft>
                <a:spcPts val="100"/>
              </a:spcAft>
              <a:buNone/>
            </a:pPr>
            <a:r>
              <a:rPr lang="en-US" sz="85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我们的期望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More power, catches every hair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动力更强，不漏毛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b="1" dirty="0">
                <a:solidFill>
                  <a:schemeClr val="tx1"/>
                </a:solidFill>
              </a:rPr>
              <a:t>→  Combs and attachments as described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限位梳与配件与描述一致</a:t>
            </a:r>
            <a:endParaRPr lang="en-US" sz="1000" dirty="0"/>
          </a:p>
        </p:txBody>
      </p:sp>
      <p:sp>
        <p:nvSpPr>
          <p:cNvPr id="56" name="Review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bol.com sales, returns and 1 to 3 star reviews; Wellshave customer service defect log. All 1 January to 15 October 2026. Quotes translated from Dutch.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数据来源：bol.com 销量、退货及 1 至 3 星评价；Wellshave 售后故障记录。时间均为 2026 年 1 月 1 日至 10 月 15 日。引文译自荷兰语。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and lifespan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续航更长，电池寿命更长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Certified adapter with fixed cable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标配认证的一体式适配器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</a:rPr>
              <a:t>So customers always charge correctly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确保客户始终正确充电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639312"/>
          </a:xfrm>
          <a:prstGeom prst="roundRect">
            <a:avLst>
              <a:gd name="adj" fmla="val 4162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559552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in 2026, 146 of the 215 defect reports on your products were about the battery or charging. Each one costs a new device and a disappointed customer.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年，贵司产品的 215 起故障报告中有 146 起与电池或充电有关。每一起都意味着一台新机和一位失望的客户。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Wellshave standard for every product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全系产品标准</a:t>
            </a:r>
            <a:endParaRPr lang="en-US" sz="2000" dirty="0"/>
          </a:p>
        </p:txBody>
      </p:sp>
      <p:sp>
        <p:nvSpPr>
          <p:cNvPr id="4" name="Standard card 1"/>
          <p:cNvSpPr/>
          <p:nvPr/>
        </p:nvSpPr>
        <p:spPr>
          <a:xfrm>
            <a:off x="548640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5" name="Standard badge 1"/>
          <p:cNvSpPr/>
          <p:nvPr/>
        </p:nvSpPr>
        <p:spPr>
          <a:xfrm>
            <a:off x="777240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Standar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84248"/>
            <a:ext cx="292608" cy="292608"/>
          </a:xfrm>
          <a:prstGeom prst="rect">
            <a:avLst/>
          </a:prstGeom>
        </p:spPr>
      </p:pic>
      <p:sp>
        <p:nvSpPr>
          <p:cNvPr id="7" name="Standard title 1"/>
          <p:cNvSpPr txBox="1"/>
          <p:nvPr/>
        </p:nvSpPr>
        <p:spPr>
          <a:xfrm>
            <a:off x="1417320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Certified adapter in every box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每台标配认证适配器</a:t>
            </a:r>
            <a:endParaRPr lang="en-US" sz="1350" dirty="0"/>
          </a:p>
        </p:txBody>
      </p:sp>
      <p:sp>
        <p:nvSpPr>
          <p:cNvPr id="8" name="Standard text 1"/>
          <p:cNvSpPr txBox="1"/>
          <p:nvPr/>
        </p:nvSpPr>
        <p:spPr>
          <a:xfrm>
            <a:off x="777240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CE and GS certified, EU plug, cable fixed to the adapter, output matched to the device.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CE 和 GS 认证，欧标插头，线缆与适配器一体，输出与设备匹配。</a:t>
            </a:r>
            <a:endParaRPr lang="en-US" sz="1050" dirty="0"/>
          </a:p>
        </p:txBody>
      </p:sp>
      <p:sp>
        <p:nvSpPr>
          <p:cNvPr id="9" name="Standard card 2"/>
          <p:cNvSpPr/>
          <p:nvPr/>
        </p:nvSpPr>
        <p:spPr>
          <a:xfrm>
            <a:off x="4322978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10" name="Standard badge 2"/>
          <p:cNvSpPr/>
          <p:nvPr/>
        </p:nvSpPr>
        <p:spPr>
          <a:xfrm>
            <a:off x="4551578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andar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306" y="1984248"/>
            <a:ext cx="292608" cy="292608"/>
          </a:xfrm>
          <a:prstGeom prst="rect">
            <a:avLst/>
          </a:prstGeom>
        </p:spPr>
      </p:pic>
      <p:sp>
        <p:nvSpPr>
          <p:cNvPr id="12" name="Standard title 2"/>
          <p:cNvSpPr txBox="1"/>
          <p:nvPr/>
        </p:nvSpPr>
        <p:spPr>
          <a:xfrm>
            <a:off x="5191658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A battery that keeps the promise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电池达到承诺的续航</a:t>
            </a:r>
            <a:endParaRPr lang="en-US" sz="1350" dirty="0"/>
          </a:p>
        </p:txBody>
      </p:sp>
      <p:sp>
        <p:nvSpPr>
          <p:cNvPr id="13" name="Standard text 2"/>
          <p:cNvSpPr txBox="1"/>
          <p:nvPr/>
        </p:nvSpPr>
        <p:spPr>
          <a:xfrm>
            <a:off x="4551578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Branded grade A cell. The real runtime matches what we advertise. At least 500 cycles.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 A 级电芯，实际续航与宣传一致，循环寿命至少 500 次。</a:t>
            </a:r>
            <a:endParaRPr lang="en-US" sz="1050" dirty="0"/>
          </a:p>
        </p:txBody>
      </p:sp>
      <p:sp>
        <p:nvSpPr>
          <p:cNvPr id="14" name="Standard card 3"/>
          <p:cNvSpPr/>
          <p:nvPr/>
        </p:nvSpPr>
        <p:spPr>
          <a:xfrm>
            <a:off x="8097317" y="1645920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15" name="Standard badge 3"/>
          <p:cNvSpPr/>
          <p:nvPr/>
        </p:nvSpPr>
        <p:spPr>
          <a:xfrm>
            <a:off x="8325917" y="18745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Standard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645" y="1984248"/>
            <a:ext cx="292608" cy="292608"/>
          </a:xfrm>
          <a:prstGeom prst="rect">
            <a:avLst/>
          </a:prstGeom>
        </p:spPr>
      </p:pic>
      <p:sp>
        <p:nvSpPr>
          <p:cNvPr id="17" name="Standard title 3"/>
          <p:cNvSpPr txBox="1"/>
          <p:nvPr/>
        </p:nvSpPr>
        <p:spPr>
          <a:xfrm>
            <a:off x="8965997" y="1828800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Safe charging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安全充电</a:t>
            </a:r>
            <a:endParaRPr lang="en-US" sz="1350" dirty="0"/>
          </a:p>
        </p:txBody>
      </p:sp>
      <p:sp>
        <p:nvSpPr>
          <p:cNvPr id="18" name="Standard text 3"/>
          <p:cNvSpPr txBox="1"/>
          <p:nvPr/>
        </p:nvSpPr>
        <p:spPr>
          <a:xfrm>
            <a:off x="8325917" y="2487168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Protection against overcharge, deep discharge, short circuit and heat. Over-voltage protection on the input.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防过充、过放、短路和过热保护，充电输入端过压保护。</a:t>
            </a:r>
            <a:endParaRPr lang="en-US" sz="1050" dirty="0"/>
          </a:p>
        </p:txBody>
      </p:sp>
      <p:sp>
        <p:nvSpPr>
          <p:cNvPr id="19" name="Standard card 4"/>
          <p:cNvSpPr/>
          <p:nvPr/>
        </p:nvSpPr>
        <p:spPr>
          <a:xfrm>
            <a:off x="548640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20" name="Standard badge 4"/>
          <p:cNvSpPr/>
          <p:nvPr/>
        </p:nvSpPr>
        <p:spPr>
          <a:xfrm>
            <a:off x="777240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Standard 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758184"/>
            <a:ext cx="292608" cy="292608"/>
          </a:xfrm>
          <a:prstGeom prst="rect">
            <a:avLst/>
          </a:prstGeom>
        </p:spPr>
      </p:pic>
      <p:sp>
        <p:nvSpPr>
          <p:cNvPr id="22" name="Standard title 4"/>
          <p:cNvSpPr txBox="1"/>
          <p:nvPr/>
        </p:nvSpPr>
        <p:spPr>
          <a:xfrm>
            <a:off x="1417320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A charging port that lasts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耐用的充电接口</a:t>
            </a:r>
            <a:endParaRPr lang="en-US" sz="1350" dirty="0"/>
          </a:p>
        </p:txBody>
      </p:sp>
      <p:sp>
        <p:nvSpPr>
          <p:cNvPr id="23" name="Standard text 4"/>
          <p:cNvSpPr txBox="1"/>
          <p:nvPr/>
        </p:nvSpPr>
        <p:spPr>
          <a:xfrm>
            <a:off x="777240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USB-C or a stable dock. The plug sits tight, also after a year of daily use.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USB-C 接口或稳固底座，每天使用一年后插头仍然牢固。</a:t>
            </a:r>
            <a:endParaRPr lang="en-US" sz="1050" dirty="0"/>
          </a:p>
        </p:txBody>
      </p:sp>
      <p:sp>
        <p:nvSpPr>
          <p:cNvPr id="24" name="Standard card 5"/>
          <p:cNvSpPr/>
          <p:nvPr/>
        </p:nvSpPr>
        <p:spPr>
          <a:xfrm>
            <a:off x="4322978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25" name="Standard badge 5"/>
          <p:cNvSpPr/>
          <p:nvPr/>
        </p:nvSpPr>
        <p:spPr>
          <a:xfrm>
            <a:off x="4551578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Standard icon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1306" y="3758184"/>
            <a:ext cx="292608" cy="292608"/>
          </a:xfrm>
          <a:prstGeom prst="rect">
            <a:avLst/>
          </a:prstGeom>
        </p:spPr>
      </p:pic>
      <p:sp>
        <p:nvSpPr>
          <p:cNvPr id="27" name="Standard title 5"/>
          <p:cNvSpPr txBox="1"/>
          <p:nvPr/>
        </p:nvSpPr>
        <p:spPr>
          <a:xfrm>
            <a:off x="5191658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A complete box, every time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每一台都包装齐全</a:t>
            </a:r>
            <a:endParaRPr lang="en-US" sz="1350" dirty="0"/>
          </a:p>
        </p:txBody>
      </p:sp>
      <p:sp>
        <p:nvSpPr>
          <p:cNvPr id="28" name="Standard text 5"/>
          <p:cNvSpPr txBox="1"/>
          <p:nvPr/>
        </p:nvSpPr>
        <p:spPr>
          <a:xfrm>
            <a:off x="4551578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Cable, adapter and every attachment checked before sealing. The manual matches the product.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封箱前检查数据线、适配器和所有配件，说明书与产品一致。</a:t>
            </a:r>
            <a:endParaRPr lang="en-US" sz="1050" dirty="0"/>
          </a:p>
        </p:txBody>
      </p:sp>
      <p:sp>
        <p:nvSpPr>
          <p:cNvPr id="29" name="Standard card 6"/>
          <p:cNvSpPr/>
          <p:nvPr/>
        </p:nvSpPr>
        <p:spPr>
          <a:xfrm>
            <a:off x="8097317" y="3419856"/>
            <a:ext cx="3545738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</p:spPr>
      </p:sp>
      <p:sp>
        <p:nvSpPr>
          <p:cNvPr id="30" name="Standard badge 6"/>
          <p:cNvSpPr/>
          <p:nvPr/>
        </p:nvSpPr>
        <p:spPr>
          <a:xfrm>
            <a:off x="8325917" y="364845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Standard icon 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645" y="3758184"/>
            <a:ext cx="292608" cy="292608"/>
          </a:xfrm>
          <a:prstGeom prst="rect">
            <a:avLst/>
          </a:prstGeom>
        </p:spPr>
      </p:pic>
      <p:sp>
        <p:nvSpPr>
          <p:cNvPr id="32" name="Standard title 6"/>
          <p:cNvSpPr txBox="1"/>
          <p:nvPr/>
        </p:nvSpPr>
        <p:spPr>
          <a:xfrm>
            <a:off x="8965997" y="3602736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350" b="1" dirty="0">
                <a:solidFill>
                  <a:schemeClr val="tx1"/>
                </a:solidFill>
              </a:rPr>
              <a:t>Tested before shipping</a:t>
            </a:r>
            <a:endParaRPr lang="en-US" sz="13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出货前测试</a:t>
            </a:r>
            <a:endParaRPr lang="en-US" sz="1350" dirty="0"/>
          </a:p>
        </p:txBody>
      </p:sp>
      <p:sp>
        <p:nvSpPr>
          <p:cNvPr id="33" name="Standard text 6"/>
          <p:cNvSpPr txBox="1"/>
          <p:nvPr/>
        </p:nvSpPr>
        <p:spPr>
          <a:xfrm>
            <a:off x="8325917" y="4261104"/>
            <a:ext cx="31342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100% charge and run test, battery aging test, and our inspection before every shipment.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充电与运行测试、电池老化测试，每批出货前由我方验货。</a:t>
            </a:r>
            <a:endParaRPr lang="en-US" sz="1050" dirty="0"/>
          </a:p>
        </p:txBody>
      </p:sp>
      <p:sp>
        <p:nvSpPr>
          <p:cNvPr id="34" name="Documents box"/>
          <p:cNvSpPr/>
          <p:nvPr/>
        </p:nvSpPr>
        <p:spPr>
          <a:xfrm>
            <a:off x="548640" y="5175504"/>
            <a:ext cx="11094415" cy="1152144"/>
          </a:xfrm>
          <a:prstGeom prst="roundRect">
            <a:avLst>
              <a:gd name="adj" fmla="val 12698"/>
            </a:avLst>
          </a:prstGeom>
          <a:solidFill>
            <a:srgbClr val="EDE6DA"/>
          </a:solidFill>
          <a:ln/>
        </p:spPr>
      </p:sp>
      <p:pic>
        <p:nvPicPr>
          <p:cNvPr id="35" name="Document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58384"/>
            <a:ext cx="329184" cy="329184"/>
          </a:xfrm>
          <a:prstGeom prst="rect">
            <a:avLst/>
          </a:prstGeom>
        </p:spPr>
      </p:pic>
      <p:sp>
        <p:nvSpPr>
          <p:cNvPr id="36" name="Documents"/>
          <p:cNvSpPr txBox="1"/>
          <p:nvPr/>
        </p:nvSpPr>
        <p:spPr>
          <a:xfrm>
            <a:off x="1280160" y="5285232"/>
            <a:ext cx="1018001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Please share per product: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CE (LVD and EMC), RoHS, battery IEC 62133-2, UN38.3 and MSDS, adapter certificates. </a:t>
            </a:r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New EU rule from 18 February 2027: 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batteries in new products must be replaceable. Let's design the 2027 models for it.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请提供每款产品的 CE（LVD 与 EMC）、RoHS、电池 IEC 62133-2、UN38.3 与 MSDS 报告及适配器认证。欧盟自 2027 年 2 月 18 日起要求新产品电池可更换，2027 年新款请按此设计。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Upgrade ideas: shavers and beard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升级建议：剃须刀与胡须修剪器</a:t>
            </a:r>
            <a:endParaRPr lang="en-US" sz="2000" dirty="0"/>
          </a:p>
        </p:txBody>
      </p:sp>
      <p:pic>
        <p:nvPicPr>
          <p:cNvPr id="4" name="Upgrade hea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27632"/>
            <a:ext cx="201168" cy="201168"/>
          </a:xfrm>
          <a:prstGeom prst="rect">
            <a:avLst/>
          </a:prstGeom>
        </p:spPr>
      </p:pic>
      <p:sp>
        <p:nvSpPr>
          <p:cNvPr id="5" name="Upgrade head 1"/>
          <p:cNvSpPr txBox="1"/>
          <p:nvPr/>
        </p:nvSpPr>
        <p:spPr>
          <a:xfrm>
            <a:off x="3886200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FIX FIRST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优先解决</a:t>
            </a:r>
            <a:endParaRPr lang="en-US" sz="1000" dirty="0"/>
          </a:p>
        </p:txBody>
      </p:sp>
      <p:pic>
        <p:nvPicPr>
          <p:cNvPr id="6" name="Upgrade hea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348" y="1627632"/>
            <a:ext cx="201168" cy="201168"/>
          </a:xfrm>
          <a:prstGeom prst="rect">
            <a:avLst/>
          </a:prstGeom>
        </p:spPr>
      </p:pic>
      <p:sp>
        <p:nvSpPr>
          <p:cNvPr id="7" name="Upgrade head 2"/>
          <p:cNvSpPr txBox="1"/>
          <p:nvPr/>
        </p:nvSpPr>
        <p:spPr>
          <a:xfrm>
            <a:off x="8084668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ADD OR IMPROVE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新增或改进</a:t>
            </a:r>
            <a:endParaRPr lang="en-US" sz="1000" dirty="0"/>
          </a:p>
        </p:txBody>
      </p:sp>
      <p:sp>
        <p:nvSpPr>
          <p:cNvPr id="8" name="Upgrade row 1"/>
          <p:cNvSpPr/>
          <p:nvPr/>
        </p:nvSpPr>
        <p:spPr>
          <a:xfrm>
            <a:off x="548640" y="1956816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9" name="Upgrade photo 1" descr="Shaver Elite 4-in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20824"/>
            <a:ext cx="577901" cy="577901"/>
          </a:xfrm>
          <a:prstGeom prst="rect">
            <a:avLst/>
          </a:prstGeom>
        </p:spPr>
      </p:pic>
      <p:sp>
        <p:nvSpPr>
          <p:cNvPr id="10" name="Upgrade product 1"/>
          <p:cNvSpPr txBox="1"/>
          <p:nvPr/>
        </p:nvSpPr>
        <p:spPr>
          <a:xfrm>
            <a:off x="1373429" y="1956816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Shaver Elite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Elite 四合一剃须刀</a:t>
            </a:r>
            <a:endParaRPr lang="en-US" sz="1200" dirty="0"/>
          </a:p>
        </p:txBody>
      </p:sp>
      <p:sp>
        <p:nvSpPr>
          <p:cNvPr id="11" name="Upgrade fix 1"/>
          <p:cNvSpPr txBox="1"/>
          <p:nvPr/>
        </p:nvSpPr>
        <p:spPr>
          <a:xfrm>
            <a:off x="3611880" y="195681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 or charging: 37 of 54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电池或充电：54 起故障中 37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Head clip, hinge and spring break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刀头卡扣、铰链和弹簧易断</a:t>
            </a:r>
            <a:endParaRPr lang="en-US" sz="1050" dirty="0"/>
          </a:p>
        </p:txBody>
      </p:sp>
      <p:sp>
        <p:nvSpPr>
          <p:cNvPr id="12" name="Upgrade add 1"/>
          <p:cNvSpPr txBox="1"/>
          <p:nvPr/>
        </p:nvSpPr>
        <p:spPr>
          <a:xfrm>
            <a:off x="7810348" y="195681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Bigger battery for a real 90 min (now 60)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更大电池，实际续航 90 分钟（现为 60）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More power for a closer shave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更强动力，剃得更干净</a:t>
            </a:r>
            <a:endParaRPr lang="en-US" sz="1050" dirty="0"/>
          </a:p>
        </p:txBody>
      </p:sp>
      <p:sp>
        <p:nvSpPr>
          <p:cNvPr id="13" name="Upgrade divider 1"/>
          <p:cNvSpPr/>
          <p:nvPr/>
        </p:nvSpPr>
        <p:spPr>
          <a:xfrm>
            <a:off x="7627468" y="208483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4" name="Upgrade divider fix 1"/>
          <p:cNvSpPr/>
          <p:nvPr/>
        </p:nvSpPr>
        <p:spPr>
          <a:xfrm>
            <a:off x="3429000" y="208483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Upgrade row 2"/>
          <p:cNvSpPr/>
          <p:nvPr/>
        </p:nvSpPr>
        <p:spPr>
          <a:xfrm>
            <a:off x="548640" y="2754173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16" name="Upgrade photo 2" descr="Head Shaver Delux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818181"/>
            <a:ext cx="577901" cy="577901"/>
          </a:xfrm>
          <a:prstGeom prst="rect">
            <a:avLst/>
          </a:prstGeom>
        </p:spPr>
      </p:pic>
      <p:sp>
        <p:nvSpPr>
          <p:cNvPr id="17" name="Upgrade product 2"/>
          <p:cNvSpPr txBox="1"/>
          <p:nvPr/>
        </p:nvSpPr>
        <p:spPr>
          <a:xfrm>
            <a:off x="1373429" y="2754173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Head Shaver Deluxe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Deluxe 光头剃须刀</a:t>
            </a:r>
            <a:endParaRPr lang="en-US" sz="1200" dirty="0"/>
          </a:p>
        </p:txBody>
      </p:sp>
      <p:sp>
        <p:nvSpPr>
          <p:cNvPr id="18" name="Upgrade fix 2"/>
          <p:cNvSpPr txBox="1"/>
          <p:nvPr/>
        </p:nvSpPr>
        <p:spPr>
          <a:xfrm>
            <a:off x="3611880" y="275417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28 of 39 defects, % drops to 0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电池：39 起故障中 28 起，电量骤降为 0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Blades go dull, heads come loose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刀片变钝，刀头松动</a:t>
            </a:r>
            <a:endParaRPr lang="en-US" sz="1050" dirty="0"/>
          </a:p>
        </p:txBody>
      </p:sp>
      <p:sp>
        <p:nvSpPr>
          <p:cNvPr id="19" name="Upgrade add 2"/>
          <p:cNvSpPr txBox="1"/>
          <p:nvPr/>
        </p:nvSpPr>
        <p:spPr>
          <a:xfrm>
            <a:off x="7810348" y="275417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Accurate battery display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准确的电量显示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Own barcode per head, updated manual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每款刀头独立条码，更新说明书</a:t>
            </a:r>
            <a:endParaRPr lang="en-US" sz="1050" dirty="0"/>
          </a:p>
        </p:txBody>
      </p:sp>
      <p:sp>
        <p:nvSpPr>
          <p:cNvPr id="20" name="Upgrade divider 2"/>
          <p:cNvSpPr/>
          <p:nvPr/>
        </p:nvSpPr>
        <p:spPr>
          <a:xfrm>
            <a:off x="7627468" y="288218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1" name="Upgrade divider fix 2"/>
          <p:cNvSpPr/>
          <p:nvPr/>
        </p:nvSpPr>
        <p:spPr>
          <a:xfrm>
            <a:off x="3429000" y="288218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2" name="Upgrade row 3"/>
          <p:cNvSpPr/>
          <p:nvPr/>
        </p:nvSpPr>
        <p:spPr>
          <a:xfrm>
            <a:off x="548640" y="3551530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23" name="Upgrade photo 3" descr="Foil Shaver Blade Bar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5538"/>
            <a:ext cx="577901" cy="577901"/>
          </a:xfrm>
          <a:prstGeom prst="rect">
            <a:avLst/>
          </a:prstGeom>
        </p:spPr>
      </p:pic>
      <p:sp>
        <p:nvSpPr>
          <p:cNvPr id="24" name="Upgrade product 3"/>
          <p:cNvSpPr txBox="1"/>
          <p:nvPr/>
        </p:nvSpPr>
        <p:spPr>
          <a:xfrm>
            <a:off x="1373429" y="3551530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Blade Baron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Blade Baron 往复式剃须刀</a:t>
            </a:r>
            <a:endParaRPr lang="en-US" sz="1200" dirty="0"/>
          </a:p>
        </p:txBody>
      </p:sp>
      <p:sp>
        <p:nvSpPr>
          <p:cNvPr id="25" name="Upgrade fix 3"/>
          <p:cNvSpPr txBox="1"/>
          <p:nvPr/>
        </p:nvSpPr>
        <p:spPr>
          <a:xfrm>
            <a:off x="3611880" y="3551530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Pulls hairs, highest returns (5.6%)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拉扯毛发，退货率最高（5.6%）</a:t>
            </a:r>
            <a:endParaRPr lang="en-US" sz="1050" dirty="0"/>
          </a:p>
        </p:txBody>
      </p:sp>
      <p:sp>
        <p:nvSpPr>
          <p:cNvPr id="26" name="Upgrade add 3"/>
          <p:cNvSpPr txBox="1"/>
          <p:nvPr/>
        </p:nvSpPr>
        <p:spPr>
          <a:xfrm>
            <a:off x="7810348" y="3551530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Spare foil and cutter sold separately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刀网和刀片单独作为配件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Fully waterproof for the shower (IPX7)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全身水洗，可在淋浴时使用（IPX7）</a:t>
            </a:r>
            <a:endParaRPr lang="en-US" sz="1050" dirty="0"/>
          </a:p>
        </p:txBody>
      </p:sp>
      <p:sp>
        <p:nvSpPr>
          <p:cNvPr id="27" name="Upgrade divider 3"/>
          <p:cNvSpPr/>
          <p:nvPr/>
        </p:nvSpPr>
        <p:spPr>
          <a:xfrm>
            <a:off x="7627468" y="3679546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8" name="Upgrade divider fix 3"/>
          <p:cNvSpPr/>
          <p:nvPr/>
        </p:nvSpPr>
        <p:spPr>
          <a:xfrm>
            <a:off x="3429000" y="3679546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9" name="Upgrade row 4"/>
          <p:cNvSpPr/>
          <p:nvPr/>
        </p:nvSpPr>
        <p:spPr>
          <a:xfrm>
            <a:off x="548640" y="4348886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30" name="Upgrade photo 4" descr="Beard Trimmer Pro 5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12894"/>
            <a:ext cx="577901" cy="577901"/>
          </a:xfrm>
          <a:prstGeom prst="rect">
            <a:avLst/>
          </a:prstGeom>
        </p:spPr>
      </p:pic>
      <p:sp>
        <p:nvSpPr>
          <p:cNvPr id="31" name="Upgrade product 4"/>
          <p:cNvSpPr txBox="1"/>
          <p:nvPr/>
        </p:nvSpPr>
        <p:spPr>
          <a:xfrm>
            <a:off x="1373429" y="4348886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Beard Trimmer Pro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 五合一胡须修剪器</a:t>
            </a:r>
            <a:endParaRPr lang="en-US" sz="1200" dirty="0"/>
          </a:p>
        </p:txBody>
      </p:sp>
      <p:sp>
        <p:nvSpPr>
          <p:cNvPr id="32" name="Upgrade fix 4"/>
          <p:cNvSpPr txBox="1"/>
          <p:nvPr/>
        </p:nvSpPr>
        <p:spPr>
          <a:xfrm>
            <a:off x="3611880" y="434888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10 of 15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电池：15 起故障中 10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Heat or smell while charging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充电时发热或有异味</a:t>
            </a:r>
            <a:endParaRPr lang="en-US" sz="1050" dirty="0"/>
          </a:p>
        </p:txBody>
      </p:sp>
      <p:sp>
        <p:nvSpPr>
          <p:cNvPr id="33" name="Upgrade add 4"/>
          <p:cNvSpPr txBox="1"/>
          <p:nvPr/>
        </p:nvSpPr>
        <p:spPr>
          <a:xfrm>
            <a:off x="7810348" y="4348886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Li-ion instead of NiMH 2.4 V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用锂电池替代 2.4V 镍氢电池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Charge in 1.5 h instead of 5 h, battery display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 1.5 小时（现 5 小时），电量显示</a:t>
            </a:r>
            <a:endParaRPr lang="en-US" sz="1050" dirty="0"/>
          </a:p>
        </p:txBody>
      </p:sp>
      <p:sp>
        <p:nvSpPr>
          <p:cNvPr id="34" name="Upgrade divider 4"/>
          <p:cNvSpPr/>
          <p:nvPr/>
        </p:nvSpPr>
        <p:spPr>
          <a:xfrm>
            <a:off x="7627468" y="447690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5" name="Upgrade divider fix 4"/>
          <p:cNvSpPr/>
          <p:nvPr/>
        </p:nvSpPr>
        <p:spPr>
          <a:xfrm>
            <a:off x="3429000" y="4476902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36" name="Upgrade row 5"/>
          <p:cNvSpPr/>
          <p:nvPr/>
        </p:nvSpPr>
        <p:spPr>
          <a:xfrm>
            <a:off x="548640" y="5146243"/>
            <a:ext cx="11094415" cy="705917"/>
          </a:xfrm>
          <a:prstGeom prst="roundRect">
            <a:avLst>
              <a:gd name="adj" fmla="val 20725"/>
            </a:avLst>
          </a:prstGeom>
          <a:solidFill>
            <a:srgbClr val="FFFFFF"/>
          </a:solidFill>
          <a:ln/>
        </p:spPr>
      </p:sp>
      <p:pic>
        <p:nvPicPr>
          <p:cNvPr id="37" name="Upgrade photo 5" descr="Beard Trimmer Supreme 6-in-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210251"/>
            <a:ext cx="577901" cy="577901"/>
          </a:xfrm>
          <a:prstGeom prst="rect">
            <a:avLst/>
          </a:prstGeom>
        </p:spPr>
      </p:pic>
      <p:sp>
        <p:nvSpPr>
          <p:cNvPr id="38" name="Upgrade product 5"/>
          <p:cNvSpPr txBox="1"/>
          <p:nvPr/>
        </p:nvSpPr>
        <p:spPr>
          <a:xfrm>
            <a:off x="1373429" y="5146243"/>
            <a:ext cx="1890979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Beard Trimmer Supreme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Supreme 六合一胡须修剪器</a:t>
            </a:r>
            <a:endParaRPr lang="en-US" sz="1200" dirty="0"/>
          </a:p>
        </p:txBody>
      </p:sp>
      <p:sp>
        <p:nvSpPr>
          <p:cNvPr id="39" name="Upgrade fix 5"/>
          <p:cNvSpPr txBox="1"/>
          <p:nvPr/>
        </p:nvSpPr>
        <p:spPr>
          <a:xfrm>
            <a:off x="3611880" y="514624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26 of 36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电池：36 起故障中 26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Switches itself on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自行开机</a:t>
            </a:r>
            <a:endParaRPr lang="en-US" sz="1050" dirty="0"/>
          </a:p>
        </p:txBody>
      </p:sp>
      <p:sp>
        <p:nvSpPr>
          <p:cNvPr id="40" name="Upgrade add 5"/>
          <p:cNvSpPr txBox="1"/>
          <p:nvPr/>
        </p:nvSpPr>
        <p:spPr>
          <a:xfrm>
            <a:off x="7810348" y="5146243"/>
            <a:ext cx="3741268" cy="7059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Short guide combs, 0.5 to 2 mm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 至 2 毫米短限位梳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More even trimming result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修剪更均匀</a:t>
            </a:r>
            <a:endParaRPr lang="en-US" sz="1050" dirty="0"/>
          </a:p>
        </p:txBody>
      </p:sp>
      <p:sp>
        <p:nvSpPr>
          <p:cNvPr id="41" name="Upgrade divider 5"/>
          <p:cNvSpPr/>
          <p:nvPr/>
        </p:nvSpPr>
        <p:spPr>
          <a:xfrm>
            <a:off x="7627468" y="527425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2" name="Upgrade divider fix 5"/>
          <p:cNvSpPr/>
          <p:nvPr/>
        </p:nvSpPr>
        <p:spPr>
          <a:xfrm>
            <a:off x="3429000" y="5274259"/>
            <a:ext cx="0" cy="449885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3" name="Upgrade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Wellshave customer service defect log and bol.com reviews, 1 January to 15 October 2026; battery specifications from the factory pro forma invoices.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售后故障记录与 bol.com 评价（2026年1月1日至10月15日）；电池规格来自工厂形式发票。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Upgrade ideas: body groomers and nose trimmers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升级建议：身体修剪器与鼻毛修剪器</a:t>
            </a:r>
            <a:endParaRPr lang="en-US" sz="2000" dirty="0"/>
          </a:p>
        </p:txBody>
      </p:sp>
      <p:pic>
        <p:nvPicPr>
          <p:cNvPr id="4" name="Upgrade head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1627632"/>
            <a:ext cx="201168" cy="201168"/>
          </a:xfrm>
          <a:prstGeom prst="rect">
            <a:avLst/>
          </a:prstGeom>
        </p:spPr>
      </p:pic>
      <p:sp>
        <p:nvSpPr>
          <p:cNvPr id="5" name="Upgrade head 1"/>
          <p:cNvSpPr txBox="1"/>
          <p:nvPr/>
        </p:nvSpPr>
        <p:spPr>
          <a:xfrm>
            <a:off x="3886200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FIX FIRST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优先解决</a:t>
            </a:r>
            <a:endParaRPr lang="en-US" sz="1000" dirty="0"/>
          </a:p>
        </p:txBody>
      </p:sp>
      <p:pic>
        <p:nvPicPr>
          <p:cNvPr id="6" name="Upgrade head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348" y="1627632"/>
            <a:ext cx="201168" cy="201168"/>
          </a:xfrm>
          <a:prstGeom prst="rect">
            <a:avLst/>
          </a:prstGeom>
        </p:spPr>
      </p:pic>
      <p:sp>
        <p:nvSpPr>
          <p:cNvPr id="7" name="Upgrade head 2"/>
          <p:cNvSpPr txBox="1"/>
          <p:nvPr/>
        </p:nvSpPr>
        <p:spPr>
          <a:xfrm>
            <a:off x="8084668" y="1627632"/>
            <a:ext cx="35583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ADD OR IMPROVE</a:t>
            </a:r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新增或改进</a:t>
            </a:r>
            <a:endParaRPr lang="en-US" sz="1000" dirty="0"/>
          </a:p>
        </p:txBody>
      </p:sp>
      <p:sp>
        <p:nvSpPr>
          <p:cNvPr id="8" name="Upgrade row 1"/>
          <p:cNvSpPr/>
          <p:nvPr/>
        </p:nvSpPr>
        <p:spPr>
          <a:xfrm>
            <a:off x="548640" y="19568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9" name="Upgrade photo 1" descr="Body Groomer Groom Gu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039112"/>
            <a:ext cx="658368" cy="658368"/>
          </a:xfrm>
          <a:prstGeom prst="rect">
            <a:avLst/>
          </a:prstGeom>
        </p:spPr>
      </p:pic>
      <p:sp>
        <p:nvSpPr>
          <p:cNvPr id="10" name="Upgrade product 1"/>
          <p:cNvSpPr txBox="1"/>
          <p:nvPr/>
        </p:nvSpPr>
        <p:spPr>
          <a:xfrm>
            <a:off x="1453896" y="19568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Groom Guard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Groom Guard 身体修剪器</a:t>
            </a:r>
            <a:endParaRPr lang="en-US" sz="1200" dirty="0"/>
          </a:p>
        </p:txBody>
      </p:sp>
      <p:sp>
        <p:nvSpPr>
          <p:cNvPr id="11" name="Upgrade fix 1"/>
          <p:cNvSpPr txBox="1"/>
          <p:nvPr/>
        </p:nvSpPr>
        <p:spPr>
          <a:xfrm>
            <a:off x="3611880" y="19568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Battery: 27 of 35 defects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电池：35 起故障中 27 起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Charging stand tips over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充电底座容易倾倒</a:t>
            </a:r>
            <a:endParaRPr lang="en-US" sz="1050" dirty="0"/>
          </a:p>
        </p:txBody>
      </p:sp>
      <p:sp>
        <p:nvSpPr>
          <p:cNvPr id="12" name="Upgrade add 1"/>
          <p:cNvSpPr txBox="1"/>
          <p:nvPr/>
        </p:nvSpPr>
        <p:spPr>
          <a:xfrm>
            <a:off x="7810348" y="19568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Heavier or magnetic stand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更重或磁吸式底座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Gentler on sensitive skin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对敏感肌肤更温和</a:t>
            </a:r>
            <a:endParaRPr lang="en-US" sz="1050" dirty="0"/>
          </a:p>
        </p:txBody>
      </p:sp>
      <p:sp>
        <p:nvSpPr>
          <p:cNvPr id="13" name="Upgrade divider 1"/>
          <p:cNvSpPr/>
          <p:nvPr/>
        </p:nvSpPr>
        <p:spPr>
          <a:xfrm>
            <a:off x="7627468" y="20848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4" name="Upgrade divider fix 1"/>
          <p:cNvSpPr/>
          <p:nvPr/>
        </p:nvSpPr>
        <p:spPr>
          <a:xfrm>
            <a:off x="3429000" y="20848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5" name="Upgrade row 2"/>
          <p:cNvSpPr/>
          <p:nvPr/>
        </p:nvSpPr>
        <p:spPr>
          <a:xfrm>
            <a:off x="548640" y="28712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16" name="Upgrade photo 2" descr="Body Groomer Flex Gu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953512"/>
            <a:ext cx="658368" cy="658368"/>
          </a:xfrm>
          <a:prstGeom prst="rect">
            <a:avLst/>
          </a:prstGeom>
        </p:spPr>
      </p:pic>
      <p:sp>
        <p:nvSpPr>
          <p:cNvPr id="17" name="Upgrade product 2"/>
          <p:cNvSpPr txBox="1"/>
          <p:nvPr/>
        </p:nvSpPr>
        <p:spPr>
          <a:xfrm>
            <a:off x="1453896" y="28712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Flex Guard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Flex Guard 身体修剪器</a:t>
            </a:r>
            <a:endParaRPr lang="en-US" sz="1200" dirty="0"/>
          </a:p>
        </p:txBody>
      </p:sp>
      <p:sp>
        <p:nvSpPr>
          <p:cNvPr id="18" name="Upgrade fix 2"/>
          <p:cNvSpPr txBox="1"/>
          <p:nvPr/>
        </p:nvSpPr>
        <p:spPr>
          <a:xfrm>
            <a:off x="3611880" y="28712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Combs 3 to 6 mm, customers expect 1.5 to 4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限位梳为 3-6 毫米，客户期望 1.5-4 毫米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Pulls hairs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拉扯毛发</a:t>
            </a:r>
            <a:endParaRPr lang="en-US" sz="1050" dirty="0"/>
          </a:p>
        </p:txBody>
      </p:sp>
      <p:sp>
        <p:nvSpPr>
          <p:cNvPr id="19" name="Upgrade add 2"/>
          <p:cNvSpPr txBox="1"/>
          <p:nvPr/>
        </p:nvSpPr>
        <p:spPr>
          <a:xfrm>
            <a:off x="7810348" y="28712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Short combs, 1.5 to 4 mm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至 4 毫米短限位梳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More power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更强动力</a:t>
            </a:r>
            <a:endParaRPr lang="en-US" sz="1050" dirty="0"/>
          </a:p>
        </p:txBody>
      </p:sp>
      <p:sp>
        <p:nvSpPr>
          <p:cNvPr id="20" name="Upgrade divider 2"/>
          <p:cNvSpPr/>
          <p:nvPr/>
        </p:nvSpPr>
        <p:spPr>
          <a:xfrm>
            <a:off x="7627468" y="29992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1" name="Upgrade divider fix 2"/>
          <p:cNvSpPr/>
          <p:nvPr/>
        </p:nvSpPr>
        <p:spPr>
          <a:xfrm>
            <a:off x="3429000" y="29992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2" name="Upgrade row 3"/>
          <p:cNvSpPr/>
          <p:nvPr/>
        </p:nvSpPr>
        <p:spPr>
          <a:xfrm>
            <a:off x="548640" y="3785616"/>
            <a:ext cx="11094415" cy="82296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</p:sp>
      <p:pic>
        <p:nvPicPr>
          <p:cNvPr id="23" name="Upgrade photo 3" descr="Nose trimmers (7 models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67912"/>
            <a:ext cx="658368" cy="658368"/>
          </a:xfrm>
          <a:prstGeom prst="rect">
            <a:avLst/>
          </a:prstGeom>
        </p:spPr>
      </p:pic>
      <p:sp>
        <p:nvSpPr>
          <p:cNvPr id="24" name="Upgrade product 3"/>
          <p:cNvSpPr txBox="1"/>
          <p:nvPr/>
        </p:nvSpPr>
        <p:spPr>
          <a:xfrm>
            <a:off x="1453896" y="3785616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Nose trimmers</a:t>
            </a:r>
            <a:endParaRPr lang="en-US" sz="12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鼻毛修剪器（7 款）</a:t>
            </a:r>
            <a:endParaRPr lang="en-US" sz="1200" dirty="0"/>
          </a:p>
        </p:txBody>
      </p:sp>
      <p:sp>
        <p:nvSpPr>
          <p:cNvPr id="25" name="Upgrade fix 3"/>
          <p:cNvSpPr txBox="1"/>
          <p:nvPr/>
        </p:nvSpPr>
        <p:spPr>
          <a:xfrm>
            <a:off x="3611880" y="37856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Weak cutting: 22 of 55 critical reviews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修剪力度不足：55 条差评中 22 条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Attachments break, parts missing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配件易坏，缺件</a:t>
            </a:r>
            <a:endParaRPr lang="en-US" sz="1050" dirty="0"/>
          </a:p>
        </p:txBody>
      </p:sp>
      <p:sp>
        <p:nvSpPr>
          <p:cNvPr id="26" name="Upgrade add 3"/>
          <p:cNvSpPr txBox="1"/>
          <p:nvPr/>
        </p:nvSpPr>
        <p:spPr>
          <a:xfrm>
            <a:off x="7810348" y="3785616"/>
            <a:ext cx="37412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b="1" dirty="0">
                <a:solidFill>
                  <a:schemeClr val="tx1"/>
                </a:solidFill>
              </a:rPr>
              <a:t>Blade that reaches short hairs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能剪到短毛的刀头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chemeClr val="tx1"/>
                </a:solidFill>
              </a:rPr>
              <a:t>Oil in the box, as the manual says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按说明书附带润滑油</a:t>
            </a:r>
            <a:endParaRPr lang="en-US" sz="1050" dirty="0"/>
          </a:p>
        </p:txBody>
      </p:sp>
      <p:sp>
        <p:nvSpPr>
          <p:cNvPr id="27" name="Upgrade divider 3"/>
          <p:cNvSpPr/>
          <p:nvPr/>
        </p:nvSpPr>
        <p:spPr>
          <a:xfrm>
            <a:off x="7627468" y="39136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8" name="Upgrade divider fix 3"/>
          <p:cNvSpPr/>
          <p:nvPr/>
        </p:nvSpPr>
        <p:spPr>
          <a:xfrm>
            <a:off x="3429000" y="3913632"/>
            <a:ext cx="0" cy="566928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9" name="Ideas box"/>
          <p:cNvSpPr/>
          <p:nvPr/>
        </p:nvSpPr>
        <p:spPr>
          <a:xfrm>
            <a:off x="548640" y="4745736"/>
            <a:ext cx="11094415" cy="1197864"/>
          </a:xfrm>
          <a:prstGeom prst="roundRect">
            <a:avLst>
              <a:gd name="adj" fmla="val 12214"/>
            </a:avLst>
          </a:prstGeom>
          <a:solidFill>
            <a:srgbClr val="EDE6DA"/>
          </a:solidFill>
          <a:ln/>
        </p:spPr>
      </p:sp>
      <p:sp>
        <p:nvSpPr>
          <p:cNvPr id="30" name="Ideas badge"/>
          <p:cNvSpPr/>
          <p:nvPr/>
        </p:nvSpPr>
        <p:spPr>
          <a:xfrm>
            <a:off x="777240" y="50703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dea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256" y="5198364"/>
            <a:ext cx="292608" cy="292608"/>
          </a:xfrm>
          <a:prstGeom prst="rect">
            <a:avLst/>
          </a:prstGeom>
        </p:spPr>
      </p:pic>
      <p:sp>
        <p:nvSpPr>
          <p:cNvPr id="32" name="Ideas"/>
          <p:cNvSpPr txBox="1"/>
          <p:nvPr/>
        </p:nvSpPr>
        <p:spPr>
          <a:xfrm>
            <a:off x="1554480" y="4837176"/>
            <a:ext cx="9859975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Your ideas for 2027</a:t>
            </a:r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贵司的 2027 新功能建议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Which new features can you offer us? For example USB-C fast charging, fully waterproof (IPX7), a battery display on every model, a travel lock that is easy to understand, and a longer runtime.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贵司能为我们提供哪些新功能？例如 USB-C 快充、全身水洗（IPX7）、所有型号配备电量显示、易懂的旅行锁以及更长的续航。</a:t>
            </a:r>
            <a:endParaRPr lang="en-US" sz="1400" dirty="0"/>
          </a:p>
        </p:txBody>
      </p:sp>
      <p:sp>
        <p:nvSpPr>
          <p:cNvPr id="33" name="Upgrade source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Sources: Wellshave customer service defect log and bol.com reviews, 1 January to 15 October 2026; battery specifications from the factory pro forma invoices.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数据来源：Wellshave 售后故障记录与 bol.com 评价（2026年1月1日至10月15日）；电池规格来自工厂形式发票。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Improved batteries, the certified adapter and new models. We like to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改进后的电池、认证适配器和新款产品。我们希望亲手测试。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Global Best Way &amp; Fanke</dc:title>
  <dc:subject>PptxGenJS Presentation</dc:subject>
  <dc:creator>Wellshave</dc:creator>
  <cp:lastModifiedBy>Wellshave</cp:lastModifiedBy>
  <cp:revision>1</cp:revision>
  <dcterms:created xsi:type="dcterms:W3CDTF">2026-10-17T03:41:14Z</dcterms:created>
  <dcterms:modified xsi:type="dcterms:W3CDTF">2026-10-17T03:41:14Z</dcterms:modified>
</cp:coreProperties>
</file>