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4123f7-8e3f-a9d0-14d3-0aae4edda59a}">
          <p14:sldIdLst>
            <p14:sldId id="256"/>
          </p14:sldIdLst>
        </p14:section>
        <p14:section name="About Wellshave" id="{b5cb6749-1dc1-c413-c036-7b1a8e7a8877}">
          <p14:sldIdLst>
            <p14:sldId id="257"/>
            <p14:sldId id="258"/>
          </p14:sldIdLst>
        </p14:section>
        <p14:section name="The visit" id="{60dc327e-25e6-f449-3d91-fbedd2c75bb2}">
          <p14:sldIdLst>
            <p14:sldId id="259"/>
            <p14:sldId id="260"/>
          </p14:sldIdLst>
        </p14:section>
        <p14:section name="Your products" id="{92dc8619-340f-fa90-fcdb-675e20dd234d}">
          <p14:sldIdLst>
            <p14:sldId id="261"/>
            <p14:sldId id="262"/>
          </p14:sldIdLst>
        </p14:section>
        <p14:section name="Working together" id="{c6773a04-7c1f-a9b0-81dc-f34f4470d0c3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Thank Joe (iClipper) for hosting us. One sentence: who we are and why we came.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figures are approximate for 2026. Remove the two revenue tiles if you prefer not to share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short. Point at the categories this factory makes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products we buy through this partner. Sales are bol.com units (about 80% of our revenue).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Themes are tagged by hand from the bol.com review texts. Quotes are translated from Dutch.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Certified adapter: from now on every device ships with a certified adapter whose cable is fixed to it, so customers always charge with the right adapter for that device. Wrong adapters damage batteries and lead to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an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Wellshave hair clipper with battery dis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3" name="Logo" descr="Wellshav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514600" cy="40233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FACTORY VISIT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   ·   </a:t>
            </a:r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工厂拜访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85800" y="228600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Introducing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Wellshave</a:t>
            </a:r>
            <a:endParaRPr lang="en-US" sz="5200" dirty="0"/>
          </a:p>
        </p:txBody>
      </p:sp>
      <p:sp>
        <p:nvSpPr>
          <p:cNvPr id="6" name="Title CN"/>
          <p:cNvSpPr txBox="1"/>
          <p:nvPr/>
        </p:nvSpPr>
        <p:spPr>
          <a:xfrm>
            <a:off x="6858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Wellshave </a:t>
            </a:r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品牌介绍</a:t>
            </a:r>
            <a:endParaRPr lang="en-US" sz="3000" dirty="0"/>
          </a:p>
        </p:txBody>
      </p:sp>
      <p:sp>
        <p:nvSpPr>
          <p:cNvPr id="7" name="Subtitle"/>
          <p:cNvSpPr txBox="1"/>
          <p:nvPr/>
        </p:nvSpPr>
        <p:spPr>
          <a:xfrm>
            <a:off x="68580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Dutch men's grooming brand  ·  Netherlands &amp; Belgium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荷兰男士理容品牌  ·  主营荷兰与比利时市场</a:t>
            </a:r>
            <a:endParaRPr lang="en-US" sz="1400" dirty="0"/>
          </a:p>
        </p:txBody>
      </p:sp>
      <p:sp>
        <p:nvSpPr>
          <p:cNvPr id="8" name="Prepared for"/>
          <p:cNvSpPr txBox="1"/>
          <p:nvPr/>
        </p:nvSpPr>
        <p:spPr>
          <a:xfrm>
            <a:off x="685800" y="53949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PREPARED FOR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拜访对象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Ningbo iClipper Electric Appliance Co., Ltd.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宁波爱克利浦电器有限公司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Joe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October 2026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2026 年 10 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endParaRPr lang="en-US" sz="2000" dirty="0"/>
          </a:p>
        </p:txBody>
      </p:sp>
      <p:sp>
        <p:nvSpPr>
          <p:cNvPr id="4" name="Story"/>
          <p:cNvSpPr txBox="1"/>
          <p:nvPr/>
        </p:nvSpPr>
        <p:spPr>
          <a:xfrm>
            <a:off x="548640" y="178308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Wellshave is a Dutch men's grooming brand, founded in 2021. We design and sell shavers, trimmers and clippers that give men premium quality at a fair price.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Wellshave 是一家荷兰男士理容品牌，成立于 2021 年。我们设计并销售剃须刀、修剪器和理发器，以合理的价格为男士提供高端品质。</a:t>
            </a:r>
            <a:endParaRPr lang="en-US" sz="1500" dirty="0"/>
          </a:p>
        </p:txBody>
      </p:sp>
      <p:sp>
        <p:nvSpPr>
          <p:cNvPr id="5" name="Feedback head"/>
          <p:cNvSpPr txBox="1"/>
          <p:nvPr/>
        </p:nvSpPr>
        <p:spPr>
          <a:xfrm>
            <a:off x="548640" y="3520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Driven by customer feedback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以客户反馈为驱动</a:t>
            </a:r>
            <a:endParaRPr lang="en-US" sz="1500" dirty="0"/>
          </a:p>
        </p:txBody>
      </p:sp>
      <p:sp>
        <p:nvSpPr>
          <p:cNvPr id="6" name="Feedback"/>
          <p:cNvSpPr txBox="1"/>
          <p:nvPr/>
        </p:nvSpPr>
        <p:spPr>
          <a:xfrm>
            <a:off x="548640" y="3886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product upgrade starts with what customers return, miss or want better.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每一次产品升级都源于客户反馈：退货原因、缺少的功能或希望改进的地方。</a:t>
            </a:r>
            <a:endParaRPr lang="en-US" sz="1400" dirty="0"/>
          </a:p>
        </p:txBody>
      </p:sp>
      <p:sp>
        <p:nvSpPr>
          <p:cNvPr id="7" name="Promise 1"/>
          <p:cNvSpPr/>
          <p:nvPr/>
        </p:nvSpPr>
        <p:spPr>
          <a:xfrm>
            <a:off x="54864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8" name="Promis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212080"/>
            <a:ext cx="329184" cy="329184"/>
          </a:xfrm>
          <a:prstGeom prst="rect">
            <a:avLst/>
          </a:prstGeom>
        </p:spPr>
      </p:pic>
      <p:sp>
        <p:nvSpPr>
          <p:cNvPr id="9" name="Promise text 1"/>
          <p:cNvSpPr txBox="1"/>
          <p:nvPr/>
        </p:nvSpPr>
        <p:spPr>
          <a:xfrm>
            <a:off x="71323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100-day trial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天试用</a:t>
            </a:r>
            <a:endParaRPr lang="en-US" sz="1100" dirty="0"/>
          </a:p>
        </p:txBody>
      </p:sp>
      <p:sp>
        <p:nvSpPr>
          <p:cNvPr id="10" name="Promise 2"/>
          <p:cNvSpPr/>
          <p:nvPr/>
        </p:nvSpPr>
        <p:spPr>
          <a:xfrm>
            <a:off x="246888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1" name="Promis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5212080"/>
            <a:ext cx="329184" cy="329184"/>
          </a:xfrm>
          <a:prstGeom prst="rect">
            <a:avLst/>
          </a:prstGeom>
        </p:spPr>
      </p:pic>
      <p:sp>
        <p:nvSpPr>
          <p:cNvPr id="12" name="Promise text 2"/>
          <p:cNvSpPr txBox="1"/>
          <p:nvPr/>
        </p:nvSpPr>
        <p:spPr>
          <a:xfrm>
            <a:off x="263347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2-year warranty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年保修</a:t>
            </a:r>
            <a:endParaRPr lang="en-US" sz="1100" dirty="0"/>
          </a:p>
        </p:txBody>
      </p:sp>
      <p:sp>
        <p:nvSpPr>
          <p:cNvPr id="13" name="Promise 3"/>
          <p:cNvSpPr/>
          <p:nvPr/>
        </p:nvSpPr>
        <p:spPr>
          <a:xfrm>
            <a:off x="438912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4" name="Promis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5212080"/>
            <a:ext cx="329184" cy="329184"/>
          </a:xfrm>
          <a:prstGeom prst="rect">
            <a:avLst/>
          </a:prstGeom>
        </p:spPr>
      </p:pic>
      <p:sp>
        <p:nvSpPr>
          <p:cNvPr id="15" name="Promise text 3"/>
          <p:cNvSpPr txBox="1"/>
          <p:nvPr/>
        </p:nvSpPr>
        <p:spPr>
          <a:xfrm>
            <a:off x="455371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Next-day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次日送达</a:t>
            </a:r>
            <a:endParaRPr lang="en-US" sz="1100" dirty="0"/>
          </a:p>
        </p:txBody>
      </p:sp>
      <p:sp>
        <p:nvSpPr>
          <p:cNvPr id="16" name="Stat 1"/>
          <p:cNvSpPr/>
          <p:nvPr/>
        </p:nvSpPr>
        <p:spPr>
          <a:xfrm>
            <a:off x="6629400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17" name="Stat value 1"/>
          <p:cNvSpPr txBox="1"/>
          <p:nvPr/>
        </p:nvSpPr>
        <p:spPr>
          <a:xfrm>
            <a:off x="6858000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2021</a:t>
            </a:r>
            <a:endParaRPr lang="en-US" sz="2800" dirty="0"/>
          </a:p>
        </p:txBody>
      </p:sp>
      <p:sp>
        <p:nvSpPr>
          <p:cNvPr id="18" name="Stat label 1"/>
          <p:cNvSpPr txBox="1"/>
          <p:nvPr/>
        </p:nvSpPr>
        <p:spPr>
          <a:xfrm>
            <a:off x="6858000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Founded in Helmond (NL)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成立于荷兰海尔蒙德</a:t>
            </a:r>
            <a:endParaRPr lang="en-US" sz="1100" dirty="0"/>
          </a:p>
        </p:txBody>
      </p:sp>
      <p:sp>
        <p:nvSpPr>
          <p:cNvPr id="19" name="Stat 2"/>
          <p:cNvSpPr/>
          <p:nvPr/>
        </p:nvSpPr>
        <p:spPr>
          <a:xfrm>
            <a:off x="9227668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0" name="Stat value 2"/>
          <p:cNvSpPr txBox="1"/>
          <p:nvPr/>
        </p:nvSpPr>
        <p:spPr>
          <a:xfrm>
            <a:off x="9456268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NL + BE</a:t>
            </a:r>
            <a:endParaRPr lang="en-US" sz="2800" dirty="0"/>
          </a:p>
        </p:txBody>
      </p:sp>
      <p:sp>
        <p:nvSpPr>
          <p:cNvPr id="21" name="Stat label 2"/>
          <p:cNvSpPr txBox="1"/>
          <p:nvPr/>
        </p:nvSpPr>
        <p:spPr>
          <a:xfrm>
            <a:off x="9456268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Main markets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主要市场</a:t>
            </a:r>
            <a:endParaRPr lang="en-US" sz="1100" dirty="0"/>
          </a:p>
        </p:txBody>
      </p:sp>
      <p:sp>
        <p:nvSpPr>
          <p:cNvPr id="22" name="Stat 3"/>
          <p:cNvSpPr/>
          <p:nvPr/>
        </p:nvSpPr>
        <p:spPr>
          <a:xfrm>
            <a:off x="6629400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3" name="Stat value 3"/>
          <p:cNvSpPr txBox="1"/>
          <p:nvPr/>
        </p:nvSpPr>
        <p:spPr>
          <a:xfrm>
            <a:off x="6858000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€2.5M</a:t>
            </a:r>
            <a:endParaRPr lang="en-US" sz="2800" dirty="0"/>
          </a:p>
        </p:txBody>
      </p:sp>
      <p:sp>
        <p:nvSpPr>
          <p:cNvPr id="24" name="Stat label 3"/>
          <p:cNvSpPr txBox="1"/>
          <p:nvPr/>
        </p:nvSpPr>
        <p:spPr>
          <a:xfrm>
            <a:off x="6858000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bol.com revenue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2026 年营业额</a:t>
            </a:r>
            <a:endParaRPr lang="en-US" sz="1100" dirty="0"/>
          </a:p>
        </p:txBody>
      </p:sp>
      <p:sp>
        <p:nvSpPr>
          <p:cNvPr id="25" name="Stat 4"/>
          <p:cNvSpPr/>
          <p:nvPr/>
        </p:nvSpPr>
        <p:spPr>
          <a:xfrm>
            <a:off x="9227668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6" name="Stat value 4"/>
          <p:cNvSpPr txBox="1"/>
          <p:nvPr/>
        </p:nvSpPr>
        <p:spPr>
          <a:xfrm>
            <a:off x="9456268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€0.6M</a:t>
            </a:r>
            <a:endParaRPr lang="en-US" sz="2800" dirty="0"/>
          </a:p>
        </p:txBody>
      </p:sp>
      <p:sp>
        <p:nvSpPr>
          <p:cNvPr id="27" name="Stat label 4"/>
          <p:cNvSpPr txBox="1"/>
          <p:nvPr/>
        </p:nvSpPr>
        <p:spPr>
          <a:xfrm>
            <a:off x="9456268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Own webshop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自营官网 2026 年营业额</a:t>
            </a:r>
            <a:endParaRPr lang="en-US" sz="1100" dirty="0"/>
          </a:p>
        </p:txBody>
      </p:sp>
      <p:sp>
        <p:nvSpPr>
          <p:cNvPr id="28" name="Trustpilot"/>
          <p:cNvSpPr/>
          <p:nvPr/>
        </p:nvSpPr>
        <p:spPr>
          <a:xfrm>
            <a:off x="6629400" y="4672584"/>
            <a:ext cx="5013655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Trustpilot value"/>
          <p:cNvSpPr txBox="1"/>
          <p:nvPr/>
        </p:nvSpPr>
        <p:spPr>
          <a:xfrm>
            <a:off x="6858000" y="4873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4.4 / 5</a:t>
            </a:r>
            <a:endParaRPr lang="en-US" sz="2800" dirty="0"/>
          </a:p>
        </p:txBody>
      </p:sp>
      <p:sp>
        <p:nvSpPr>
          <p:cNvPr id="30" name="Trustpilot label"/>
          <p:cNvSpPr txBox="1"/>
          <p:nvPr/>
        </p:nvSpPr>
        <p:spPr>
          <a:xfrm>
            <a:off x="8503920" y="49286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Trustpilot score, 1,000+ customer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Trustpilot 评分，1000 多条客户评价</a:t>
            </a:r>
            <a:endParaRPr lang="en-US" sz="1100" dirty="0"/>
          </a:p>
        </p:txBody>
      </p:sp>
      <p:sp>
        <p:nvSpPr>
          <p:cNvPr id="31" name="bol note"/>
          <p:cNvSpPr txBox="1"/>
          <p:nvPr/>
        </p:nvSpPr>
        <p:spPr>
          <a:xfrm>
            <a:off x="6629400" y="5788152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bol.com is the largest online marketplace in the Netherlands and Belgium.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是荷兰和比利时最大的电商平台。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product range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我们的产品系列</a:t>
            </a:r>
            <a:endParaRPr lang="en-US" sz="2000" dirty="0"/>
          </a:p>
        </p:txBody>
      </p:sp>
      <p:sp>
        <p:nvSpPr>
          <p:cNvPr id="4" name="Range card 1"/>
          <p:cNvSpPr/>
          <p:nvPr/>
        </p:nvSpPr>
        <p:spPr>
          <a:xfrm>
            <a:off x="548640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5" name="Range photo 1" descr="Groom Guard™ P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38528"/>
            <a:ext cx="1463040" cy="1463040"/>
          </a:xfrm>
          <a:prstGeom prst="rect">
            <a:avLst/>
          </a:prstGeom>
        </p:spPr>
      </p:pic>
      <p:sp>
        <p:nvSpPr>
          <p:cNvPr id="6" name="Range text 1"/>
          <p:cNvSpPr txBox="1"/>
          <p:nvPr/>
        </p:nvSpPr>
        <p:spPr>
          <a:xfrm>
            <a:off x="2395728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Body groomers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Groom Guard™ PRO</a:t>
            </a:r>
            <a:endParaRPr lang="en-US" sz="1400" dirty="0"/>
          </a:p>
        </p:txBody>
      </p:sp>
      <p:sp>
        <p:nvSpPr>
          <p:cNvPr id="7" name="Range card 2"/>
          <p:cNvSpPr/>
          <p:nvPr/>
        </p:nvSpPr>
        <p:spPr>
          <a:xfrm>
            <a:off x="4338218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8" name="Range photo 2" descr="The Gentleman Shaver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1938528"/>
            <a:ext cx="1463040" cy="1463040"/>
          </a:xfrm>
          <a:prstGeom prst="rect">
            <a:avLst/>
          </a:prstGeom>
        </p:spPr>
      </p:pic>
      <p:sp>
        <p:nvSpPr>
          <p:cNvPr id="9" name="Range text 2"/>
          <p:cNvSpPr txBox="1"/>
          <p:nvPr/>
        </p:nvSpPr>
        <p:spPr>
          <a:xfrm>
            <a:off x="6185306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Electric shavers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电动剃须刀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The Gentleman Shaver™</a:t>
            </a:r>
            <a:endParaRPr lang="en-US" sz="1400" dirty="0"/>
          </a:p>
        </p:txBody>
      </p:sp>
      <p:sp>
        <p:nvSpPr>
          <p:cNvPr id="10" name="Range card 3"/>
          <p:cNvSpPr/>
          <p:nvPr/>
        </p:nvSpPr>
        <p:spPr>
          <a:xfrm>
            <a:off x="8127797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1" name="Range photo 3" descr="Head Shaver Delux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1938528"/>
            <a:ext cx="1463040" cy="1463040"/>
          </a:xfrm>
          <a:prstGeom prst="rect">
            <a:avLst/>
          </a:prstGeom>
        </p:spPr>
      </p:pic>
      <p:sp>
        <p:nvSpPr>
          <p:cNvPr id="12" name="Range text 3"/>
          <p:cNvSpPr txBox="1"/>
          <p:nvPr/>
        </p:nvSpPr>
        <p:spPr>
          <a:xfrm>
            <a:off x="9974885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Head shavers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光头剃须刀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Head Shaver Deluxe</a:t>
            </a:r>
            <a:endParaRPr lang="en-US" sz="1400" dirty="0"/>
          </a:p>
        </p:txBody>
      </p:sp>
      <p:sp>
        <p:nvSpPr>
          <p:cNvPr id="13" name="Range card 4"/>
          <p:cNvSpPr/>
          <p:nvPr/>
        </p:nvSpPr>
        <p:spPr>
          <a:xfrm>
            <a:off x="548640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4" name="Range photo 4" descr="Men Shaper Supreme™ 6-in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95928"/>
            <a:ext cx="1463040" cy="1463040"/>
          </a:xfrm>
          <a:prstGeom prst="rect">
            <a:avLst/>
          </a:prstGeom>
        </p:spPr>
      </p:pic>
      <p:sp>
        <p:nvSpPr>
          <p:cNvPr id="15" name="Range text 4"/>
          <p:cNvSpPr txBox="1"/>
          <p:nvPr/>
        </p:nvSpPr>
        <p:spPr>
          <a:xfrm>
            <a:off x="2395728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Beard trimmers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胡须修剪器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Men Shaper Supreme™ 6-in-1</a:t>
            </a:r>
            <a:endParaRPr lang="en-US" sz="1400" dirty="0"/>
          </a:p>
        </p:txBody>
      </p:sp>
      <p:sp>
        <p:nvSpPr>
          <p:cNvPr id="16" name="Range card 5"/>
          <p:cNvSpPr/>
          <p:nvPr/>
        </p:nvSpPr>
        <p:spPr>
          <a:xfrm>
            <a:off x="4338218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7" name="Range photo 5" descr="Tondeuse Elegant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098" y="3995928"/>
            <a:ext cx="1463040" cy="1463040"/>
          </a:xfrm>
          <a:prstGeom prst="rect">
            <a:avLst/>
          </a:prstGeom>
        </p:spPr>
      </p:pic>
      <p:sp>
        <p:nvSpPr>
          <p:cNvPr id="18" name="Range text 5"/>
          <p:cNvSpPr txBox="1"/>
          <p:nvPr/>
        </p:nvSpPr>
        <p:spPr>
          <a:xfrm>
            <a:off x="6185306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Hair clippers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理发器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Tondeuse Elegant™</a:t>
            </a:r>
            <a:endParaRPr lang="en-US" sz="1400" dirty="0"/>
          </a:p>
        </p:txBody>
      </p:sp>
      <p:sp>
        <p:nvSpPr>
          <p:cNvPr id="19" name="Range card 6"/>
          <p:cNvSpPr/>
          <p:nvPr/>
        </p:nvSpPr>
        <p:spPr>
          <a:xfrm>
            <a:off x="8127797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20" name="Range photo 6" descr="Neustrimmer Ultimate™ 4-in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677" y="3995928"/>
            <a:ext cx="1463040" cy="1463040"/>
          </a:xfrm>
          <a:prstGeom prst="rect">
            <a:avLst/>
          </a:prstGeom>
        </p:spPr>
      </p:pic>
      <p:sp>
        <p:nvSpPr>
          <p:cNvPr id="21" name="Range text 6"/>
          <p:cNvSpPr txBox="1"/>
          <p:nvPr/>
        </p:nvSpPr>
        <p:spPr>
          <a:xfrm>
            <a:off x="9974885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Nose trimmers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鼻毛修剪器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Neustrimmer Ultimate™ 4-in-1</a:t>
            </a:r>
            <a:endParaRPr lang="en-US" sz="1400" dirty="0"/>
          </a:p>
        </p:txBody>
      </p:sp>
      <p:sp>
        <p:nvSpPr>
          <p:cNvPr id="22" name="Range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Also: safety razors, replacement blades, accessories and value bundles.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另有：安全剃须刀、替换刀片、配件及超值套装。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Today's visit team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今日拜访团队</a:t>
            </a:r>
            <a:endParaRPr lang="en-US" sz="20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5" name="Avatar 1"/>
          <p:cNvSpPr/>
          <p:nvPr/>
        </p:nvSpPr>
        <p:spPr>
          <a:xfrm>
            <a:off x="868680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itials 1"/>
          <p:cNvSpPr txBox="1"/>
          <p:nvPr/>
        </p:nvSpPr>
        <p:spPr>
          <a:xfrm>
            <a:off x="868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DG</a:t>
            </a:r>
            <a:endParaRPr lang="en-US" sz="2400" dirty="0"/>
          </a:p>
        </p:txBody>
      </p:sp>
      <p:sp>
        <p:nvSpPr>
          <p:cNvPr id="7" name="Name 1"/>
          <p:cNvSpPr txBox="1"/>
          <p:nvPr/>
        </p:nvSpPr>
        <p:spPr>
          <a:xfrm>
            <a:off x="868680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Dustin Gibson</a:t>
            </a:r>
            <a:endParaRPr lang="en-US" sz="2000" dirty="0"/>
          </a:p>
        </p:txBody>
      </p:sp>
      <p:sp>
        <p:nvSpPr>
          <p:cNvPr id="8" name="Role 1"/>
          <p:cNvSpPr txBox="1"/>
          <p:nvPr/>
        </p:nvSpPr>
        <p:spPr>
          <a:xfrm>
            <a:off x="868680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Founder &amp; CEO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创始人兼首席执行官</a:t>
            </a:r>
            <a:endParaRPr lang="en-US" sz="1300" dirty="0"/>
          </a:p>
        </p:txBody>
      </p:sp>
      <p:sp>
        <p:nvSpPr>
          <p:cNvPr id="9" name="Divider 1"/>
          <p:cNvSpPr/>
          <p:nvPr/>
        </p:nvSpPr>
        <p:spPr>
          <a:xfrm>
            <a:off x="868680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Visit role 1"/>
          <p:cNvSpPr txBox="1"/>
          <p:nvPr/>
        </p:nvSpPr>
        <p:spPr>
          <a:xfrm>
            <a:off x="868680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Brand vision, 2027 plans and final decisions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品牌愿景、2027 年计划与最终决策</a:t>
            </a:r>
            <a:endParaRPr lang="en-US" sz="900" dirty="0"/>
          </a:p>
        </p:txBody>
      </p:sp>
      <p:sp>
        <p:nvSpPr>
          <p:cNvPr id="11" name="Team card 2"/>
          <p:cNvSpPr/>
          <p:nvPr/>
        </p:nvSpPr>
        <p:spPr>
          <a:xfrm>
            <a:off x="4338218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2" name="Avatar 2"/>
          <p:cNvSpPr/>
          <p:nvPr/>
        </p:nvSpPr>
        <p:spPr>
          <a:xfrm>
            <a:off x="4658258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Initials 2"/>
          <p:cNvSpPr txBox="1"/>
          <p:nvPr/>
        </p:nvSpPr>
        <p:spPr>
          <a:xfrm>
            <a:off x="465825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WG</a:t>
            </a:r>
            <a:endParaRPr lang="en-US" sz="2400" dirty="0"/>
          </a:p>
        </p:txBody>
      </p:sp>
      <p:sp>
        <p:nvSpPr>
          <p:cNvPr id="14" name="Name 2"/>
          <p:cNvSpPr txBox="1"/>
          <p:nvPr/>
        </p:nvSpPr>
        <p:spPr>
          <a:xfrm>
            <a:off x="4658258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Willem de Groot</a:t>
            </a:r>
            <a:endParaRPr lang="en-US" sz="2000" dirty="0"/>
          </a:p>
        </p:txBody>
      </p:sp>
      <p:sp>
        <p:nvSpPr>
          <p:cNvPr id="15" name="Role 2"/>
          <p:cNvSpPr txBox="1"/>
          <p:nvPr/>
        </p:nvSpPr>
        <p:spPr>
          <a:xfrm>
            <a:off x="4658258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Creative Strategist &amp; Operations Manager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创意策略师兼运营经理</a:t>
            </a:r>
            <a:endParaRPr lang="en-US" sz="1300" dirty="0"/>
          </a:p>
        </p:txBody>
      </p:sp>
      <p:sp>
        <p:nvSpPr>
          <p:cNvPr id="16" name="Divider 2"/>
          <p:cNvSpPr/>
          <p:nvPr/>
        </p:nvSpPr>
        <p:spPr>
          <a:xfrm>
            <a:off x="4658258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Visit role 2"/>
          <p:cNvSpPr txBox="1"/>
          <p:nvPr/>
        </p:nvSpPr>
        <p:spPr>
          <a:xfrm>
            <a:off x="4658258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Customer insights, product presentation and operations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客户洞察、产品呈现与运营</a:t>
            </a:r>
            <a:endParaRPr lang="en-US" sz="900" dirty="0"/>
          </a:p>
        </p:txBody>
      </p:sp>
      <p:sp>
        <p:nvSpPr>
          <p:cNvPr id="18" name="Team card 3"/>
          <p:cNvSpPr/>
          <p:nvPr/>
        </p:nvSpPr>
        <p:spPr>
          <a:xfrm>
            <a:off x="8127797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9" name="Avatar 3"/>
          <p:cNvSpPr/>
          <p:nvPr/>
        </p:nvSpPr>
        <p:spPr>
          <a:xfrm>
            <a:off x="8447837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Initials 3"/>
          <p:cNvSpPr txBox="1"/>
          <p:nvPr/>
        </p:nvSpPr>
        <p:spPr>
          <a:xfrm>
            <a:off x="8447837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</a:t>
            </a:r>
            <a:endParaRPr lang="en-US" sz="2400" dirty="0"/>
          </a:p>
        </p:txBody>
      </p:sp>
      <p:sp>
        <p:nvSpPr>
          <p:cNvPr id="21" name="Name 3"/>
          <p:cNvSpPr txBox="1"/>
          <p:nvPr/>
        </p:nvSpPr>
        <p:spPr>
          <a:xfrm>
            <a:off x="8447837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Leo</a:t>
            </a:r>
            <a:endParaRPr lang="en-US" sz="2000" dirty="0"/>
          </a:p>
        </p:txBody>
      </p:sp>
      <p:sp>
        <p:nvSpPr>
          <p:cNvPr id="22" name="Role 3"/>
          <p:cNvSpPr txBox="1"/>
          <p:nvPr/>
        </p:nvSpPr>
        <p:spPr>
          <a:xfrm>
            <a:off x="8447837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Supply Chain Manager, China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中国供应链经理</a:t>
            </a:r>
            <a:endParaRPr lang="en-US" sz="1300" dirty="0"/>
          </a:p>
        </p:txBody>
      </p:sp>
      <p:sp>
        <p:nvSpPr>
          <p:cNvPr id="23" name="Divider 3"/>
          <p:cNvSpPr/>
          <p:nvPr/>
        </p:nvSpPr>
        <p:spPr>
          <a:xfrm>
            <a:off x="8447837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Visit role 3"/>
          <p:cNvSpPr txBox="1"/>
          <p:nvPr/>
        </p:nvSpPr>
        <p:spPr>
          <a:xfrm>
            <a:off x="8447837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Your local contact for orders, quality and follow-up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订单、品质与后续跟进的本地联系人</a:t>
            </a:r>
            <a:endParaRPr lang="en-US" sz="900" dirty="0"/>
          </a:p>
        </p:txBody>
      </p:sp>
      <p:sp>
        <p:nvSpPr>
          <p:cNvPr id="25" name="Team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team, in the Netherlands and in China.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荷兰与中国，同一个团队。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 are visiting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本次拜访目的</a:t>
            </a:r>
            <a:endParaRPr lang="en-US" sz="2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804672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Step title 1"/>
          <p:cNvSpPr txBox="1"/>
          <p:nvPr/>
        </p:nvSpPr>
        <p:spPr>
          <a:xfrm>
            <a:off x="804672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Get to know each other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相互了解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804672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introduce Wellshave, our customers and how we work.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 Wellshave、我们的客户和工作方式。</a:t>
            </a:r>
            <a:endParaRPr lang="en-US" sz="1300" dirty="0"/>
          </a:p>
        </p:txBody>
      </p:sp>
      <p:sp>
        <p:nvSpPr>
          <p:cNvPr id="8" name="Step card 2"/>
          <p:cNvSpPr/>
          <p:nvPr/>
        </p:nvSpPr>
        <p:spPr>
          <a:xfrm>
            <a:off x="3377108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9" name="Step number 2"/>
          <p:cNvSpPr txBox="1"/>
          <p:nvPr/>
        </p:nvSpPr>
        <p:spPr>
          <a:xfrm>
            <a:off x="3633140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Step title 2"/>
          <p:cNvSpPr txBox="1"/>
          <p:nvPr/>
        </p:nvSpPr>
        <p:spPr>
          <a:xfrm>
            <a:off x="3633140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current data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回顾当前数据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3633140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Sales, reviews and returns of the products we buy from you.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回顾我们向贵司采购产品的销量、评价和退货情况。</a:t>
            </a:r>
            <a:endParaRPr lang="en-US" sz="1300" dirty="0"/>
          </a:p>
        </p:txBody>
      </p:sp>
      <p:sp>
        <p:nvSpPr>
          <p:cNvPr id="12" name="Step card 3"/>
          <p:cNvSpPr/>
          <p:nvPr/>
        </p:nvSpPr>
        <p:spPr>
          <a:xfrm>
            <a:off x="6205576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3" name="Step number 3"/>
          <p:cNvSpPr txBox="1"/>
          <p:nvPr/>
        </p:nvSpPr>
        <p:spPr>
          <a:xfrm>
            <a:off x="6461608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Step title 3"/>
          <p:cNvSpPr txBox="1"/>
          <p:nvPr/>
        </p:nvSpPr>
        <p:spPr>
          <a:xfrm>
            <a:off x="6461608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our 2027 plans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 2027 年计划</a:t>
            </a:r>
            <a:endParaRPr lang="en-US" sz="1600" dirty="0"/>
          </a:p>
        </p:txBody>
      </p:sp>
      <p:sp>
        <p:nvSpPr>
          <p:cNvPr id="15" name="Step text 3"/>
          <p:cNvSpPr txBox="1"/>
          <p:nvPr/>
        </p:nvSpPr>
        <p:spPr>
          <a:xfrm>
            <a:off x="6461608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Our growth plans and what they mean for your factory.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我们的增长计划及其对贵厂的意义。</a:t>
            </a:r>
            <a:endParaRPr lang="en-US" sz="1300" dirty="0"/>
          </a:p>
        </p:txBody>
      </p:sp>
      <p:sp>
        <p:nvSpPr>
          <p:cNvPr id="16" name="Step card 4"/>
          <p:cNvSpPr/>
          <p:nvPr/>
        </p:nvSpPr>
        <p:spPr>
          <a:xfrm>
            <a:off x="9034043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7" name="Step number 4"/>
          <p:cNvSpPr txBox="1"/>
          <p:nvPr/>
        </p:nvSpPr>
        <p:spPr>
          <a:xfrm>
            <a:off x="9290075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8" name="Step title 4"/>
          <p:cNvSpPr txBox="1"/>
          <p:nvPr/>
        </p:nvSpPr>
        <p:spPr>
          <a:xfrm>
            <a:off x="9290075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Improve the range together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共同优化产品</a:t>
            </a:r>
            <a:endParaRPr lang="en-US" sz="1600" dirty="0"/>
          </a:p>
        </p:txBody>
      </p:sp>
      <p:sp>
        <p:nvSpPr>
          <p:cNvPr id="19" name="Step text 4"/>
          <p:cNvSpPr txBox="1"/>
          <p:nvPr/>
        </p:nvSpPr>
        <p:spPr>
          <a:xfrm>
            <a:off x="9290075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Better quality, better prices and new models.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更好的品质、更优的价格和新款产品。</a:t>
            </a:r>
            <a:endParaRPr lang="en-US" sz="1300" dirty="0"/>
          </a:p>
        </p:txBody>
      </p:sp>
      <p:sp>
        <p:nvSpPr>
          <p:cNvPr id="20" name="Outcome box"/>
          <p:cNvSpPr/>
          <p:nvPr/>
        </p:nvSpPr>
        <p:spPr>
          <a:xfrm>
            <a:off x="548640" y="5212080"/>
            <a:ext cx="11094415" cy="749808"/>
          </a:xfrm>
          <a:prstGeom prst="roundRect">
            <a:avLst>
              <a:gd name="adj" fmla="val 19512"/>
            </a:avLst>
          </a:prstGeom>
          <a:solidFill>
            <a:srgbClr val="EDE6DA"/>
          </a:solidFill>
          <a:ln/>
        </p:spPr>
      </p:sp>
      <p:pic>
        <p:nvPicPr>
          <p:cNvPr id="21" name="Outco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413248"/>
            <a:ext cx="347472" cy="347472"/>
          </a:xfrm>
          <a:prstGeom prst="rect">
            <a:avLst/>
          </a:prstGeom>
        </p:spPr>
      </p:pic>
      <p:sp>
        <p:nvSpPr>
          <p:cNvPr id="22" name="Outcome"/>
          <p:cNvSpPr txBox="1"/>
          <p:nvPr/>
        </p:nvSpPr>
        <p:spPr>
          <a:xfrm>
            <a:off x="1325880" y="532180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good visit: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leave with samples, your recommendations and clear next steps for 2027.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成功的拜访：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我们带着样品、您的建议和清晰的 2027 年下一步计划回去。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products at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贵司产品在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的表现</a:t>
            </a:r>
            <a:endParaRPr lang="en-US" sz="2000" dirty="0"/>
          </a:p>
        </p:txBody>
      </p:sp>
      <p:graphicFrame>
        <p:nvGraphicFramePr>
          <p:cNvPr id="7" name="Produ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377440"/>
                <a:gridCol w="2103120"/>
                <a:gridCol w="203911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Model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Sold in 2026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年销量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Return rate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退货率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Hair Clipper Pro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K73S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2,094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2.5%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Hair Clipper Deluxe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K80S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1,428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1.5%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Hair Clipper Elegant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K81S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812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2.0%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Detail Trimmer Sharpline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I73S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295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6.1%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4,629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5" name="Data source"/>
          <p:cNvSpPr txBox="1"/>
          <p:nvPr/>
        </p:nvSpPr>
        <p:spPr>
          <a:xfrm>
            <a:off x="548640" y="520293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* bol.com, 1 January to 15 October 2026. Return rate counts all return reasons. Webshop sales not included. We share our 2027 forecast in the meeting.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数据来源：bol.com，2026年1月1日至10月15日。退货率包含所有退货原因，不含官网销量。2027年预测将在会议中分享。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our customers tell 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客户反馈</a:t>
            </a:r>
            <a:endParaRPr lang="en-US" sz="2000" dirty="0"/>
          </a:p>
        </p:txBody>
      </p:sp>
      <p:sp>
        <p:nvSpPr>
          <p:cNvPr id="4" name="Stats card"/>
          <p:cNvSpPr/>
          <p:nvPr/>
        </p:nvSpPr>
        <p:spPr>
          <a:xfrm>
            <a:off x="548640" y="1645920"/>
            <a:ext cx="3200400" cy="42519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sp>
        <p:nvSpPr>
          <p:cNvPr id="5" name="Stat value 1"/>
          <p:cNvSpPr txBox="1"/>
          <p:nvPr/>
        </p:nvSpPr>
        <p:spPr>
          <a:xfrm>
            <a:off x="82296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4,629</a:t>
            </a:r>
            <a:endParaRPr lang="en-US" sz="3000" dirty="0"/>
          </a:p>
        </p:txBody>
      </p:sp>
      <p:sp>
        <p:nvSpPr>
          <p:cNvPr id="6" name="Stat label 1"/>
          <p:cNvSpPr txBox="1"/>
          <p:nvPr/>
        </p:nvSpPr>
        <p:spPr>
          <a:xfrm>
            <a:off x="822960" y="25054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units sold on bol.com in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2026年bol.com销量</a:t>
            </a:r>
            <a:endParaRPr lang="en-US" sz="1100" dirty="0"/>
          </a:p>
        </p:txBody>
      </p:sp>
      <p:sp>
        <p:nvSpPr>
          <p:cNvPr id="7" name="Stat value 2"/>
          <p:cNvSpPr txBox="1"/>
          <p:nvPr/>
        </p:nvSpPr>
        <p:spPr>
          <a:xfrm>
            <a:off x="822960" y="3264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</a:t>
            </a:r>
            <a:endParaRPr lang="en-US" sz="3000" dirty="0"/>
          </a:p>
        </p:txBody>
      </p:sp>
      <p:sp>
        <p:nvSpPr>
          <p:cNvPr id="8" name="Stat label 2"/>
          <p:cNvSpPr txBox="1"/>
          <p:nvPr/>
        </p:nvSpPr>
        <p:spPr>
          <a:xfrm>
            <a:off x="822960" y="3831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critical reviews (1 to 3 stars)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差评数（1至3星）</a:t>
            </a:r>
            <a:endParaRPr lang="en-US" sz="1100" dirty="0"/>
          </a:p>
        </p:txBody>
      </p:sp>
      <p:sp>
        <p:nvSpPr>
          <p:cNvPr id="9" name="Stat value 3"/>
          <p:cNvSpPr txBox="1"/>
          <p:nvPr/>
        </p:nvSpPr>
        <p:spPr>
          <a:xfrm>
            <a:off x="822960" y="4590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1.3</a:t>
            </a:r>
            <a:endParaRPr lang="en-US" sz="3000" dirty="0"/>
          </a:p>
        </p:txBody>
      </p:sp>
      <p:sp>
        <p:nvSpPr>
          <p:cNvPr id="10" name="Stat label 3"/>
          <p:cNvSpPr txBox="1"/>
          <p:nvPr/>
        </p:nvSpPr>
        <p:spPr>
          <a:xfrm>
            <a:off x="822960" y="5157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critical reviews per 1,000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每千件产品的差评数</a:t>
            </a:r>
            <a:endParaRPr lang="en-US" sz="1100" dirty="0"/>
          </a:p>
        </p:txBody>
      </p:sp>
      <p:sp>
        <p:nvSpPr>
          <p:cNvPr id="11" name="Theme 1"/>
          <p:cNvSpPr txBox="1"/>
          <p:nvPr/>
        </p:nvSpPr>
        <p:spPr>
          <a:xfrm>
            <a:off x="4114800" y="1645920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Weight and grip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重量与握感</a:t>
            </a:r>
            <a:endParaRPr lang="en-US" sz="1350" dirty="0"/>
          </a:p>
        </p:txBody>
      </p:sp>
      <p:sp>
        <p:nvSpPr>
          <p:cNvPr id="12" name="Theme count 1"/>
          <p:cNvSpPr txBox="1"/>
          <p:nvPr/>
        </p:nvSpPr>
        <p:spPr>
          <a:xfrm>
            <a:off x="10820095" y="16276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heme track 1"/>
          <p:cNvSpPr/>
          <p:nvPr/>
        </p:nvSpPr>
        <p:spPr>
          <a:xfrm>
            <a:off x="4114800" y="194767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4" name="Theme bar 1"/>
          <p:cNvSpPr/>
          <p:nvPr/>
        </p:nvSpPr>
        <p:spPr>
          <a:xfrm>
            <a:off x="4114800" y="194767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heme quote 1"/>
          <p:cNvSpPr txBox="1"/>
          <p:nvPr/>
        </p:nvSpPr>
        <p:spPr>
          <a:xfrm>
            <a:off x="4114800" y="2075688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“Heavy for such a small device, and slippery in the hand.”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机身小却偏重，握在手里还容易打滑。</a:t>
            </a:r>
            <a:endParaRPr lang="en-US" sz="1000" dirty="0"/>
          </a:p>
        </p:txBody>
      </p:sp>
      <p:sp>
        <p:nvSpPr>
          <p:cNvPr id="16" name="Theme 2"/>
          <p:cNvSpPr txBox="1"/>
          <p:nvPr/>
        </p:nvSpPr>
        <p:spPr>
          <a:xfrm>
            <a:off x="4114800" y="2606040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Battery drains fast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电池掉电快</a:t>
            </a:r>
            <a:endParaRPr lang="en-US" sz="1350" dirty="0"/>
          </a:p>
        </p:txBody>
      </p:sp>
      <p:sp>
        <p:nvSpPr>
          <p:cNvPr id="17" name="Theme count 2"/>
          <p:cNvSpPr txBox="1"/>
          <p:nvPr/>
        </p:nvSpPr>
        <p:spPr>
          <a:xfrm>
            <a:off x="10820095" y="2587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heme track 2"/>
          <p:cNvSpPr/>
          <p:nvPr/>
        </p:nvSpPr>
        <p:spPr>
          <a:xfrm>
            <a:off x="4114800" y="290779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Theme bar 2"/>
          <p:cNvSpPr/>
          <p:nvPr/>
        </p:nvSpPr>
        <p:spPr>
          <a:xfrm>
            <a:off x="4114800" y="2907792"/>
            <a:ext cx="3764128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heme quote 2"/>
          <p:cNvSpPr txBox="1"/>
          <p:nvPr/>
        </p:nvSpPr>
        <p:spPr>
          <a:xfrm>
            <a:off x="4114800" y="3035808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“Started at 81%; after 10 minutes only 56% was left.”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开始时电量为81%，使用10分钟后只剩56%。</a:t>
            </a:r>
            <a:endParaRPr lang="en-US" sz="1000" dirty="0"/>
          </a:p>
        </p:txBody>
      </p:sp>
      <p:sp>
        <p:nvSpPr>
          <p:cNvPr id="21" name="Theme 3"/>
          <p:cNvSpPr txBox="1"/>
          <p:nvPr/>
        </p:nvSpPr>
        <p:spPr>
          <a:xfrm>
            <a:off x="4114800" y="3566160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Blade gets hot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刀头发热</a:t>
            </a:r>
            <a:endParaRPr lang="en-US" sz="1350" dirty="0"/>
          </a:p>
        </p:txBody>
      </p:sp>
      <p:sp>
        <p:nvSpPr>
          <p:cNvPr id="22" name="Theme count 3"/>
          <p:cNvSpPr txBox="1"/>
          <p:nvPr/>
        </p:nvSpPr>
        <p:spPr>
          <a:xfrm>
            <a:off x="10820095" y="3547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heme track 3"/>
          <p:cNvSpPr/>
          <p:nvPr/>
        </p:nvSpPr>
        <p:spPr>
          <a:xfrm>
            <a:off x="4114800" y="386791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Theme bar 3"/>
          <p:cNvSpPr/>
          <p:nvPr/>
        </p:nvSpPr>
        <p:spPr>
          <a:xfrm>
            <a:off x="4114800" y="3867912"/>
            <a:ext cx="3764128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heme quote 3"/>
          <p:cNvSpPr txBox="1"/>
          <p:nvPr/>
        </p:nvSpPr>
        <p:spPr>
          <a:xfrm>
            <a:off x="4114800" y="3995928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“The cutting part gets hot.”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刀头会发烫。</a:t>
            </a:r>
            <a:endParaRPr lang="en-US" sz="1000" dirty="0"/>
          </a:p>
        </p:txBody>
      </p:sp>
      <p:sp>
        <p:nvSpPr>
          <p:cNvPr id="26" name="Theme 4"/>
          <p:cNvSpPr txBox="1"/>
          <p:nvPr/>
        </p:nvSpPr>
        <p:spPr>
          <a:xfrm>
            <a:off x="4114800" y="4526280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Comb length not accurate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限位梳长度不准</a:t>
            </a:r>
            <a:endParaRPr lang="en-US" sz="1350" dirty="0"/>
          </a:p>
        </p:txBody>
      </p:sp>
      <p:sp>
        <p:nvSpPr>
          <p:cNvPr id="27" name="Theme count 4"/>
          <p:cNvSpPr txBox="1"/>
          <p:nvPr/>
        </p:nvSpPr>
        <p:spPr>
          <a:xfrm>
            <a:off x="10820095" y="45079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8" name="Theme track 4"/>
          <p:cNvSpPr/>
          <p:nvPr/>
        </p:nvSpPr>
        <p:spPr>
          <a:xfrm>
            <a:off x="4114800" y="482803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9" name="Theme bar 4"/>
          <p:cNvSpPr/>
          <p:nvPr/>
        </p:nvSpPr>
        <p:spPr>
          <a:xfrm>
            <a:off x="4114800" y="4828032"/>
            <a:ext cx="3764128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Theme quote 4"/>
          <p:cNvSpPr txBox="1"/>
          <p:nvPr/>
        </p:nvSpPr>
        <p:spPr>
          <a:xfrm>
            <a:off x="4114800" y="4956048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“The 3 mm comb is actually 1.5 mm.”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3毫米的限位梳实际上只有1.5毫米。</a:t>
            </a:r>
            <a:endParaRPr lang="en-US" sz="1000" dirty="0"/>
          </a:p>
        </p:txBody>
      </p:sp>
      <p:sp>
        <p:nvSpPr>
          <p:cNvPr id="31" name="Review source"/>
          <p:cNvSpPr txBox="1"/>
          <p:nvPr/>
        </p:nvSpPr>
        <p:spPr>
          <a:xfrm>
            <a:off x="548640" y="59893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Source: bol.com reviews with 1 to 3 stars on your products, January to October 2026. One review can mention several topics.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数据来源：2026年1月至10月bol.com上贵司产品的1至3星评价，一条评价可能涉及多个问题。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want to improve together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我们希望共同改进的方向</a:t>
            </a:r>
            <a:endParaRPr lang="en-US" sz="2000" dirty="0"/>
          </a:p>
        </p:txBody>
      </p:sp>
      <p:sp>
        <p:nvSpPr>
          <p:cNvPr id="4" name="Priority card 1"/>
          <p:cNvSpPr/>
          <p:nvPr/>
        </p:nvSpPr>
        <p:spPr>
          <a:xfrm>
            <a:off x="548640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5" name="Priority badge 1"/>
          <p:cNvSpPr/>
          <p:nvPr/>
        </p:nvSpPr>
        <p:spPr>
          <a:xfrm>
            <a:off x="822960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iorit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76272"/>
            <a:ext cx="365760" cy="365760"/>
          </a:xfrm>
          <a:prstGeom prst="rect">
            <a:avLst/>
          </a:prstGeom>
        </p:spPr>
      </p:pic>
      <p:sp>
        <p:nvSpPr>
          <p:cNvPr id="7" name="Priority title 1"/>
          <p:cNvSpPr txBox="1"/>
          <p:nvPr/>
        </p:nvSpPr>
        <p:spPr>
          <a:xfrm>
            <a:off x="1645920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quality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</a:t>
            </a:r>
            <a:endParaRPr lang="en-US" sz="2000" dirty="0"/>
          </a:p>
        </p:txBody>
      </p:sp>
      <p:sp>
        <p:nvSpPr>
          <p:cNvPr id="8" name="Priority focus 1"/>
          <p:cNvSpPr txBox="1"/>
          <p:nvPr/>
        </p:nvSpPr>
        <p:spPr>
          <a:xfrm>
            <a:off x="822960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BATTERIES &amp; CHARGING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重点：电池与充电</a:t>
            </a:r>
            <a:endParaRPr lang="en-US" sz="1000" dirty="0"/>
          </a:p>
        </p:txBody>
      </p:sp>
      <p:sp>
        <p:nvSpPr>
          <p:cNvPr id="9" name="Priority points 1"/>
          <p:cNvSpPr txBox="1"/>
          <p:nvPr/>
        </p:nvSpPr>
        <p:spPr>
          <a:xfrm>
            <a:off x="822960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Longer battery life and lifespan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续航更长，电池寿命更长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Certified adapter with fixed cable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标配认证的一体式适配器</a:t>
            </a:r>
            <a:br/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2"/>
                </a:solidFill>
              </a:rPr>
              <a:t>So customers always charge correctly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确保客户始终正确充电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Fewer defects and returns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减少故障和退货</a:t>
            </a:r>
            <a:endParaRPr lang="en-US" sz="1400" dirty="0"/>
          </a:p>
        </p:txBody>
      </p:sp>
      <p:sp>
        <p:nvSpPr>
          <p:cNvPr id="10" name="Priority card 2"/>
          <p:cNvSpPr/>
          <p:nvPr/>
        </p:nvSpPr>
        <p:spPr>
          <a:xfrm>
            <a:off x="4338218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11" name="Priority badge 2"/>
          <p:cNvSpPr/>
          <p:nvPr/>
        </p:nvSpPr>
        <p:spPr>
          <a:xfrm>
            <a:off x="4612538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Priorit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2" y="2176272"/>
            <a:ext cx="365760" cy="365760"/>
          </a:xfrm>
          <a:prstGeom prst="rect">
            <a:avLst/>
          </a:prstGeom>
        </p:spPr>
      </p:pic>
      <p:sp>
        <p:nvSpPr>
          <p:cNvPr id="13" name="Priority title 2"/>
          <p:cNvSpPr txBox="1"/>
          <p:nvPr/>
        </p:nvSpPr>
        <p:spPr>
          <a:xfrm>
            <a:off x="5435498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prices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更优的价格</a:t>
            </a:r>
            <a:endParaRPr lang="en-US" sz="2000" dirty="0"/>
          </a:p>
        </p:txBody>
      </p:sp>
      <p:sp>
        <p:nvSpPr>
          <p:cNvPr id="14" name="Priority focus 2"/>
          <p:cNvSpPr txBox="1"/>
          <p:nvPr/>
        </p:nvSpPr>
        <p:spPr>
          <a:xfrm>
            <a:off x="4612538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CURRENT RANGE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重点：现有产品</a:t>
            </a:r>
            <a:endParaRPr lang="en-US" sz="1000" dirty="0"/>
          </a:p>
        </p:txBody>
      </p:sp>
      <p:sp>
        <p:nvSpPr>
          <p:cNvPr id="15" name="Priority points 2"/>
          <p:cNvSpPr txBox="1"/>
          <p:nvPr/>
        </p:nvSpPr>
        <p:spPr>
          <a:xfrm>
            <a:off x="4612538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Lower purchase prices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降低现有产品的采购价格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Cost ideas that keep the quality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在保证品质前提下的降本方案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Prices based on 2027 volumes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2027 年采购量报价</a:t>
            </a:r>
            <a:endParaRPr lang="en-US" sz="1400" dirty="0"/>
          </a:p>
        </p:txBody>
      </p:sp>
      <p:sp>
        <p:nvSpPr>
          <p:cNvPr id="16" name="Priority card 3"/>
          <p:cNvSpPr/>
          <p:nvPr/>
        </p:nvSpPr>
        <p:spPr>
          <a:xfrm>
            <a:off x="8127797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17" name="Priority badge 3"/>
          <p:cNvSpPr/>
          <p:nvPr/>
        </p:nvSpPr>
        <p:spPr>
          <a:xfrm>
            <a:off x="8402117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riorit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2176272"/>
            <a:ext cx="365760" cy="365760"/>
          </a:xfrm>
          <a:prstGeom prst="rect">
            <a:avLst/>
          </a:prstGeom>
        </p:spPr>
      </p:pic>
      <p:sp>
        <p:nvSpPr>
          <p:cNvPr id="19" name="Priority title 3"/>
          <p:cNvSpPr txBox="1"/>
          <p:nvPr/>
        </p:nvSpPr>
        <p:spPr>
          <a:xfrm>
            <a:off x="9225077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New models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</a:t>
            </a:r>
            <a:endParaRPr lang="en-US" sz="2000" dirty="0"/>
          </a:p>
        </p:txBody>
      </p:sp>
      <p:sp>
        <p:nvSpPr>
          <p:cNvPr id="20" name="Priority focus 3"/>
          <p:cNvSpPr txBox="1"/>
          <p:nvPr/>
        </p:nvSpPr>
        <p:spPr>
          <a:xfrm>
            <a:off x="8402117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CO-DEVELOPMENT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重点：共同开发</a:t>
            </a:r>
            <a:endParaRPr lang="en-US" sz="1000" dirty="0"/>
          </a:p>
        </p:txBody>
      </p:sp>
      <p:sp>
        <p:nvSpPr>
          <p:cNvPr id="21" name="Priority points 3"/>
          <p:cNvSpPr txBox="1"/>
          <p:nvPr/>
        </p:nvSpPr>
        <p:spPr>
          <a:xfrm>
            <a:off x="8402117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Develop new models together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共同开发新款产品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Upgrades of our best-sellers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升级我们的畅销款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Your newest technology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贵司的最新技术</a:t>
            </a:r>
            <a:endParaRPr lang="en-US" sz="1400" dirty="0"/>
          </a:p>
        </p:txBody>
      </p:sp>
      <p:sp>
        <p:nvSpPr>
          <p:cNvPr id="22" name="Why it matters"/>
          <p:cNvSpPr txBox="1"/>
          <p:nvPr/>
        </p:nvSpPr>
        <p:spPr>
          <a:xfrm>
            <a:off x="548640" y="5559552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 this matters: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our customers get a 100-day trial and a 2-year warranty, so every weak battery becomes a return and a bad review.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我们为客户提供 100 天试用和 2 年保修，每一个电池问题都会变成退货和差评。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would love to see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我们最期待看到的</a:t>
            </a:r>
            <a:endParaRPr lang="en-US" sz="2000" dirty="0"/>
          </a:p>
        </p:txBody>
      </p:sp>
      <p:sp>
        <p:nvSpPr>
          <p:cNvPr id="4" name="Ask card 1"/>
          <p:cNvSpPr/>
          <p:nvPr/>
        </p:nvSpPr>
        <p:spPr>
          <a:xfrm>
            <a:off x="548640" y="178308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5" name="Ask badge 1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As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65760" cy="365760"/>
          </a:xfrm>
          <a:prstGeom prst="rect">
            <a:avLst/>
          </a:prstGeom>
        </p:spPr>
      </p:pic>
      <p:sp>
        <p:nvSpPr>
          <p:cNvPr id="7" name="Ask text 1"/>
          <p:cNvSpPr txBox="1"/>
          <p:nvPr/>
        </p:nvSpPr>
        <p:spPr>
          <a:xfrm>
            <a:off x="1691640" y="20574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Samples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样品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Improved batteries, the certified adapter and new models. We like to test them ourselves.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改进后的电池、认证适配器和新款产品。我们希望亲手测试。</a:t>
            </a:r>
            <a:endParaRPr lang="en-US" sz="1800" dirty="0"/>
          </a:p>
        </p:txBody>
      </p:sp>
      <p:sp>
        <p:nvSpPr>
          <p:cNvPr id="8" name="Ask card 2"/>
          <p:cNvSpPr/>
          <p:nvPr/>
        </p:nvSpPr>
        <p:spPr>
          <a:xfrm>
            <a:off x="548640" y="370332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9" name="Ask badge 2"/>
          <p:cNvSpPr/>
          <p:nvPr/>
        </p:nvSpPr>
        <p:spPr>
          <a:xfrm>
            <a:off x="822960" y="397764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s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123944"/>
            <a:ext cx="365760" cy="365760"/>
          </a:xfrm>
          <a:prstGeom prst="rect">
            <a:avLst/>
          </a:prstGeom>
        </p:spPr>
      </p:pic>
      <p:sp>
        <p:nvSpPr>
          <p:cNvPr id="11" name="Ask text 2"/>
          <p:cNvSpPr txBox="1"/>
          <p:nvPr/>
        </p:nvSpPr>
        <p:spPr>
          <a:xfrm>
            <a:off x="1691640" y="39776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Your recommendations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您的推荐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What sells well in other markets? Which new features can you offer us?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哪些产品在其他市场卖得好？贵司能为我们提供哪些新功能？</a:t>
            </a:r>
            <a:endParaRPr lang="en-US" sz="1800" dirty="0"/>
          </a:p>
        </p:txBody>
      </p:sp>
      <p:sp>
        <p:nvSpPr>
          <p:cNvPr id="12" name="No prep"/>
          <p:cNvSpPr txBox="1"/>
          <p:nvPr/>
        </p:nvSpPr>
        <p:spPr>
          <a:xfrm>
            <a:off x="548640" y="5760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 preparation needed: we mainly come to listen.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无需特别准备：我们主要是来倾听的。</a:t>
            </a:r>
            <a:endParaRPr lang="en-US" sz="1200" dirty="0"/>
          </a:p>
        </p:txBody>
      </p:sp>
      <p:sp>
        <p:nvSpPr>
          <p:cNvPr id="13" name="Thanks panel"/>
          <p:cNvSpPr/>
          <p:nvPr/>
        </p:nvSpPr>
        <p:spPr>
          <a:xfrm>
            <a:off x="7589520" y="1783080"/>
            <a:ext cx="4053535" cy="4297680"/>
          </a:xfrm>
          <a:prstGeom prst="roundRect">
            <a:avLst>
              <a:gd name="adj" fmla="val 3609"/>
            </a:avLst>
          </a:prstGeom>
          <a:solidFill>
            <a:srgbClr val="F5F1EA"/>
          </a:solidFill>
          <a:ln/>
        </p:spPr>
      </p:sp>
      <p:sp>
        <p:nvSpPr>
          <p:cNvPr id="14" name="Thanks"/>
          <p:cNvSpPr txBox="1"/>
          <p:nvPr/>
        </p:nvSpPr>
        <p:spPr>
          <a:xfrm>
            <a:off x="7955280" y="2103120"/>
            <a:ext cx="3322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Thank you</a:t>
            </a:r>
            <a:endParaRPr lang="en-US" sz="3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600" dirty="0"/>
          </a:p>
        </p:txBody>
      </p:sp>
      <p:sp>
        <p:nvSpPr>
          <p:cNvPr id="15" name="Looking forward"/>
          <p:cNvSpPr txBox="1"/>
          <p:nvPr/>
        </p:nvSpPr>
        <p:spPr>
          <a:xfrm>
            <a:off x="7955280" y="361188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look forward to growing together.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期待与贵司共同成长。</a:t>
            </a:r>
            <a:endParaRPr lang="en-US" sz="1400" dirty="0"/>
          </a:p>
        </p:txBody>
      </p:sp>
      <p:sp>
        <p:nvSpPr>
          <p:cNvPr id="16" name="Contact divider"/>
          <p:cNvSpPr/>
          <p:nvPr/>
        </p:nvSpPr>
        <p:spPr>
          <a:xfrm>
            <a:off x="7955280" y="4526280"/>
            <a:ext cx="332201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Contact"/>
          <p:cNvSpPr txBox="1"/>
          <p:nvPr/>
        </p:nvSpPr>
        <p:spPr>
          <a:xfrm>
            <a:off x="7955280" y="4681728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Dustin Gibson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  ·  Founder &amp; CEO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dustin@wellshave.com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</a:rPr>
              <a:t>wellshave.com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lshave">
  <a:themeElements>
    <a:clrScheme name="Wellshave">
      <a:dk1>
        <a:srgbClr val="111111"/>
      </a:dk1>
      <a:lt1>
        <a:srgbClr val="FFFFFF"/>
      </a:lt1>
      <a:dk2>
        <a:srgbClr val="191816"/>
      </a:dk2>
      <a:lt2>
        <a:srgbClr val="F5F1EA"/>
      </a:lt2>
      <a:accent1>
        <a:srgbClr val="B0742A"/>
      </a:accent1>
      <a:accent2>
        <a:srgbClr val="F5D18A"/>
      </a:accent2>
      <a:accent3>
        <a:srgbClr val="EDE6DA"/>
      </a:accent3>
      <a:accent4>
        <a:srgbClr val="8C5A1A"/>
      </a:accent4>
      <a:accent5>
        <a:srgbClr val="24221F"/>
      </a:accent5>
      <a:accent6>
        <a:srgbClr val="6B655D"/>
      </a:accent6>
      <a:hlink>
        <a:srgbClr val="B0742A"/>
      </a:hlink>
      <a:folHlink>
        <a:srgbClr val="8C5A1A"/>
      </a:folHlink>
    </a:clrScheme>
    <a:fontScheme name="Wellshav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Wellshave BV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Wellshave · Factory visit · iClipper</dc:title>
  <dc:subject>PptxGenJS Presentation</dc:subject>
  <dc:creator>Wellshave</dc:creator>
  <cp:lastModifiedBy>Wellshave</cp:lastModifiedBy>
  <cp:revision>1</cp:revision>
  <dcterms:created xsi:type="dcterms:W3CDTF">2026-10-17T04:00:37Z</dcterms:created>
  <dcterms:modified xsi:type="dcterms:W3CDTF">2026-10-17T04:00:37Z</dcterms:modified>
</cp:coreProperties>
</file>