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dc26b53-28a3-f69c-adf8-fdc049a93736}">
          <p14:sldIdLst>
            <p14:sldId id="256"/>
          </p14:sldIdLst>
        </p14:section>
        <p14:section name="About Wellshave" id="{83e6b5b8-846b-6e13-9a0f-72cb9ffe73fd}">
          <p14:sldIdLst>
            <p14:sldId id="257"/>
            <p14:sldId id="258"/>
          </p14:sldIdLst>
        </p14:section>
        <p14:section name="The visit" id="{901449b2-6ee7-92c9-2715-82422ef2f874}">
          <p14:sldIdLst>
            <p14:sldId id="259"/>
            <p14:sldId id="260"/>
          </p14:sldIdLst>
        </p14:section>
        <p14:section name="Your products" id="{59695592-0d03-c88c-8296-84597ffd59e3}">
          <p14:sldIdLst>
            <p14:sldId id="261"/>
            <p14:sldId id="262"/>
          </p14:sldIdLst>
        </p14:section>
        <p14:section name="Working together" id="{22cada9d-e55f-e910-8ace-78a377e6b98c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Joe (iClipper)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main message of the visit: in 2027 we launch 3 to 5 new products every month, so 36 to 60 in the year. We test every new product with a small first order, read the sales quickly, and scale the winners straight away with large bulk orders. Questions for the factory: what is the lowest MOQ you can do for a first test order? How fast can you make a sample? How fast can you deliver a large reorder when a product takes off? Which of your new products would you put forward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through this partner. Sales are bol.com units (about 80% of our revenue).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Themes are tagged by hand from the bol.com review texts. Quotes are translated from Dutch.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Certified adapter: from now on every device ships with a certified adapter whose cable is fixed to it,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539496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Ningbo iClipper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宁波爱克利浦电器有限公司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Joe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Our plans for 2027: more products, faster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年计划：更多新品，更快速度</a:t>
            </a:r>
            <a:endParaRPr lang="en-US" sz="2000" dirty="0"/>
          </a:p>
        </p:txBody>
      </p:sp>
      <p:sp>
        <p:nvSpPr>
          <p:cNvPr id="4" name="Pace card"/>
          <p:cNvSpPr/>
          <p:nvPr/>
        </p:nvSpPr>
        <p:spPr>
          <a:xfrm>
            <a:off x="548640" y="1755648"/>
            <a:ext cx="2971800" cy="2971800"/>
          </a:xfrm>
          <a:prstGeom prst="roundRect">
            <a:avLst>
              <a:gd name="adj" fmla="val 4923"/>
            </a:avLst>
          </a:prstGeom>
          <a:solidFill>
            <a:srgbClr val="F5D18A"/>
          </a:solidFill>
          <a:ln/>
        </p:spPr>
      </p:sp>
      <p:sp>
        <p:nvSpPr>
          <p:cNvPr id="5" name="Pace eyebrow"/>
          <p:cNvSpPr txBox="1"/>
          <p:nvPr/>
        </p:nvSpPr>
        <p:spPr>
          <a:xfrm>
            <a:off x="822960" y="20299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EVERY MONTH</a:t>
            </a:r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每月</a:t>
            </a:r>
            <a:endParaRPr lang="en-US" sz="1000" dirty="0"/>
          </a:p>
        </p:txBody>
      </p:sp>
      <p:sp>
        <p:nvSpPr>
          <p:cNvPr id="6" name="Pace value"/>
          <p:cNvSpPr txBox="1"/>
          <p:nvPr/>
        </p:nvSpPr>
        <p:spPr>
          <a:xfrm>
            <a:off x="822960" y="232257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3 to 5</a:t>
            </a:r>
            <a:endParaRPr lang="en-US" sz="4600" dirty="0"/>
          </a:p>
        </p:txBody>
      </p:sp>
      <p:sp>
        <p:nvSpPr>
          <p:cNvPr id="7" name="Pace label"/>
          <p:cNvSpPr txBox="1"/>
          <p:nvPr/>
        </p:nvSpPr>
        <p:spPr>
          <a:xfrm>
            <a:off x="822960" y="31272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new products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每月推出 3 至 5 款新品</a:t>
            </a:r>
            <a:endParaRPr lang="en-US" sz="1800" dirty="0"/>
          </a:p>
        </p:txBody>
      </p:sp>
      <p:sp>
        <p:nvSpPr>
          <p:cNvPr id="8" name="Pace divider"/>
          <p:cNvSpPr/>
          <p:nvPr/>
        </p:nvSpPr>
        <p:spPr>
          <a:xfrm>
            <a:off x="822960" y="3931920"/>
            <a:ext cx="242316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9" name="Pace year"/>
          <p:cNvSpPr txBox="1"/>
          <p:nvPr/>
        </p:nvSpPr>
        <p:spPr>
          <a:xfrm>
            <a:off x="822960" y="4041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36 to 60 new products in 2027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年共推出 36 至 60 款新品</a:t>
            </a:r>
            <a:endParaRPr lang="en-US" sz="1200" dirty="0"/>
          </a:p>
        </p:txBody>
      </p:sp>
      <p:sp>
        <p:nvSpPr>
          <p:cNvPr id="10" name="Plan step 1"/>
          <p:cNvSpPr/>
          <p:nvPr/>
        </p:nvSpPr>
        <p:spPr>
          <a:xfrm>
            <a:off x="3794760" y="1755648"/>
            <a:ext cx="2360066" cy="2971800"/>
          </a:xfrm>
          <a:prstGeom prst="roundRect">
            <a:avLst>
              <a:gd name="adj" fmla="val 6199"/>
            </a:avLst>
          </a:prstGeom>
          <a:solidFill>
            <a:srgbClr val="24221F"/>
          </a:solidFill>
          <a:ln/>
        </p:spPr>
      </p:sp>
      <p:sp>
        <p:nvSpPr>
          <p:cNvPr id="11" name="Plan badge 1"/>
          <p:cNvSpPr/>
          <p:nvPr/>
        </p:nvSpPr>
        <p:spPr>
          <a:xfrm>
            <a:off x="4023360" y="19842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la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1376" y="2112264"/>
            <a:ext cx="310896" cy="310896"/>
          </a:xfrm>
          <a:prstGeom prst="rect">
            <a:avLst/>
          </a:prstGeom>
        </p:spPr>
      </p:pic>
      <p:sp>
        <p:nvSpPr>
          <p:cNvPr id="13" name="Plan number 1"/>
          <p:cNvSpPr txBox="1"/>
          <p:nvPr/>
        </p:nvSpPr>
        <p:spPr>
          <a:xfrm>
            <a:off x="5240426" y="20116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Plan title 1"/>
          <p:cNvSpPr txBox="1"/>
          <p:nvPr/>
        </p:nvSpPr>
        <p:spPr>
          <a:xfrm>
            <a:off x="4023360" y="2715768"/>
            <a:ext cx="19485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Test small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小批量试销</a:t>
            </a:r>
            <a:endParaRPr lang="en-US" sz="1700" dirty="0"/>
          </a:p>
        </p:txBody>
      </p:sp>
      <p:sp>
        <p:nvSpPr>
          <p:cNvPr id="15" name="Plan text 1"/>
          <p:cNvSpPr txBox="1"/>
          <p:nvPr/>
        </p:nvSpPr>
        <p:spPr>
          <a:xfrm>
            <a:off x="4023360" y="3493008"/>
            <a:ext cx="194858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Low MOQ on the first order, so we can test many new products.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首单低起订量，让我们能测试更多新品。</a:t>
            </a:r>
            <a:endParaRPr lang="en-US" sz="1150" dirty="0"/>
          </a:p>
        </p:txBody>
      </p:sp>
      <p:pic>
        <p:nvPicPr>
          <p:cNvPr id="16" name="Plan arrow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690" y="3104388"/>
            <a:ext cx="274320" cy="274320"/>
          </a:xfrm>
          <a:prstGeom prst="rect">
            <a:avLst/>
          </a:prstGeom>
        </p:spPr>
      </p:pic>
      <p:sp>
        <p:nvSpPr>
          <p:cNvPr id="17" name="Plan step 2"/>
          <p:cNvSpPr/>
          <p:nvPr/>
        </p:nvSpPr>
        <p:spPr>
          <a:xfrm>
            <a:off x="6538874" y="1755648"/>
            <a:ext cx="2360066" cy="2971800"/>
          </a:xfrm>
          <a:prstGeom prst="roundRect">
            <a:avLst>
              <a:gd name="adj" fmla="val 6199"/>
            </a:avLst>
          </a:prstGeom>
          <a:solidFill>
            <a:srgbClr val="24221F"/>
          </a:solidFill>
          <a:ln/>
        </p:spPr>
      </p:sp>
      <p:sp>
        <p:nvSpPr>
          <p:cNvPr id="18" name="Plan badge 2"/>
          <p:cNvSpPr/>
          <p:nvPr/>
        </p:nvSpPr>
        <p:spPr>
          <a:xfrm>
            <a:off x="6767474" y="19842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Plan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490" y="2112264"/>
            <a:ext cx="310896" cy="310896"/>
          </a:xfrm>
          <a:prstGeom prst="rect">
            <a:avLst/>
          </a:prstGeom>
        </p:spPr>
      </p:pic>
      <p:sp>
        <p:nvSpPr>
          <p:cNvPr id="20" name="Plan number 2"/>
          <p:cNvSpPr txBox="1"/>
          <p:nvPr/>
        </p:nvSpPr>
        <p:spPr>
          <a:xfrm>
            <a:off x="7984541" y="20116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02</a:t>
            </a:r>
            <a:endParaRPr lang="en-US" sz="2600" dirty="0"/>
          </a:p>
        </p:txBody>
      </p:sp>
      <p:sp>
        <p:nvSpPr>
          <p:cNvPr id="21" name="Plan title 2"/>
          <p:cNvSpPr txBox="1"/>
          <p:nvPr/>
        </p:nvSpPr>
        <p:spPr>
          <a:xfrm>
            <a:off x="6767474" y="2715768"/>
            <a:ext cx="19485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Learn fast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快速验证市场</a:t>
            </a:r>
            <a:endParaRPr lang="en-US" sz="1700" dirty="0"/>
          </a:p>
        </p:txBody>
      </p:sp>
      <p:sp>
        <p:nvSpPr>
          <p:cNvPr id="22" name="Plan text 2"/>
          <p:cNvSpPr txBox="1"/>
          <p:nvPr/>
        </p:nvSpPr>
        <p:spPr>
          <a:xfrm>
            <a:off x="6767474" y="3493008"/>
            <a:ext cx="194858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Fast samples and short lead times. Our sales data quickly shows what works.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快速打样，交期短。我们的销售数据能很快显示哪款产品受欢迎。</a:t>
            </a:r>
            <a:endParaRPr lang="en-US" sz="1150" dirty="0"/>
          </a:p>
        </p:txBody>
      </p:sp>
      <p:pic>
        <p:nvPicPr>
          <p:cNvPr id="23" name="Plan arrow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805" y="3104388"/>
            <a:ext cx="274320" cy="274320"/>
          </a:xfrm>
          <a:prstGeom prst="rect">
            <a:avLst/>
          </a:prstGeom>
        </p:spPr>
      </p:pic>
      <p:sp>
        <p:nvSpPr>
          <p:cNvPr id="24" name="Plan step 3"/>
          <p:cNvSpPr/>
          <p:nvPr/>
        </p:nvSpPr>
        <p:spPr>
          <a:xfrm>
            <a:off x="9282989" y="1755648"/>
            <a:ext cx="2360066" cy="2971800"/>
          </a:xfrm>
          <a:prstGeom prst="roundRect">
            <a:avLst>
              <a:gd name="adj" fmla="val 6199"/>
            </a:avLst>
          </a:prstGeom>
          <a:solidFill>
            <a:srgbClr val="24221F"/>
          </a:solidFill>
          <a:ln/>
        </p:spPr>
      </p:sp>
      <p:sp>
        <p:nvSpPr>
          <p:cNvPr id="25" name="Plan badge 3"/>
          <p:cNvSpPr/>
          <p:nvPr/>
        </p:nvSpPr>
        <p:spPr>
          <a:xfrm>
            <a:off x="9511589" y="19842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Plan icon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605" y="2112264"/>
            <a:ext cx="310896" cy="310896"/>
          </a:xfrm>
          <a:prstGeom prst="rect">
            <a:avLst/>
          </a:prstGeom>
        </p:spPr>
      </p:pic>
      <p:sp>
        <p:nvSpPr>
          <p:cNvPr id="27" name="Plan number 3"/>
          <p:cNvSpPr txBox="1"/>
          <p:nvPr/>
        </p:nvSpPr>
        <p:spPr>
          <a:xfrm>
            <a:off x="10728655" y="20116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03</a:t>
            </a:r>
            <a:endParaRPr lang="en-US" sz="2600" dirty="0"/>
          </a:p>
        </p:txBody>
      </p:sp>
      <p:sp>
        <p:nvSpPr>
          <p:cNvPr id="28" name="Plan title 3"/>
          <p:cNvSpPr txBox="1"/>
          <p:nvPr/>
        </p:nvSpPr>
        <p:spPr>
          <a:xfrm>
            <a:off x="9511589" y="2715768"/>
            <a:ext cx="19485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Scale big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迅速放量</a:t>
            </a:r>
            <a:endParaRPr lang="en-US" sz="1700" dirty="0"/>
          </a:p>
        </p:txBody>
      </p:sp>
      <p:sp>
        <p:nvSpPr>
          <p:cNvPr id="29" name="Plan text 3"/>
          <p:cNvSpPr txBox="1"/>
          <p:nvPr/>
        </p:nvSpPr>
        <p:spPr>
          <a:xfrm>
            <a:off x="9511589" y="3493008"/>
            <a:ext cx="194858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When a product takes off, we go all in with large bulk orders straight away.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产品一旦畅销，我们立即全力跟进，下大批量订单。</a:t>
            </a:r>
            <a:endParaRPr lang="en-US" sz="1150" dirty="0"/>
          </a:p>
        </p:txBody>
      </p:sp>
      <p:sp>
        <p:nvSpPr>
          <p:cNvPr id="30" name="Plan box 1"/>
          <p:cNvSpPr/>
          <p:nvPr/>
        </p:nvSpPr>
        <p:spPr>
          <a:xfrm>
            <a:off x="548640" y="4956048"/>
            <a:ext cx="5410048" cy="1216152"/>
          </a:xfrm>
          <a:prstGeom prst="roundRect">
            <a:avLst>
              <a:gd name="adj" fmla="val 12030"/>
            </a:avLst>
          </a:prstGeom>
          <a:solidFill>
            <a:srgbClr val="24221F"/>
          </a:solidFill>
          <a:ln/>
        </p:spPr>
      </p:sp>
      <p:pic>
        <p:nvPicPr>
          <p:cNvPr id="31" name="Plan box icon 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157216"/>
            <a:ext cx="347472" cy="347472"/>
          </a:xfrm>
          <a:prstGeom prst="rect">
            <a:avLst/>
          </a:prstGeom>
        </p:spPr>
      </p:pic>
      <p:sp>
        <p:nvSpPr>
          <p:cNvPr id="32" name="Plan box text 1"/>
          <p:cNvSpPr txBox="1"/>
          <p:nvPr/>
        </p:nvSpPr>
        <p:spPr>
          <a:xfrm>
            <a:off x="1280160" y="5084064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What we ask from you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我们希望贵司做到的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Lower MOQs for test orders, fast samples, short lead times and room to scale up quickly.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试销订单降低起订量，快速打样，缩短交期，并能快速扩大产能。</a:t>
            </a:r>
            <a:endParaRPr lang="en-US" sz="1150" dirty="0"/>
          </a:p>
        </p:txBody>
      </p:sp>
      <p:sp>
        <p:nvSpPr>
          <p:cNvPr id="33" name="Plan box 2"/>
          <p:cNvSpPr/>
          <p:nvPr/>
        </p:nvSpPr>
        <p:spPr>
          <a:xfrm>
            <a:off x="6233008" y="4956048"/>
            <a:ext cx="5410048" cy="1216152"/>
          </a:xfrm>
          <a:prstGeom prst="roundRect">
            <a:avLst>
              <a:gd name="adj" fmla="val 12030"/>
            </a:avLst>
          </a:prstGeom>
          <a:solidFill>
            <a:srgbClr val="24221F"/>
          </a:solidFill>
          <a:ln/>
        </p:spPr>
      </p:sp>
      <p:pic>
        <p:nvPicPr>
          <p:cNvPr id="34" name="Plan box icon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5157216"/>
            <a:ext cx="347472" cy="347472"/>
          </a:xfrm>
          <a:prstGeom prst="rect">
            <a:avLst/>
          </a:prstGeom>
        </p:spPr>
      </p:pic>
      <p:sp>
        <p:nvSpPr>
          <p:cNvPr id="35" name="Plan box text 2"/>
          <p:cNvSpPr txBox="1"/>
          <p:nvPr/>
        </p:nvSpPr>
        <p:spPr>
          <a:xfrm>
            <a:off x="6964528" y="5084064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What it means for you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对贵司的意义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More new products every month, and every winner becomes a large repeat order.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每月更多新品订单，每一款爆品都会变成大批量的持续返单。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graphicFrame>
        <p:nvGraphicFramePr>
          <p:cNvPr id="7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377440"/>
                <a:gridCol w="2103120"/>
                <a:gridCol w="203911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Model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型号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Sold in 2026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年销量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Return rate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退货率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Pro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K73S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2,094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Deluxe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K80S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1,428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Hair Clipper Elegant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K81S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812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2.0%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Detail Trimmer Sharpline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I73S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295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6.1%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Total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4,629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</a:tbl>
          </a:graphicData>
        </a:graphic>
      </p:graphicFrame>
      <p:sp>
        <p:nvSpPr>
          <p:cNvPr id="5" name="Data source"/>
          <p:cNvSpPr txBox="1"/>
          <p:nvPr/>
        </p:nvSpPr>
        <p:spPr>
          <a:xfrm>
            <a:off x="548640" y="520293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* bol.com, 1 January to 15 October 2026. Return rate counts all return reasons. Webshop sales not included. We share our 2027 forecast in the meeting.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数据来源：bol.com，2026年1月1日至10月15日。退货率包含所有退货原因，不含官网销量。2027年预测将在会议中分享。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our customers tell 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客户反馈</a:t>
            </a:r>
            <a:endParaRPr lang="en-US" sz="2000" dirty="0"/>
          </a:p>
        </p:txBody>
      </p:sp>
      <p:sp>
        <p:nvSpPr>
          <p:cNvPr id="4" name="Stats card"/>
          <p:cNvSpPr/>
          <p:nvPr/>
        </p:nvSpPr>
        <p:spPr>
          <a:xfrm>
            <a:off x="548640" y="1645920"/>
            <a:ext cx="3200400" cy="42519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</p:spPr>
      </p:sp>
      <p:sp>
        <p:nvSpPr>
          <p:cNvPr id="5" name="Stat value 1"/>
          <p:cNvSpPr txBox="1"/>
          <p:nvPr/>
        </p:nvSpPr>
        <p:spPr>
          <a:xfrm>
            <a:off x="822960" y="1938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4,629</a:t>
            </a:r>
            <a:endParaRPr lang="en-US" sz="3000" dirty="0"/>
          </a:p>
        </p:txBody>
      </p:sp>
      <p:sp>
        <p:nvSpPr>
          <p:cNvPr id="6" name="Stat label 1"/>
          <p:cNvSpPr txBox="1"/>
          <p:nvPr/>
        </p:nvSpPr>
        <p:spPr>
          <a:xfrm>
            <a:off x="822960" y="2505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units sold on bol.com in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2026年bol.com销量</a:t>
            </a:r>
            <a:endParaRPr lang="en-US" sz="1100" dirty="0"/>
          </a:p>
        </p:txBody>
      </p:sp>
      <p:sp>
        <p:nvSpPr>
          <p:cNvPr id="7" name="Stat value 2"/>
          <p:cNvSpPr txBox="1"/>
          <p:nvPr/>
        </p:nvSpPr>
        <p:spPr>
          <a:xfrm>
            <a:off x="822960" y="3264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</a:t>
            </a:r>
            <a:endParaRPr lang="en-US" sz="3000" dirty="0"/>
          </a:p>
        </p:txBody>
      </p:sp>
      <p:sp>
        <p:nvSpPr>
          <p:cNvPr id="8" name="Stat label 2"/>
          <p:cNvSpPr txBox="1"/>
          <p:nvPr/>
        </p:nvSpPr>
        <p:spPr>
          <a:xfrm>
            <a:off x="822960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(1 to 3 stars)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差评数（1至3星）</a:t>
            </a:r>
            <a:endParaRPr lang="en-US" sz="1100" dirty="0"/>
          </a:p>
        </p:txBody>
      </p:sp>
      <p:sp>
        <p:nvSpPr>
          <p:cNvPr id="9" name="Stat value 3"/>
          <p:cNvSpPr txBox="1"/>
          <p:nvPr/>
        </p:nvSpPr>
        <p:spPr>
          <a:xfrm>
            <a:off x="822960" y="45902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1.3</a:t>
            </a:r>
            <a:endParaRPr lang="en-US" sz="3000" dirty="0"/>
          </a:p>
        </p:txBody>
      </p:sp>
      <p:sp>
        <p:nvSpPr>
          <p:cNvPr id="10" name="Stat label 3"/>
          <p:cNvSpPr txBox="1"/>
          <p:nvPr/>
        </p:nvSpPr>
        <p:spPr>
          <a:xfrm>
            <a:off x="822960" y="5157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per 1,000 units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每千件产品的差评数</a:t>
            </a:r>
            <a:endParaRPr lang="en-US" sz="1100" dirty="0"/>
          </a:p>
        </p:txBody>
      </p:sp>
      <p:sp>
        <p:nvSpPr>
          <p:cNvPr id="11" name="Theme 1"/>
          <p:cNvSpPr txBox="1"/>
          <p:nvPr/>
        </p:nvSpPr>
        <p:spPr>
          <a:xfrm>
            <a:off x="4114800" y="164592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Weight and grip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重量与握感</a:t>
            </a:r>
            <a:endParaRPr lang="en-US" sz="1350" dirty="0"/>
          </a:p>
        </p:txBody>
      </p:sp>
      <p:sp>
        <p:nvSpPr>
          <p:cNvPr id="12" name="Theme count 1"/>
          <p:cNvSpPr txBox="1"/>
          <p:nvPr/>
        </p:nvSpPr>
        <p:spPr>
          <a:xfrm>
            <a:off x="10820095" y="16276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heme track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4" name="Theme bar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Theme quote 1"/>
          <p:cNvSpPr txBox="1"/>
          <p:nvPr/>
        </p:nvSpPr>
        <p:spPr>
          <a:xfrm>
            <a:off x="4114800" y="207568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“Heavy for such a small device, and slippery in the hand.”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机身小却偏重，握在手里还容易打滑。</a:t>
            </a:r>
            <a:endParaRPr lang="en-US" sz="1000" dirty="0"/>
          </a:p>
        </p:txBody>
      </p:sp>
      <p:sp>
        <p:nvSpPr>
          <p:cNvPr id="16" name="Theme 2"/>
          <p:cNvSpPr txBox="1"/>
          <p:nvPr/>
        </p:nvSpPr>
        <p:spPr>
          <a:xfrm>
            <a:off x="4114800" y="260604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Battery drains fast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电池掉电快</a:t>
            </a:r>
            <a:endParaRPr lang="en-US" sz="1350" dirty="0"/>
          </a:p>
        </p:txBody>
      </p:sp>
      <p:sp>
        <p:nvSpPr>
          <p:cNvPr id="17" name="Theme count 2"/>
          <p:cNvSpPr txBox="1"/>
          <p:nvPr/>
        </p:nvSpPr>
        <p:spPr>
          <a:xfrm>
            <a:off x="10820095" y="2587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heme track 2"/>
          <p:cNvSpPr/>
          <p:nvPr/>
        </p:nvSpPr>
        <p:spPr>
          <a:xfrm>
            <a:off x="4114800" y="290779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9" name="Theme bar 2"/>
          <p:cNvSpPr/>
          <p:nvPr/>
        </p:nvSpPr>
        <p:spPr>
          <a:xfrm>
            <a:off x="4114800" y="290779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heme quote 2"/>
          <p:cNvSpPr txBox="1"/>
          <p:nvPr/>
        </p:nvSpPr>
        <p:spPr>
          <a:xfrm>
            <a:off x="4114800" y="303580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“Started at 81%; after 10 minutes only 56% was left.”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开始时电量为81%，使用10分钟后只剩56%。</a:t>
            </a:r>
            <a:endParaRPr lang="en-US" sz="1000" dirty="0"/>
          </a:p>
        </p:txBody>
      </p:sp>
      <p:sp>
        <p:nvSpPr>
          <p:cNvPr id="21" name="Theme 3"/>
          <p:cNvSpPr txBox="1"/>
          <p:nvPr/>
        </p:nvSpPr>
        <p:spPr>
          <a:xfrm>
            <a:off x="4114800" y="356616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Blade gets hot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刀头发热</a:t>
            </a:r>
            <a:endParaRPr lang="en-US" sz="1350" dirty="0"/>
          </a:p>
        </p:txBody>
      </p:sp>
      <p:sp>
        <p:nvSpPr>
          <p:cNvPr id="22" name="Theme count 3"/>
          <p:cNvSpPr txBox="1"/>
          <p:nvPr/>
        </p:nvSpPr>
        <p:spPr>
          <a:xfrm>
            <a:off x="10820095" y="3547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3" name="Theme track 3"/>
          <p:cNvSpPr/>
          <p:nvPr/>
        </p:nvSpPr>
        <p:spPr>
          <a:xfrm>
            <a:off x="4114800" y="386791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Theme bar 3"/>
          <p:cNvSpPr/>
          <p:nvPr/>
        </p:nvSpPr>
        <p:spPr>
          <a:xfrm>
            <a:off x="4114800" y="386791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heme quote 3"/>
          <p:cNvSpPr txBox="1"/>
          <p:nvPr/>
        </p:nvSpPr>
        <p:spPr>
          <a:xfrm>
            <a:off x="4114800" y="399592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cutting part gets hot.”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刀头会发烫。</a:t>
            </a:r>
            <a:endParaRPr lang="en-US" sz="1000" dirty="0"/>
          </a:p>
        </p:txBody>
      </p:sp>
      <p:sp>
        <p:nvSpPr>
          <p:cNvPr id="26" name="Theme 4"/>
          <p:cNvSpPr txBox="1"/>
          <p:nvPr/>
        </p:nvSpPr>
        <p:spPr>
          <a:xfrm>
            <a:off x="4114800" y="452628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Comb length not accurate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限位梳长度不准</a:t>
            </a:r>
            <a:endParaRPr lang="en-US" sz="1350" dirty="0"/>
          </a:p>
        </p:txBody>
      </p:sp>
      <p:sp>
        <p:nvSpPr>
          <p:cNvPr id="27" name="Theme count 4"/>
          <p:cNvSpPr txBox="1"/>
          <p:nvPr/>
        </p:nvSpPr>
        <p:spPr>
          <a:xfrm>
            <a:off x="10820095" y="45079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8" name="Theme track 4"/>
          <p:cNvSpPr/>
          <p:nvPr/>
        </p:nvSpPr>
        <p:spPr>
          <a:xfrm>
            <a:off x="4114800" y="482803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9" name="Theme bar 4"/>
          <p:cNvSpPr/>
          <p:nvPr/>
        </p:nvSpPr>
        <p:spPr>
          <a:xfrm>
            <a:off x="4114800" y="4828032"/>
            <a:ext cx="3764128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Theme quote 4"/>
          <p:cNvSpPr txBox="1"/>
          <p:nvPr/>
        </p:nvSpPr>
        <p:spPr>
          <a:xfrm>
            <a:off x="4114800" y="495604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3 mm comb is actually 1.5 mm.”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3毫米的限位梳实际上只有1.5毫米。</a:t>
            </a:r>
            <a:endParaRPr lang="en-US" sz="1000" dirty="0"/>
          </a:p>
        </p:txBody>
      </p:sp>
      <p:sp>
        <p:nvSpPr>
          <p:cNvPr id="31" name="Review source"/>
          <p:cNvSpPr txBox="1"/>
          <p:nvPr/>
        </p:nvSpPr>
        <p:spPr>
          <a:xfrm>
            <a:off x="548640" y="5989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 reviews with 1 to 3 stars on your products, January to October 2026. One review can mention several topics.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数据来源：2026年1月至10月bol.com上贵司产品的1至3星评价，一条评价可能涉及多个问题。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Certified adapter with fixed cable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标配认证的一体式适配器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customers always charge correctly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确保客户始终正确充电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Improved batteries, the certified adapter and new models. We like to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改进后的电池、认证适配器和新款产品。我们希望亲手测试。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Which new products and features can you offer us for 2027?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其他市场什么卖得好？贵司 2027 年有哪些新品和新功能？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iClipper</dc:title>
  <dc:subject>PptxGenJS Presentation</dc:subject>
  <dc:creator>Wellshave</dc:creator>
  <cp:lastModifiedBy>Wellshave</cp:lastModifiedBy>
  <cp:revision>1</cp:revision>
  <dcterms:created xsi:type="dcterms:W3CDTF">2026-10-21T00:22:28Z</dcterms:created>
  <dcterms:modified xsi:type="dcterms:W3CDTF">2026-10-21T00:22:28Z</dcterms:modified>
</cp:coreProperties>
</file>